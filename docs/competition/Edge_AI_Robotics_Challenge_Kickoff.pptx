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0" r:id="rId5"/>
    <p:sldId id="273" r:id="rId6"/>
    <p:sldId id="261" r:id="rId7"/>
    <p:sldId id="274" r:id="rId8"/>
    <p:sldId id="263" r:id="rId9"/>
    <p:sldId id="264" r:id="rId10"/>
    <p:sldId id="266" r:id="rId11"/>
    <p:sldId id="275" r:id="rId12"/>
    <p:sldId id="259" r:id="rId13"/>
    <p:sldId id="277" r:id="rId14"/>
    <p:sldId id="276" r:id="rId15"/>
    <p:sldId id="268" r:id="rId16"/>
    <p:sldId id="26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75" autoAdjust="0"/>
  </p:normalViewPr>
  <p:slideViewPr>
    <p:cSldViewPr snapToGrid="0">
      <p:cViewPr varScale="1">
        <p:scale>
          <a:sx n="83" d="100"/>
          <a:sy n="83" d="100"/>
        </p:scale>
        <p:origin x="89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CE0C-214C-1FD9-1617-56BF5AE08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9D064-C945-14D3-CC0A-3DCB35E00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DD4DB-A58D-4E06-83FB-D1790C781F41}"/>
              </a:ext>
            </a:extLst>
          </p:cNvPr>
          <p:cNvSpPr>
            <a:spLocks noGrp="1"/>
          </p:cNvSpPr>
          <p:nvPr>
            <p:ph type="body" idx="1"/>
          </p:nvPr>
        </p:nvSpPr>
        <p:spPr/>
        <p:txBody>
          <a:bodyPr/>
          <a:lstStyle/>
          <a:p>
            <a:endParaRPr lang="zh-CN" altLang="zh-CN" sz="1200" kern="1200" dirty="0">
              <a:effectLst/>
            </a:endParaRPr>
          </a:p>
        </p:txBody>
      </p:sp>
      <p:sp>
        <p:nvSpPr>
          <p:cNvPr id="4" name="Slide Number Placeholder 3">
            <a:extLst>
              <a:ext uri="{FF2B5EF4-FFF2-40B4-BE49-F238E27FC236}">
                <a16:creationId xmlns:a16="http://schemas.microsoft.com/office/drawing/2014/main" id="{DBF04AA4-6A5E-6118-7048-CE95E8803C0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86524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EF335-6592-CE7D-3064-575A9E434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45E09-BF87-313A-9395-0839BD4AC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D9BC1-EBEE-DF15-9342-7C23C2710FC3}"/>
              </a:ext>
            </a:extLst>
          </p:cNvPr>
          <p:cNvSpPr>
            <a:spLocks noGrp="1"/>
          </p:cNvSpPr>
          <p:nvPr>
            <p:ph type="body" idx="1"/>
          </p:nvPr>
        </p:nvSpPr>
        <p:spPr/>
        <p:txBody>
          <a:bodyPr/>
          <a:lstStyle/>
          <a:p>
            <a:endParaRPr lang="zh-CN" altLang="zh-CN" sz="1200" kern="1200" dirty="0">
              <a:effectLst/>
            </a:endParaRPr>
          </a:p>
        </p:txBody>
      </p:sp>
      <p:sp>
        <p:nvSpPr>
          <p:cNvPr id="4" name="Slide Number Placeholder 3">
            <a:extLst>
              <a:ext uri="{FF2B5EF4-FFF2-40B4-BE49-F238E27FC236}">
                <a16:creationId xmlns:a16="http://schemas.microsoft.com/office/drawing/2014/main" id="{87B176F1-ECA0-38CD-360E-DDBA537EED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07298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4DC9-0BE8-8EA2-C914-FDD425B7F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1BB78-38FE-2A42-C3DF-4891D62CC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1E341-6DD8-8516-1885-632E07253E06}"/>
              </a:ext>
            </a:extLst>
          </p:cNvPr>
          <p:cNvSpPr>
            <a:spLocks noGrp="1"/>
          </p:cNvSpPr>
          <p:nvPr>
            <p:ph type="body" idx="1"/>
          </p:nvPr>
        </p:nvSpPr>
        <p:spPr/>
        <p:txBody>
          <a:bodyPr/>
          <a:lstStyle/>
          <a:p>
            <a:endParaRPr lang="zh-CN" altLang="zh-CN" sz="1200" kern="1200" dirty="0">
              <a:effectLst/>
            </a:endParaRPr>
          </a:p>
        </p:txBody>
      </p:sp>
      <p:sp>
        <p:nvSpPr>
          <p:cNvPr id="4" name="Slide Number Placeholder 3">
            <a:extLst>
              <a:ext uri="{FF2B5EF4-FFF2-40B4-BE49-F238E27FC236}">
                <a16:creationId xmlns:a16="http://schemas.microsoft.com/office/drawing/2014/main" id="{49336F94-5F7C-906A-B76F-92487D3057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195503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8CC78-002F-1F9F-11E4-D0C95F127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7C972-331F-7E4E-A4CB-E7EDA0991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FB7F0-F388-3D13-ECD5-35AE441EA383}"/>
              </a:ext>
            </a:extLst>
          </p:cNvPr>
          <p:cNvSpPr>
            <a:spLocks noGrp="1"/>
          </p:cNvSpPr>
          <p:nvPr>
            <p:ph type="body" idx="1"/>
          </p:nvPr>
        </p:nvSpPr>
        <p:spPr/>
        <p:txBody>
          <a:bodyPr/>
          <a:lstStyle/>
          <a:p>
            <a:endParaRPr lang="zh-CN" altLang="zh-CN" sz="1200" kern="1200" dirty="0">
              <a:effectLst/>
            </a:endParaRPr>
          </a:p>
        </p:txBody>
      </p:sp>
      <p:sp>
        <p:nvSpPr>
          <p:cNvPr id="4" name="Slide Number Placeholder 3">
            <a:extLst>
              <a:ext uri="{FF2B5EF4-FFF2-40B4-BE49-F238E27FC236}">
                <a16:creationId xmlns:a16="http://schemas.microsoft.com/office/drawing/2014/main" id="{950DA130-998C-77F4-D7DB-0F7D59E9186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95563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6BC0A-C286-132C-7850-1797EAAEC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CAD4A-8065-097D-A632-C17A1A1F3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A260F-5CE5-1D3E-426C-BBED6ED2E49D}"/>
              </a:ext>
            </a:extLst>
          </p:cNvPr>
          <p:cNvSpPr>
            <a:spLocks noGrp="1"/>
          </p:cNvSpPr>
          <p:nvPr>
            <p:ph type="body" idx="1"/>
          </p:nvPr>
        </p:nvSpPr>
        <p:spPr/>
        <p:txBody>
          <a:bodyPr/>
          <a:lstStyle/>
          <a:p>
            <a:endParaRPr lang="zh-CN" altLang="zh-CN" sz="1200" kern="1200" dirty="0">
              <a:effectLst/>
            </a:endParaRPr>
          </a:p>
        </p:txBody>
      </p:sp>
      <p:sp>
        <p:nvSpPr>
          <p:cNvPr id="4" name="Slide Number Placeholder 3">
            <a:extLst>
              <a:ext uri="{FF2B5EF4-FFF2-40B4-BE49-F238E27FC236}">
                <a16:creationId xmlns:a16="http://schemas.microsoft.com/office/drawing/2014/main" id="{F1909749-EE08-F2AF-BA6F-D8A473E3209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32234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83B"/>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97923EB-8DA1-449C-A59A-A69DF448369C}"/>
              </a:ext>
            </a:extLst>
          </p:cNvPr>
          <p:cNvSpPr>
            <a:spLocks noGrp="1"/>
          </p:cNvSpPr>
          <p:nvPr/>
        </p:nvSpPr>
        <p:spPr>
          <a:xfrm>
            <a:off x="619125" y="1190625"/>
            <a:ext cx="7334250" cy="1762125"/>
          </a:xfrm>
          <a:prstGeom prst="rect">
            <a:avLst/>
          </a:prstGeom>
          <a:noFill/>
          <a:ln w="9525">
            <a:noFill/>
          </a:ln>
        </p:spPr>
        <p:txBody>
          <a:bodyPr>
            <a:noAutofit/>
          </a:bodyPr>
          <a:lstStyle/>
          <a:p>
            <a:pPr>
              <a:defRPr sz="4650" b="1">
                <a:solidFill>
                  <a:srgbClr val="FFFFFF"/>
                </a:solidFill>
                <a:latin typeface="Arial"/>
                <a:ea typeface="Arial"/>
                <a:cs typeface="Arial"/>
              </a:defRPr>
            </a:pPr>
            <a:r>
              <a:rPr lang="en-US" altLang="zh-CN" sz="4650" b="1" dirty="0">
                <a:solidFill>
                  <a:srgbClr val="FFFFFF"/>
                </a:solidFill>
                <a:latin typeface="Arial"/>
                <a:ea typeface="Arial"/>
                <a:cs typeface="Arial"/>
              </a:rPr>
              <a:t>KTH </a:t>
            </a:r>
            <a:r>
              <a:rPr sz="4650" b="1" dirty="0">
                <a:solidFill>
                  <a:srgbClr val="FFFFFF"/>
                </a:solidFill>
                <a:latin typeface="Arial"/>
                <a:ea typeface="Arial"/>
                <a:cs typeface="Arial"/>
              </a:rPr>
              <a:t>Edge AI</a:t>
            </a:r>
          </a:p>
          <a:p>
            <a:pPr>
              <a:defRPr sz="4650" b="1">
                <a:solidFill>
                  <a:srgbClr val="FFFFFF"/>
                </a:solidFill>
                <a:latin typeface="Arial"/>
                <a:ea typeface="Arial"/>
                <a:cs typeface="Arial"/>
              </a:defRPr>
            </a:pPr>
            <a:r>
              <a:rPr sz="4650" b="1" dirty="0">
                <a:solidFill>
                  <a:srgbClr val="FFFFFF"/>
                </a:solidFill>
                <a:latin typeface="Arial"/>
                <a:ea typeface="Arial"/>
                <a:cs typeface="Arial"/>
              </a:rPr>
              <a:t>Robotics Challenge</a:t>
            </a:r>
          </a:p>
        </p:txBody>
      </p:sp>
      <p:sp>
        <p:nvSpPr>
          <p:cNvPr id="2" name="Rectangle 1">
            <a:extLst>
              <a:ext uri="{FF2B5EF4-FFF2-40B4-BE49-F238E27FC236}">
                <a16:creationId xmlns:a16="http://schemas.microsoft.com/office/drawing/2014/main" id="{065EC6EF-10A7-4048-AB13-9F6AB83BCB3D}"/>
              </a:ext>
            </a:extLst>
          </p:cNvPr>
          <p:cNvSpPr>
            <a:spLocks noGrp="1"/>
          </p:cNvSpPr>
          <p:nvPr/>
        </p:nvSpPr>
        <p:spPr>
          <a:xfrm>
            <a:off x="666750" y="3286125"/>
            <a:ext cx="6667500" cy="523875"/>
          </a:xfrm>
          <a:prstGeom prst="rect">
            <a:avLst/>
          </a:prstGeom>
          <a:noFill/>
          <a:ln w="9525">
            <a:noFill/>
          </a:ln>
        </p:spPr>
        <p:txBody>
          <a:bodyPr>
            <a:noAutofit/>
          </a:bodyPr>
          <a:lstStyle/>
          <a:p>
            <a:pPr>
              <a:defRPr sz="2250" b="0">
                <a:solidFill>
                  <a:srgbClr val="79D8D2"/>
                </a:solidFill>
                <a:latin typeface="Arial"/>
                <a:ea typeface="Arial"/>
                <a:cs typeface="Arial"/>
              </a:defRPr>
            </a:pPr>
            <a:r>
              <a:rPr sz="2250" b="0">
                <a:solidFill>
                  <a:srgbClr val="79D8D2"/>
                </a:solidFill>
                <a:latin typeface="Arial"/>
                <a:ea typeface="Arial"/>
                <a:cs typeface="Arial"/>
              </a:rPr>
              <a:t>Kick-off meeting</a:t>
            </a:r>
          </a:p>
        </p:txBody>
      </p:sp>
      <p:sp>
        <p:nvSpPr>
          <p:cNvPr id="3" name="Rectangle 2">
            <a:extLst>
              <a:ext uri="{FF2B5EF4-FFF2-40B4-BE49-F238E27FC236}">
                <a16:creationId xmlns:a16="http://schemas.microsoft.com/office/drawing/2014/main" id="{EB598D12-27B8-4480-8A90-371D616DAB9B}"/>
              </a:ext>
            </a:extLst>
          </p:cNvPr>
          <p:cNvSpPr>
            <a:spLocks noGrp="1"/>
          </p:cNvSpPr>
          <p:nvPr/>
        </p:nvSpPr>
        <p:spPr>
          <a:xfrm>
            <a:off x="666750" y="3833812"/>
            <a:ext cx="6667500" cy="952500"/>
          </a:xfrm>
          <a:prstGeom prst="rect">
            <a:avLst/>
          </a:prstGeom>
          <a:noFill/>
          <a:ln w="9525">
            <a:noFill/>
          </a:ln>
        </p:spPr>
        <p:txBody>
          <a:bodyPr>
            <a:noAutofit/>
          </a:bodyPr>
          <a:lstStyle/>
          <a:p>
            <a:pPr>
              <a:defRPr sz="2100" b="0">
                <a:solidFill>
                  <a:srgbClr val="FFFFFF"/>
                </a:solidFill>
                <a:latin typeface="Arial"/>
                <a:ea typeface="Arial"/>
                <a:cs typeface="Arial"/>
              </a:defRPr>
            </a:pPr>
            <a:r>
              <a:rPr lang="en-US" sz="2100" b="0" dirty="0">
                <a:solidFill>
                  <a:srgbClr val="FFFFFF"/>
                </a:solidFill>
                <a:latin typeface="Arial"/>
                <a:ea typeface="Arial"/>
                <a:cs typeface="Arial"/>
              </a:rPr>
              <a:t>2026.10.07</a:t>
            </a:r>
            <a:endParaRPr sz="2100" b="0" dirty="0">
              <a:solidFill>
                <a:srgbClr val="FFFFFF"/>
              </a:solidFill>
              <a:latin typeface="Arial"/>
              <a:ea typeface="Arial"/>
              <a:cs typeface="Arial"/>
            </a:endParaRPr>
          </a:p>
        </p:txBody>
      </p:sp>
      <p:sp>
        <p:nvSpPr>
          <p:cNvPr id="4" name="Rectangle 3">
            <a:extLst>
              <a:ext uri="{FF2B5EF4-FFF2-40B4-BE49-F238E27FC236}">
                <a16:creationId xmlns:a16="http://schemas.microsoft.com/office/drawing/2014/main" id="{82CA99E1-F668-4B8C-9FDC-847CC499798D}"/>
              </a:ext>
            </a:extLst>
          </p:cNvPr>
          <p:cNvSpPr>
            <a:spLocks noGrp="1"/>
          </p:cNvSpPr>
          <p:nvPr/>
        </p:nvSpPr>
        <p:spPr>
          <a:xfrm>
            <a:off x="8477250" y="1619250"/>
            <a:ext cx="2714625" cy="3190875"/>
          </a:xfrm>
          <a:prstGeom prst="rect">
            <a:avLst/>
          </a:prstGeom>
          <a:noFill/>
          <a:ln w="9525">
            <a:solidFill>
              <a:srgbClr val="64818E"/>
            </a:solidFill>
          </a:ln>
        </p:spPr>
        <p:txBody>
          <a:bodyPr/>
          <a:lstStyle/>
          <a:p>
            <a:endParaRPr lang="zh-CN" altLang="en-US"/>
          </a:p>
        </p:txBody>
      </p:sp>
      <p:sp>
        <p:nvSpPr>
          <p:cNvPr id="5" name="Rectangle 4">
            <a:extLst>
              <a:ext uri="{FF2B5EF4-FFF2-40B4-BE49-F238E27FC236}">
                <a16:creationId xmlns:a16="http://schemas.microsoft.com/office/drawing/2014/main" id="{E0ED86CC-D291-4288-9307-FD0593C7AE70}"/>
              </a:ext>
            </a:extLst>
          </p:cNvPr>
          <p:cNvSpPr>
            <a:spLocks noGrp="1"/>
          </p:cNvSpPr>
          <p:nvPr/>
        </p:nvSpPr>
        <p:spPr>
          <a:xfrm>
            <a:off x="8477250" y="2952750"/>
            <a:ext cx="1047750" cy="66675"/>
          </a:xfrm>
          <a:prstGeom prst="rect">
            <a:avLst/>
          </a:prstGeom>
          <a:solidFill>
            <a:srgbClr val="64818E"/>
          </a:solidFill>
          <a:ln w="9525">
            <a:solidFill>
              <a:srgbClr val="64818E"/>
            </a:solidFill>
          </a:ln>
        </p:spPr>
        <p:txBody>
          <a:bodyPr/>
          <a:lstStyle/>
          <a:p>
            <a:endParaRPr lang="zh-CN" altLang="en-US"/>
          </a:p>
        </p:txBody>
      </p:sp>
      <p:sp>
        <p:nvSpPr>
          <p:cNvPr id="6" name="Rectangle 5">
            <a:extLst>
              <a:ext uri="{FF2B5EF4-FFF2-40B4-BE49-F238E27FC236}">
                <a16:creationId xmlns:a16="http://schemas.microsoft.com/office/drawing/2014/main" id="{35EFB098-6606-4EFF-955E-B6A643B67B6F}"/>
              </a:ext>
            </a:extLst>
          </p:cNvPr>
          <p:cNvSpPr>
            <a:spLocks noGrp="1"/>
          </p:cNvSpPr>
          <p:nvPr/>
        </p:nvSpPr>
        <p:spPr>
          <a:xfrm>
            <a:off x="10048875" y="1619250"/>
            <a:ext cx="66675" cy="1333500"/>
          </a:xfrm>
          <a:prstGeom prst="rect">
            <a:avLst/>
          </a:prstGeom>
          <a:solidFill>
            <a:srgbClr val="64818E"/>
          </a:solidFill>
          <a:ln w="9525">
            <a:solidFill>
              <a:srgbClr val="64818E"/>
            </a:solidFill>
          </a:ln>
        </p:spPr>
        <p:txBody>
          <a:bodyPr/>
          <a:lstStyle/>
          <a:p>
            <a:endParaRPr lang="zh-CN" altLang="en-US"/>
          </a:p>
        </p:txBody>
      </p:sp>
      <p:sp>
        <p:nvSpPr>
          <p:cNvPr id="7" name="Rectangle 6">
            <a:extLst>
              <a:ext uri="{FF2B5EF4-FFF2-40B4-BE49-F238E27FC236}">
                <a16:creationId xmlns:a16="http://schemas.microsoft.com/office/drawing/2014/main" id="{45417372-7258-4D99-88FB-A3BD8F76EB1D}"/>
              </a:ext>
            </a:extLst>
          </p:cNvPr>
          <p:cNvSpPr>
            <a:spLocks noGrp="1"/>
          </p:cNvSpPr>
          <p:nvPr/>
        </p:nvSpPr>
        <p:spPr>
          <a:xfrm>
            <a:off x="9858375" y="3810000"/>
            <a:ext cx="1333500" cy="66675"/>
          </a:xfrm>
          <a:prstGeom prst="rect">
            <a:avLst/>
          </a:prstGeom>
          <a:solidFill>
            <a:srgbClr val="64818E"/>
          </a:solidFill>
          <a:ln w="9525">
            <a:solidFill>
              <a:srgbClr val="64818E"/>
            </a:solidFill>
          </a:ln>
        </p:spPr>
        <p:txBody>
          <a:bodyPr/>
          <a:lstStyle/>
          <a:p>
            <a:endParaRPr lang="zh-CN" altLang="en-US"/>
          </a:p>
        </p:txBody>
      </p:sp>
      <p:sp>
        <p:nvSpPr>
          <p:cNvPr id="8" name="Rectangle: Rounded Corners 7">
            <a:extLst>
              <a:ext uri="{FF2B5EF4-FFF2-40B4-BE49-F238E27FC236}">
                <a16:creationId xmlns:a16="http://schemas.microsoft.com/office/drawing/2014/main" id="{55C2E025-111B-4C09-A3CA-90523D64FD19}"/>
              </a:ext>
            </a:extLst>
          </p:cNvPr>
          <p:cNvSpPr>
            <a:spLocks noGrp="1"/>
          </p:cNvSpPr>
          <p:nvPr/>
        </p:nvSpPr>
        <p:spPr>
          <a:xfrm>
            <a:off x="9151939" y="3636169"/>
            <a:ext cx="314325" cy="285750"/>
          </a:xfrm>
          <a:prstGeom prst="roundRect">
            <a:avLst>
              <a:gd name="adj" fmla="val 15385"/>
            </a:avLst>
          </a:prstGeom>
          <a:solidFill>
            <a:srgbClr val="55C6C1"/>
          </a:solidFill>
          <a:ln w="9525">
            <a:solidFill>
              <a:srgbClr val="55C6C1"/>
            </a:solidFill>
          </a:ln>
        </p:spPr>
        <p:txBody>
          <a:bodyPr/>
          <a:lstStyle/>
          <a:p>
            <a:endParaRPr lang="zh-CN" altLang="en-US"/>
          </a:p>
        </p:txBody>
      </p:sp>
      <p:sp>
        <p:nvSpPr>
          <p:cNvPr id="10" name="Rectangle 9">
            <a:extLst>
              <a:ext uri="{FF2B5EF4-FFF2-40B4-BE49-F238E27FC236}">
                <a16:creationId xmlns:a16="http://schemas.microsoft.com/office/drawing/2014/main" id="{320C92F4-78B4-4AF7-964A-48F38F2C47B1}"/>
              </a:ext>
            </a:extLst>
          </p:cNvPr>
          <p:cNvSpPr>
            <a:spLocks noGrp="1"/>
          </p:cNvSpPr>
          <p:nvPr/>
        </p:nvSpPr>
        <p:spPr>
          <a:xfrm>
            <a:off x="9151939" y="4010025"/>
            <a:ext cx="85725" cy="342900"/>
          </a:xfrm>
          <a:prstGeom prst="rect">
            <a:avLst/>
          </a:prstGeom>
          <a:solidFill>
            <a:srgbClr val="12283B"/>
          </a:solidFill>
          <a:ln w="9525">
            <a:solidFill>
              <a:srgbClr val="12283B"/>
            </a:solidFill>
          </a:ln>
        </p:spPr>
        <p:txBody>
          <a:bodyPr/>
          <a:lstStyle/>
          <a:p>
            <a:endParaRPr lang="zh-CN" altLang="en-US"/>
          </a:p>
        </p:txBody>
      </p:sp>
      <p:sp>
        <p:nvSpPr>
          <p:cNvPr id="11" name="Oval 10">
            <a:extLst>
              <a:ext uri="{FF2B5EF4-FFF2-40B4-BE49-F238E27FC236}">
                <a16:creationId xmlns:a16="http://schemas.microsoft.com/office/drawing/2014/main" id="{0D081DC9-27B4-4F4F-B11C-D8BC354D601E}"/>
              </a:ext>
            </a:extLst>
          </p:cNvPr>
          <p:cNvSpPr>
            <a:spLocks noGrp="1"/>
          </p:cNvSpPr>
          <p:nvPr/>
        </p:nvSpPr>
        <p:spPr>
          <a:xfrm>
            <a:off x="9261476" y="3593306"/>
            <a:ext cx="95250" cy="85726"/>
          </a:xfrm>
          <a:prstGeom prst="ellipse">
            <a:avLst/>
          </a:prstGeom>
          <a:solidFill>
            <a:srgbClr val="FFFFFF"/>
          </a:solidFill>
          <a:ln w="9525">
            <a:solidFill>
              <a:srgbClr val="FFFFFF"/>
            </a:solidFill>
          </a:ln>
        </p:spPr>
        <p:txBody>
          <a:bodyPr/>
          <a:lstStyle/>
          <a:p>
            <a:endParaRPr lang="zh-CN" altLang="en-US"/>
          </a:p>
        </p:txBody>
      </p:sp>
      <p:sp>
        <p:nvSpPr>
          <p:cNvPr id="12" name="Rectangle 11">
            <a:extLst>
              <a:ext uri="{FF2B5EF4-FFF2-40B4-BE49-F238E27FC236}">
                <a16:creationId xmlns:a16="http://schemas.microsoft.com/office/drawing/2014/main" id="{5EC62898-0CB5-4921-8377-8930BBAFA948}"/>
              </a:ext>
            </a:extLst>
          </p:cNvPr>
          <p:cNvSpPr>
            <a:spLocks noGrp="1"/>
          </p:cNvSpPr>
          <p:nvPr/>
        </p:nvSpPr>
        <p:spPr>
          <a:xfrm>
            <a:off x="8696325" y="4324350"/>
            <a:ext cx="952500" cy="285750"/>
          </a:xfrm>
          <a:prstGeom prst="rect">
            <a:avLst/>
          </a:prstGeom>
          <a:noFill/>
          <a:ln w="9525">
            <a:noFill/>
          </a:ln>
        </p:spPr>
        <p:txBody>
          <a:bodyPr>
            <a:noAutofit/>
          </a:bodyPr>
          <a:lstStyle/>
          <a:p>
            <a:endParaRPr/>
          </a:p>
        </p:txBody>
      </p:sp>
      <p:sp>
        <p:nvSpPr>
          <p:cNvPr id="13" name="Rectangle 12">
            <a:extLst>
              <a:ext uri="{FF2B5EF4-FFF2-40B4-BE49-F238E27FC236}">
                <a16:creationId xmlns:a16="http://schemas.microsoft.com/office/drawing/2014/main" id="{FC988AD9-8674-4C64-9472-5123C3AD5449}"/>
              </a:ext>
            </a:extLst>
          </p:cNvPr>
          <p:cNvSpPr>
            <a:spLocks noGrp="1"/>
          </p:cNvSpPr>
          <p:nvPr/>
        </p:nvSpPr>
        <p:spPr>
          <a:xfrm>
            <a:off x="10334625" y="2143125"/>
            <a:ext cx="514350" cy="514350"/>
          </a:xfrm>
          <a:prstGeom prst="rect">
            <a:avLst/>
          </a:prstGeom>
          <a:solidFill>
            <a:srgbClr val="12283B"/>
          </a:solidFill>
          <a:ln w="9525">
            <a:solidFill>
              <a:srgbClr val="12283B"/>
            </a:solidFill>
          </a:ln>
        </p:spPr>
        <p:txBody>
          <a:bodyPr/>
          <a:lstStyle/>
          <a:p>
            <a:endParaRPr lang="zh-CN" altLang="en-US"/>
          </a:p>
        </p:txBody>
      </p:sp>
      <p:sp>
        <p:nvSpPr>
          <p:cNvPr id="14" name="Rectangle 13">
            <a:extLst>
              <a:ext uri="{FF2B5EF4-FFF2-40B4-BE49-F238E27FC236}">
                <a16:creationId xmlns:a16="http://schemas.microsoft.com/office/drawing/2014/main" id="{0F034634-41FE-40CE-8A07-FF59B902D0F9}"/>
              </a:ext>
            </a:extLst>
          </p:cNvPr>
          <p:cNvSpPr>
            <a:spLocks noGrp="1"/>
          </p:cNvSpPr>
          <p:nvPr/>
        </p:nvSpPr>
        <p:spPr>
          <a:xfrm>
            <a:off x="10401300" y="2209800"/>
            <a:ext cx="381000" cy="381000"/>
          </a:xfrm>
          <a:prstGeom prst="rect">
            <a:avLst/>
          </a:prstGeom>
          <a:solidFill>
            <a:srgbClr val="FFFFFF"/>
          </a:solidFill>
          <a:ln w="9525">
            <a:solidFill>
              <a:srgbClr val="FFFFFF"/>
            </a:solidFill>
          </a:ln>
        </p:spPr>
        <p:txBody>
          <a:bodyPr/>
          <a:lstStyle/>
          <a:p>
            <a:endParaRPr lang="zh-CN" altLang="en-US"/>
          </a:p>
        </p:txBody>
      </p:sp>
      <p:sp>
        <p:nvSpPr>
          <p:cNvPr id="15" name="Rectangle 14">
            <a:extLst>
              <a:ext uri="{FF2B5EF4-FFF2-40B4-BE49-F238E27FC236}">
                <a16:creationId xmlns:a16="http://schemas.microsoft.com/office/drawing/2014/main" id="{77531630-764C-46F8-B5AC-9AE987180891}"/>
              </a:ext>
            </a:extLst>
          </p:cNvPr>
          <p:cNvSpPr>
            <a:spLocks noGrp="1"/>
          </p:cNvSpPr>
          <p:nvPr/>
        </p:nvSpPr>
        <p:spPr>
          <a:xfrm>
            <a:off x="10429875" y="2238375"/>
            <a:ext cx="95250" cy="95250"/>
          </a:xfrm>
          <a:prstGeom prst="rect">
            <a:avLst/>
          </a:prstGeom>
          <a:solidFill>
            <a:srgbClr val="12283B"/>
          </a:solidFill>
          <a:ln w="9525">
            <a:solidFill>
              <a:srgbClr val="12283B"/>
            </a:solidFill>
          </a:ln>
        </p:spPr>
        <p:txBody>
          <a:bodyPr/>
          <a:lstStyle/>
          <a:p>
            <a:endParaRPr lang="zh-CN" altLang="en-US"/>
          </a:p>
        </p:txBody>
      </p:sp>
      <p:sp>
        <p:nvSpPr>
          <p:cNvPr id="16" name="Rectangle 15">
            <a:extLst>
              <a:ext uri="{FF2B5EF4-FFF2-40B4-BE49-F238E27FC236}">
                <a16:creationId xmlns:a16="http://schemas.microsoft.com/office/drawing/2014/main" id="{99403996-E06E-4966-B1E6-8C716A20D127}"/>
              </a:ext>
            </a:extLst>
          </p:cNvPr>
          <p:cNvSpPr>
            <a:spLocks noGrp="1"/>
          </p:cNvSpPr>
          <p:nvPr/>
        </p:nvSpPr>
        <p:spPr>
          <a:xfrm>
            <a:off x="10534650" y="2238375"/>
            <a:ext cx="95250" cy="95250"/>
          </a:xfrm>
          <a:prstGeom prst="rect">
            <a:avLst/>
          </a:prstGeom>
          <a:solidFill>
            <a:srgbClr val="12283B"/>
          </a:solidFill>
          <a:ln w="9525">
            <a:solidFill>
              <a:srgbClr val="12283B"/>
            </a:solidFill>
          </a:ln>
        </p:spPr>
        <p:txBody>
          <a:bodyPr/>
          <a:lstStyle/>
          <a:p>
            <a:endParaRPr lang="zh-CN" altLang="en-US"/>
          </a:p>
        </p:txBody>
      </p:sp>
      <p:sp>
        <p:nvSpPr>
          <p:cNvPr id="17" name="Rectangle 16">
            <a:extLst>
              <a:ext uri="{FF2B5EF4-FFF2-40B4-BE49-F238E27FC236}">
                <a16:creationId xmlns:a16="http://schemas.microsoft.com/office/drawing/2014/main" id="{D9B475FC-583B-4D6D-B659-1569B0A2AEB2}"/>
              </a:ext>
            </a:extLst>
          </p:cNvPr>
          <p:cNvSpPr>
            <a:spLocks noGrp="1"/>
          </p:cNvSpPr>
          <p:nvPr/>
        </p:nvSpPr>
        <p:spPr>
          <a:xfrm>
            <a:off x="10639425" y="2343150"/>
            <a:ext cx="95250" cy="95250"/>
          </a:xfrm>
          <a:prstGeom prst="rect">
            <a:avLst/>
          </a:prstGeom>
          <a:solidFill>
            <a:srgbClr val="12283B"/>
          </a:solidFill>
          <a:ln w="9525">
            <a:solidFill>
              <a:srgbClr val="12283B"/>
            </a:solidFill>
          </a:ln>
        </p:spPr>
        <p:txBody>
          <a:bodyPr/>
          <a:lstStyle/>
          <a:p>
            <a:endParaRPr lang="zh-CN" altLang="en-US"/>
          </a:p>
        </p:txBody>
      </p:sp>
      <p:sp>
        <p:nvSpPr>
          <p:cNvPr id="18" name="Rectangle 17">
            <a:extLst>
              <a:ext uri="{FF2B5EF4-FFF2-40B4-BE49-F238E27FC236}">
                <a16:creationId xmlns:a16="http://schemas.microsoft.com/office/drawing/2014/main" id="{B501291C-E4EA-4118-BD57-C5CF68E58363}"/>
              </a:ext>
            </a:extLst>
          </p:cNvPr>
          <p:cNvSpPr>
            <a:spLocks noGrp="1"/>
          </p:cNvSpPr>
          <p:nvPr/>
        </p:nvSpPr>
        <p:spPr>
          <a:xfrm>
            <a:off x="10429875" y="2447925"/>
            <a:ext cx="95250" cy="95250"/>
          </a:xfrm>
          <a:prstGeom prst="rect">
            <a:avLst/>
          </a:prstGeom>
          <a:solidFill>
            <a:srgbClr val="12283B"/>
          </a:solidFill>
          <a:ln w="9525">
            <a:solidFill>
              <a:srgbClr val="12283B"/>
            </a:solidFill>
          </a:ln>
        </p:spPr>
        <p:txBody>
          <a:bodyPr/>
          <a:lstStyle/>
          <a:p>
            <a:endParaRPr lang="zh-CN" altLang="en-US"/>
          </a:p>
        </p:txBody>
      </p:sp>
      <p:sp>
        <p:nvSpPr>
          <p:cNvPr id="19" name="Rectangle 18">
            <a:extLst>
              <a:ext uri="{FF2B5EF4-FFF2-40B4-BE49-F238E27FC236}">
                <a16:creationId xmlns:a16="http://schemas.microsoft.com/office/drawing/2014/main" id="{F1801E32-2A80-441B-8C4A-92573D04553B}"/>
              </a:ext>
            </a:extLst>
          </p:cNvPr>
          <p:cNvSpPr>
            <a:spLocks noGrp="1"/>
          </p:cNvSpPr>
          <p:nvPr/>
        </p:nvSpPr>
        <p:spPr>
          <a:xfrm>
            <a:off x="10639425" y="2447925"/>
            <a:ext cx="95250" cy="95250"/>
          </a:xfrm>
          <a:prstGeom prst="rect">
            <a:avLst/>
          </a:prstGeom>
          <a:solidFill>
            <a:srgbClr val="12283B"/>
          </a:solidFill>
          <a:ln w="9525">
            <a:solidFill>
              <a:srgbClr val="12283B"/>
            </a:solidFill>
          </a:ln>
        </p:spPr>
        <p:txBody>
          <a:bodyPr/>
          <a:lstStyle/>
          <a:p>
            <a:endParaRPr lang="zh-CN" altLang="en-US"/>
          </a:p>
        </p:txBody>
      </p:sp>
    </p:spTree>
    <p:extLst>
      <p:ext uri="{BB962C8B-B14F-4D97-AF65-F5344CB8AC3E}">
        <p14:creationId xmlns:p14="http://schemas.microsoft.com/office/powerpoint/2010/main" val="85258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767B56A-879F-4A7B-B40C-EC4AFDC6A972}"/>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Challenge overview</a:t>
            </a:r>
          </a:p>
        </p:txBody>
      </p:sp>
      <p:sp>
        <p:nvSpPr>
          <p:cNvPr id="3" name="Rectangle 2">
            <a:extLst>
              <a:ext uri="{FF2B5EF4-FFF2-40B4-BE49-F238E27FC236}">
                <a16:creationId xmlns:a16="http://schemas.microsoft.com/office/drawing/2014/main" id="{A9F45745-8A72-4A90-87DB-5777C5CC6EBC}"/>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02</a:t>
            </a:r>
          </a:p>
        </p:txBody>
      </p:sp>
      <p:sp>
        <p:nvSpPr>
          <p:cNvPr id="4" name="Rectangle 3">
            <a:extLst>
              <a:ext uri="{FF2B5EF4-FFF2-40B4-BE49-F238E27FC236}">
                <a16:creationId xmlns:a16="http://schemas.microsoft.com/office/drawing/2014/main" id="{BB0592D6-41A8-497A-BA4D-FE0458D0831A}"/>
              </a:ext>
            </a:extLst>
          </p:cNvPr>
          <p:cNvSpPr>
            <a:spLocks noGrp="1"/>
          </p:cNvSpPr>
          <p:nvPr/>
        </p:nvSpPr>
        <p:spPr>
          <a:xfrm>
            <a:off x="502920" y="1171575"/>
            <a:ext cx="10858500" cy="619125"/>
          </a:xfrm>
          <a:prstGeom prst="rect">
            <a:avLst/>
          </a:prstGeom>
          <a:noFill/>
          <a:ln w="9525">
            <a:noFill/>
          </a:ln>
        </p:spPr>
        <p:txBody>
          <a:bodyPr>
            <a:noAutofit/>
          </a:bodyPr>
          <a:lstStyle/>
          <a:p>
            <a:pPr algn="just"/>
            <a:r>
              <a:rPr lang="zh-CN" altLang="zh-CN" sz="2000" dirty="0"/>
              <a:t>Each team will control a group of approximately </a:t>
            </a:r>
            <a:r>
              <a:rPr lang="zh-CN" altLang="zh-CN" sz="2000" b="1" dirty="0"/>
              <a:t>four wheeled mobile robots</a:t>
            </a:r>
            <a:r>
              <a:rPr lang="zh-CN" altLang="zh-CN" sz="2000" dirty="0"/>
              <a:t> operating in an unknown indoor environment.</a:t>
            </a:r>
            <a:r>
              <a:rPr lang="en-US" altLang="zh-CN" sz="2000" dirty="0"/>
              <a:t> </a:t>
            </a:r>
            <a:r>
              <a:rPr lang="zh-CN" altLang="zh-CN" sz="2000" dirty="0"/>
              <a:t>During the mission, the robots may need to:</a:t>
            </a:r>
            <a:endParaRPr lang="en-US" altLang="zh-CN" sz="2000" dirty="0"/>
          </a:p>
        </p:txBody>
      </p:sp>
      <p:sp>
        <p:nvSpPr>
          <p:cNvPr id="23" name="Shape 2">
            <a:extLst>
              <a:ext uri="{FF2B5EF4-FFF2-40B4-BE49-F238E27FC236}">
                <a16:creationId xmlns:a16="http://schemas.microsoft.com/office/drawing/2014/main" id="{AED314BA-42F8-F222-51DD-E1D5DA2FD4D3}"/>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5" name="Text 5">
            <a:extLst>
              <a:ext uri="{FF2B5EF4-FFF2-40B4-BE49-F238E27FC236}">
                <a16:creationId xmlns:a16="http://schemas.microsoft.com/office/drawing/2014/main" id="{A3E01473-C104-CC12-9269-AA17225E32A0}"/>
              </a:ext>
            </a:extLst>
          </p:cNvPr>
          <p:cNvSpPr/>
          <p:nvPr/>
        </p:nvSpPr>
        <p:spPr>
          <a:xfrm>
            <a:off x="617982" y="1709166"/>
            <a:ext cx="6544818" cy="3496817"/>
          </a:xfrm>
          <a:prstGeom prst="rect">
            <a:avLst/>
          </a:prstGeom>
          <a:noFill/>
          <a:ln/>
        </p:spPr>
        <p:txBody>
          <a:bodyPr wrap="square" lIns="508" tIns="508" rIns="508" bIns="508" rtlCol="0" anchor="ctr">
            <a:normAutofit/>
          </a:bodyPr>
          <a:lstStyle/>
          <a:p>
            <a:pPr marL="285750" lvl="0" indent="-285750">
              <a:spcAft>
                <a:spcPts val="1200"/>
              </a:spcAft>
              <a:buFont typeface="Wingdings" panose="05000000000000000000" pitchFamily="2" charset="2"/>
              <a:buChar char="l"/>
            </a:pPr>
            <a:r>
              <a:rPr lang="zh-CN" altLang="zh-CN" dirty="0"/>
              <a:t>Explore an initially unknown environment</a:t>
            </a:r>
          </a:p>
          <a:p>
            <a:pPr marL="285750" lvl="0" indent="-285750">
              <a:spcAft>
                <a:spcPts val="1200"/>
              </a:spcAft>
              <a:buFont typeface="Wingdings" panose="05000000000000000000" pitchFamily="2" charset="2"/>
              <a:buChar char="l"/>
            </a:pPr>
            <a:r>
              <a:rPr lang="zh-CN" altLang="zh-CN" dirty="0"/>
              <a:t>Detect</a:t>
            </a:r>
            <a:r>
              <a:rPr lang="en-US" altLang="zh-CN" dirty="0"/>
              <a:t>,</a:t>
            </a:r>
            <a:r>
              <a:rPr lang="zh-CN" altLang="en-US" dirty="0"/>
              <a:t> </a:t>
            </a:r>
            <a:r>
              <a:rPr lang="zh-CN" altLang="zh-CN" dirty="0"/>
              <a:t>identify</a:t>
            </a:r>
            <a:r>
              <a:rPr lang="en-US" altLang="zh-CN" dirty="0"/>
              <a:t>, and localize</a:t>
            </a:r>
            <a:r>
              <a:rPr lang="zh-CN" altLang="zh-CN" dirty="0"/>
              <a:t> different targets</a:t>
            </a:r>
          </a:p>
          <a:p>
            <a:pPr marL="285750" lvl="0" indent="-285750">
              <a:spcAft>
                <a:spcPts val="1200"/>
              </a:spcAft>
              <a:buFont typeface="Wingdings" panose="05000000000000000000" pitchFamily="2" charset="2"/>
              <a:buChar char="l"/>
            </a:pPr>
            <a:r>
              <a:rPr lang="zh-CN" altLang="zh-CN" dirty="0"/>
              <a:t>Share information between robots</a:t>
            </a:r>
            <a:r>
              <a:rPr lang="en-US" altLang="zh-CN" dirty="0"/>
              <a:t> and edge node</a:t>
            </a:r>
            <a:endParaRPr lang="zh-CN" altLang="zh-CN" dirty="0"/>
          </a:p>
          <a:p>
            <a:pPr marL="285750" lvl="0" indent="-285750">
              <a:spcAft>
                <a:spcPts val="1200"/>
              </a:spcAft>
              <a:buFont typeface="Wingdings" panose="05000000000000000000" pitchFamily="2" charset="2"/>
              <a:buChar char="l"/>
            </a:pPr>
            <a:r>
              <a:rPr lang="zh-CN" altLang="zh-CN" dirty="0"/>
              <a:t>Allocate tasks among robots</a:t>
            </a:r>
          </a:p>
          <a:p>
            <a:pPr marL="285750" lvl="0" indent="-285750">
              <a:spcAft>
                <a:spcPts val="1200"/>
              </a:spcAft>
              <a:buFont typeface="Wingdings" panose="05000000000000000000" pitchFamily="2" charset="2"/>
              <a:buChar char="l"/>
            </a:pPr>
            <a:r>
              <a:rPr lang="zh-CN" altLang="zh-CN" dirty="0"/>
              <a:t>Form robot groups to complete specific rescue tasks</a:t>
            </a:r>
          </a:p>
          <a:p>
            <a:pPr marL="285750" lvl="0" indent="-285750">
              <a:spcAft>
                <a:spcPts val="1200"/>
              </a:spcAft>
              <a:buFont typeface="Wingdings" panose="05000000000000000000" pitchFamily="2" charset="2"/>
              <a:buChar char="l"/>
            </a:pPr>
            <a:r>
              <a:rPr lang="zh-CN" altLang="zh-CN" dirty="0"/>
              <a:t>Adapt their behavior according to mission updates</a:t>
            </a:r>
          </a:p>
          <a:p>
            <a:pPr marL="285750" lvl="0" indent="-285750">
              <a:spcAft>
                <a:spcPts val="1200"/>
              </a:spcAft>
              <a:buFont typeface="Wingdings" panose="05000000000000000000" pitchFamily="2" charset="2"/>
              <a:buChar char="l"/>
            </a:pPr>
            <a:r>
              <a:rPr lang="zh-CN" altLang="zh-CN" dirty="0"/>
              <a:t>Manage computation, communication, </a:t>
            </a:r>
            <a:r>
              <a:rPr lang="en-US" altLang="zh-CN" dirty="0"/>
              <a:t>or</a:t>
            </a:r>
            <a:r>
              <a:rPr lang="zh-CN" altLang="zh-CN" dirty="0"/>
              <a:t> energy consumption</a:t>
            </a:r>
          </a:p>
        </p:txBody>
      </p:sp>
      <p:pic>
        <p:nvPicPr>
          <p:cNvPr id="27" name="Image 0" descr="/mnt/data/a_detailed_isometric_3d_rendered_indoor_scene_lik_batch_2.png">
            <a:extLst>
              <a:ext uri="{FF2B5EF4-FFF2-40B4-BE49-F238E27FC236}">
                <a16:creationId xmlns:a16="http://schemas.microsoft.com/office/drawing/2014/main" id="{3BBACCBE-A1C2-13D8-B9A5-62E500A73272}"/>
              </a:ext>
            </a:extLst>
          </p:cNvPr>
          <p:cNvPicPr>
            <a:picLocks noChangeAspect="1"/>
          </p:cNvPicPr>
          <p:nvPr/>
        </p:nvPicPr>
        <p:blipFill>
          <a:blip r:embed="rId3"/>
          <a:stretch>
            <a:fillRect/>
          </a:stretch>
        </p:blipFill>
        <p:spPr>
          <a:xfrm>
            <a:off x="7162800" y="2276867"/>
            <a:ext cx="4453542" cy="2506449"/>
          </a:xfrm>
          <a:prstGeom prst="rect">
            <a:avLst/>
          </a:prstGeom>
        </p:spPr>
      </p:pic>
      <p:sp>
        <p:nvSpPr>
          <p:cNvPr id="29" name="Shape 7">
            <a:extLst>
              <a:ext uri="{FF2B5EF4-FFF2-40B4-BE49-F238E27FC236}">
                <a16:creationId xmlns:a16="http://schemas.microsoft.com/office/drawing/2014/main" id="{84A3D629-EC96-CF4C-E024-A4CB044A3ACE}"/>
              </a:ext>
            </a:extLst>
          </p:cNvPr>
          <p:cNvSpPr/>
          <p:nvPr/>
        </p:nvSpPr>
        <p:spPr>
          <a:xfrm>
            <a:off x="3454469" y="5226484"/>
            <a:ext cx="6117399" cy="786384"/>
          </a:xfrm>
          <a:prstGeom prst="roundRect">
            <a:avLst>
              <a:gd name="adj" fmla="val 9302"/>
            </a:avLst>
          </a:prstGeom>
          <a:solidFill>
            <a:srgbClr val="0B1F3A">
              <a:alpha val="97000"/>
            </a:srgbClr>
          </a:solidFill>
          <a:ln w="12700">
            <a:solidFill>
              <a:srgbClr val="0B1F3A">
                <a:alpha val="0"/>
              </a:srgbClr>
            </a:solidFill>
            <a:prstDash val="solid"/>
          </a:ln>
        </p:spPr>
        <p:txBody>
          <a:bodyPr/>
          <a:lstStyle/>
          <a:p>
            <a:endParaRPr lang="zh-CN" altLang="en-US"/>
          </a:p>
        </p:txBody>
      </p:sp>
      <p:sp>
        <p:nvSpPr>
          <p:cNvPr id="31" name="Text 8">
            <a:extLst>
              <a:ext uri="{FF2B5EF4-FFF2-40B4-BE49-F238E27FC236}">
                <a16:creationId xmlns:a16="http://schemas.microsoft.com/office/drawing/2014/main" id="{D4C81126-269E-297E-83B7-FDE933AF4B5A}"/>
              </a:ext>
            </a:extLst>
          </p:cNvPr>
          <p:cNvSpPr/>
          <p:nvPr/>
        </p:nvSpPr>
        <p:spPr>
          <a:xfrm>
            <a:off x="3593299" y="5355128"/>
            <a:ext cx="5839738" cy="543755"/>
          </a:xfrm>
          <a:prstGeom prst="rect">
            <a:avLst/>
          </a:prstGeom>
          <a:noFill/>
          <a:ln/>
        </p:spPr>
        <p:txBody>
          <a:bodyPr wrap="square" lIns="0" tIns="0" rIns="0" bIns="0" rtlCol="0" anchor="ctr"/>
          <a:lstStyle/>
          <a:p>
            <a:pPr marL="0" indent="0" algn="ctr">
              <a:buNone/>
            </a:pPr>
            <a:r>
              <a:rPr lang="en-US" sz="1600" b="1" dirty="0">
                <a:solidFill>
                  <a:srgbClr val="FFFFFF"/>
                </a:solidFill>
              </a:rPr>
              <a:t>Core theme: AI + Robotics + Edge Computing + Communication + Control</a:t>
            </a:r>
            <a:endParaRPr lang="en-US" sz="1600" dirty="0"/>
          </a:p>
        </p:txBody>
      </p:sp>
    </p:spTree>
    <p:extLst>
      <p:ext uri="{BB962C8B-B14F-4D97-AF65-F5344CB8AC3E}">
        <p14:creationId xmlns:p14="http://schemas.microsoft.com/office/powerpoint/2010/main" val="470999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E22037F-A429-47F3-809A-8A8105FE4039}"/>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System </a:t>
            </a:r>
            <a:r>
              <a:rPr lang="en-US" sz="3000" b="1" dirty="0">
                <a:solidFill>
                  <a:srgbClr val="12283B"/>
                </a:solidFill>
                <a:latin typeface="Arial"/>
                <a:ea typeface="Arial"/>
                <a:cs typeface="Arial"/>
              </a:rPr>
              <a:t>architecture - overview</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6613F31C-BB09-4B1F-85D2-BEC0BE9C9772}"/>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03</a:t>
            </a:r>
          </a:p>
        </p:txBody>
      </p:sp>
      <p:sp>
        <p:nvSpPr>
          <p:cNvPr id="36" name="Shape 2">
            <a:extLst>
              <a:ext uri="{FF2B5EF4-FFF2-40B4-BE49-F238E27FC236}">
                <a16:creationId xmlns:a16="http://schemas.microsoft.com/office/drawing/2014/main" id="{A8A03C93-8F94-224D-98C0-673217C322BF}"/>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38" name="Picture 37">
            <a:extLst>
              <a:ext uri="{FF2B5EF4-FFF2-40B4-BE49-F238E27FC236}">
                <a16:creationId xmlns:a16="http://schemas.microsoft.com/office/drawing/2014/main" id="{40A6B7D1-4149-C9AB-F123-94BA3435B4A7}"/>
              </a:ext>
            </a:extLst>
          </p:cNvPr>
          <p:cNvPicPr>
            <a:picLocks noChangeAspect="1"/>
          </p:cNvPicPr>
          <p:nvPr/>
        </p:nvPicPr>
        <p:blipFill>
          <a:blip r:embed="rId3"/>
          <a:srcRect b="27080"/>
          <a:stretch>
            <a:fillRect/>
          </a:stretch>
        </p:blipFill>
        <p:spPr>
          <a:xfrm>
            <a:off x="377914" y="1917546"/>
            <a:ext cx="6742221" cy="3118430"/>
          </a:xfrm>
          <a:prstGeom prst="rect">
            <a:avLst/>
          </a:prstGeom>
        </p:spPr>
      </p:pic>
      <p:sp>
        <p:nvSpPr>
          <p:cNvPr id="40" name="Shape 8">
            <a:extLst>
              <a:ext uri="{FF2B5EF4-FFF2-40B4-BE49-F238E27FC236}">
                <a16:creationId xmlns:a16="http://schemas.microsoft.com/office/drawing/2014/main" id="{D137B07C-13EB-7548-002C-A18E879D75A0}"/>
              </a:ext>
            </a:extLst>
          </p:cNvPr>
          <p:cNvSpPr/>
          <p:nvPr/>
        </p:nvSpPr>
        <p:spPr>
          <a:xfrm>
            <a:off x="7487611" y="1155641"/>
            <a:ext cx="4170988" cy="1402030"/>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2" name="Text 5">
            <a:extLst>
              <a:ext uri="{FF2B5EF4-FFF2-40B4-BE49-F238E27FC236}">
                <a16:creationId xmlns:a16="http://schemas.microsoft.com/office/drawing/2014/main" id="{E1602F5F-3152-F90E-7F67-CE5A95FBF316}"/>
              </a:ext>
            </a:extLst>
          </p:cNvPr>
          <p:cNvSpPr/>
          <p:nvPr/>
        </p:nvSpPr>
        <p:spPr>
          <a:xfrm>
            <a:off x="7651341" y="1280165"/>
            <a:ext cx="3246120" cy="201168"/>
          </a:xfrm>
          <a:prstGeom prst="rect">
            <a:avLst/>
          </a:prstGeom>
          <a:noFill/>
          <a:ln/>
        </p:spPr>
        <p:txBody>
          <a:bodyPr wrap="square" lIns="0" tIns="0" rIns="0" bIns="0" rtlCol="0" anchor="ctr"/>
          <a:lstStyle/>
          <a:p>
            <a:pPr marL="0" indent="0">
              <a:buNone/>
            </a:pPr>
            <a:r>
              <a:rPr lang="en-US" sz="1600" b="1" dirty="0">
                <a:solidFill>
                  <a:schemeClr val="accent1"/>
                </a:solidFill>
              </a:rPr>
              <a:t>1. </a:t>
            </a:r>
            <a:r>
              <a:rPr lang="en-US" altLang="zh-CN" sz="1600" b="1" dirty="0">
                <a:solidFill>
                  <a:schemeClr val="accent1"/>
                </a:solidFill>
              </a:rPr>
              <a:t>Mobile robot team</a:t>
            </a:r>
            <a:endParaRPr lang="en-US" sz="1600" dirty="0">
              <a:solidFill>
                <a:schemeClr val="accent1"/>
              </a:solidFill>
            </a:endParaRPr>
          </a:p>
        </p:txBody>
      </p:sp>
      <p:sp>
        <p:nvSpPr>
          <p:cNvPr id="44" name="Text 6">
            <a:extLst>
              <a:ext uri="{FF2B5EF4-FFF2-40B4-BE49-F238E27FC236}">
                <a16:creationId xmlns:a16="http://schemas.microsoft.com/office/drawing/2014/main" id="{09B72859-A991-B9BC-9042-01095B48887B}"/>
              </a:ext>
            </a:extLst>
          </p:cNvPr>
          <p:cNvSpPr/>
          <p:nvPr/>
        </p:nvSpPr>
        <p:spPr>
          <a:xfrm>
            <a:off x="7704350" y="1381609"/>
            <a:ext cx="3712530" cy="1228538"/>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400" dirty="0"/>
              <a:t>Robots perform sensing, local computation, motion control, and exploration. </a:t>
            </a:r>
          </a:p>
          <a:p>
            <a:pPr marL="285750" lvl="0" indent="-285750">
              <a:buFont typeface="Wingdings" panose="05000000000000000000" pitchFamily="2" charset="2"/>
              <a:buChar char="l"/>
            </a:pPr>
            <a:r>
              <a:rPr lang="zh-CN" altLang="zh-CN" sz="1400" dirty="0"/>
              <a:t>Robots can communicate and share local information with each other.</a:t>
            </a:r>
          </a:p>
        </p:txBody>
      </p:sp>
      <p:sp>
        <p:nvSpPr>
          <p:cNvPr id="46" name="Shape 8">
            <a:extLst>
              <a:ext uri="{FF2B5EF4-FFF2-40B4-BE49-F238E27FC236}">
                <a16:creationId xmlns:a16="http://schemas.microsoft.com/office/drawing/2014/main" id="{DC3AC3A0-F74E-4B93-6C2B-14C36C82BDD1}"/>
              </a:ext>
            </a:extLst>
          </p:cNvPr>
          <p:cNvSpPr/>
          <p:nvPr/>
        </p:nvSpPr>
        <p:spPr>
          <a:xfrm>
            <a:off x="7487610" y="2682502"/>
            <a:ext cx="4170989" cy="224399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8" name="Text 5">
            <a:extLst>
              <a:ext uri="{FF2B5EF4-FFF2-40B4-BE49-F238E27FC236}">
                <a16:creationId xmlns:a16="http://schemas.microsoft.com/office/drawing/2014/main" id="{4FAA0BD6-6DF1-B8FC-6CE0-B9325A948978}"/>
              </a:ext>
            </a:extLst>
          </p:cNvPr>
          <p:cNvSpPr/>
          <p:nvPr/>
        </p:nvSpPr>
        <p:spPr>
          <a:xfrm>
            <a:off x="7651341" y="2807026"/>
            <a:ext cx="3246120" cy="201168"/>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rPr>
              <a:t>2. Edge computing node</a:t>
            </a:r>
            <a:endParaRPr lang="en-US" sz="1600" dirty="0">
              <a:solidFill>
                <a:schemeClr val="accent6">
                  <a:lumMod val="75000"/>
                </a:schemeClr>
              </a:solidFill>
            </a:endParaRPr>
          </a:p>
        </p:txBody>
      </p:sp>
      <p:sp>
        <p:nvSpPr>
          <p:cNvPr id="50" name="Text 6">
            <a:extLst>
              <a:ext uri="{FF2B5EF4-FFF2-40B4-BE49-F238E27FC236}">
                <a16:creationId xmlns:a16="http://schemas.microsoft.com/office/drawing/2014/main" id="{EBD24CEA-53AC-5392-2566-CBCEC57EFC25}"/>
              </a:ext>
            </a:extLst>
          </p:cNvPr>
          <p:cNvSpPr/>
          <p:nvPr/>
        </p:nvSpPr>
        <p:spPr>
          <a:xfrm>
            <a:off x="7651341" y="3008195"/>
            <a:ext cx="3712530" cy="1908682"/>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400" dirty="0"/>
              <a:t>A single local computing server is available to each team. </a:t>
            </a:r>
          </a:p>
          <a:p>
            <a:pPr marL="285750" lvl="0" indent="-285750">
              <a:buFont typeface="Wingdings" panose="05000000000000000000" pitchFamily="2" charset="2"/>
              <a:buChar char="l"/>
            </a:pPr>
            <a:r>
              <a:rPr lang="zh-CN" altLang="zh-CN" sz="1400" dirty="0"/>
              <a:t>Teams decide which tasks are executed onboard and which are offloaded to the edge. </a:t>
            </a:r>
          </a:p>
          <a:p>
            <a:pPr marL="285750" lvl="0" indent="-285750">
              <a:buFont typeface="Wingdings" panose="05000000000000000000" pitchFamily="2" charset="2"/>
              <a:buChar char="l"/>
            </a:pPr>
            <a:r>
              <a:rPr lang="zh-CN" altLang="zh-CN" sz="1400" dirty="0"/>
              <a:t>Typical edge functions may include: multi-robot coordination</a:t>
            </a:r>
            <a:r>
              <a:rPr lang="en-US" altLang="zh-CN" sz="1400" dirty="0"/>
              <a:t>; </a:t>
            </a:r>
            <a:r>
              <a:rPr lang="zh-CN" altLang="zh-CN" sz="1400" dirty="0"/>
              <a:t>perception/object detection</a:t>
            </a:r>
            <a:r>
              <a:rPr lang="en-US" altLang="zh-CN" sz="1400" dirty="0"/>
              <a:t>; </a:t>
            </a:r>
            <a:r>
              <a:rPr lang="zh-CN" altLang="zh-CN" sz="1400" dirty="0"/>
              <a:t>map fusion</a:t>
            </a:r>
            <a:r>
              <a:rPr lang="en-US" altLang="zh-CN" sz="1400" dirty="0"/>
              <a:t>; </a:t>
            </a:r>
            <a:r>
              <a:rPr lang="zh-CN" altLang="zh-CN" sz="1400" dirty="0"/>
              <a:t>task allocation</a:t>
            </a:r>
            <a:r>
              <a:rPr lang="en-US" altLang="zh-CN" sz="1400" dirty="0"/>
              <a:t>;</a:t>
            </a:r>
            <a:r>
              <a:rPr lang="zh-CN" altLang="zh-CN" sz="1400" dirty="0"/>
              <a:t> LLM inference.</a:t>
            </a:r>
          </a:p>
        </p:txBody>
      </p:sp>
      <p:sp>
        <p:nvSpPr>
          <p:cNvPr id="52" name="Shape 8">
            <a:extLst>
              <a:ext uri="{FF2B5EF4-FFF2-40B4-BE49-F238E27FC236}">
                <a16:creationId xmlns:a16="http://schemas.microsoft.com/office/drawing/2014/main" id="{80375175-5DB6-C74C-7E67-56EC8984B42B}"/>
              </a:ext>
            </a:extLst>
          </p:cNvPr>
          <p:cNvSpPr/>
          <p:nvPr/>
        </p:nvSpPr>
        <p:spPr>
          <a:xfrm>
            <a:off x="7487610" y="5035976"/>
            <a:ext cx="4170989" cy="1327409"/>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54" name="Text 5">
            <a:extLst>
              <a:ext uri="{FF2B5EF4-FFF2-40B4-BE49-F238E27FC236}">
                <a16:creationId xmlns:a16="http://schemas.microsoft.com/office/drawing/2014/main" id="{CDFCB548-E768-4A2E-E686-B4173618E875}"/>
              </a:ext>
            </a:extLst>
          </p:cNvPr>
          <p:cNvSpPr/>
          <p:nvPr/>
        </p:nvSpPr>
        <p:spPr>
          <a:xfrm>
            <a:off x="7651341" y="5160500"/>
            <a:ext cx="3246120" cy="201168"/>
          </a:xfrm>
          <a:prstGeom prst="rect">
            <a:avLst/>
          </a:prstGeom>
          <a:noFill/>
          <a:ln/>
        </p:spPr>
        <p:txBody>
          <a:bodyPr wrap="square" lIns="0" tIns="0" rIns="0" bIns="0" rtlCol="0" anchor="ctr"/>
          <a:lstStyle/>
          <a:p>
            <a:pPr marL="0" indent="0">
              <a:buNone/>
            </a:pPr>
            <a:r>
              <a:rPr lang="en-US" sz="1600" b="1" dirty="0">
                <a:solidFill>
                  <a:srgbClr val="7030A0"/>
                </a:solidFill>
              </a:rPr>
              <a:t>3. Human operator + LLM</a:t>
            </a:r>
            <a:endParaRPr lang="en-US" sz="1600" dirty="0">
              <a:solidFill>
                <a:srgbClr val="7030A0"/>
              </a:solidFill>
            </a:endParaRPr>
          </a:p>
        </p:txBody>
      </p:sp>
      <p:sp>
        <p:nvSpPr>
          <p:cNvPr id="56" name="Text 6">
            <a:extLst>
              <a:ext uri="{FF2B5EF4-FFF2-40B4-BE49-F238E27FC236}">
                <a16:creationId xmlns:a16="http://schemas.microsoft.com/office/drawing/2014/main" id="{DA6B643B-C6DF-6C03-4A03-F16503086A7B}"/>
              </a:ext>
            </a:extLst>
          </p:cNvPr>
          <p:cNvSpPr/>
          <p:nvPr/>
        </p:nvSpPr>
        <p:spPr>
          <a:xfrm>
            <a:off x="7651341" y="5361669"/>
            <a:ext cx="3712530" cy="1001716"/>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400" dirty="0"/>
              <a:t>The human operator provides natural-language mission updates. </a:t>
            </a:r>
          </a:p>
          <a:p>
            <a:pPr marL="285750" lvl="0" indent="-285750">
              <a:buFont typeface="Wingdings" panose="05000000000000000000" pitchFamily="2" charset="2"/>
              <a:buChar char="l"/>
            </a:pPr>
            <a:r>
              <a:rPr lang="zh-CN" altLang="zh-CN" sz="1400" dirty="0"/>
              <a:t>The LLM interprets the instructions and converts them into executable tasks.</a:t>
            </a:r>
          </a:p>
        </p:txBody>
      </p:sp>
    </p:spTree>
    <p:extLst>
      <p:ext uri="{BB962C8B-B14F-4D97-AF65-F5344CB8AC3E}">
        <p14:creationId xmlns:p14="http://schemas.microsoft.com/office/powerpoint/2010/main" val="377232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39A16B4-1F51-4773-9E2A-07025715465D}"/>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lang="en-US" sz="3000" b="1" dirty="0">
                <a:solidFill>
                  <a:srgbClr val="12283B"/>
                </a:solidFill>
                <a:latin typeface="Arial"/>
                <a:ea typeface="Arial"/>
                <a:cs typeface="Arial"/>
              </a:rPr>
              <a:t>Competition environment</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0BACF398-4EDE-4F75-885F-AA889FBA07D3}"/>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05</a:t>
            </a:r>
          </a:p>
        </p:txBody>
      </p:sp>
      <p:sp>
        <p:nvSpPr>
          <p:cNvPr id="36" name="Shape 2">
            <a:extLst>
              <a:ext uri="{FF2B5EF4-FFF2-40B4-BE49-F238E27FC236}">
                <a16:creationId xmlns:a16="http://schemas.microsoft.com/office/drawing/2014/main" id="{94F511FC-84B7-6980-A273-B410EAB03334}"/>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0" name="Rectangle 39">
            <a:extLst>
              <a:ext uri="{FF2B5EF4-FFF2-40B4-BE49-F238E27FC236}">
                <a16:creationId xmlns:a16="http://schemas.microsoft.com/office/drawing/2014/main" id="{C5DCBB9F-5754-F588-279E-5D4D8C60DCCE}"/>
              </a:ext>
            </a:extLst>
          </p:cNvPr>
          <p:cNvSpPr>
            <a:spLocks noGrp="1"/>
          </p:cNvSpPr>
          <p:nvPr/>
        </p:nvSpPr>
        <p:spPr>
          <a:xfrm>
            <a:off x="2428875" y="5668454"/>
            <a:ext cx="1562100" cy="285750"/>
          </a:xfrm>
          <a:prstGeom prst="rect">
            <a:avLst/>
          </a:prstGeom>
          <a:noFill/>
          <a:ln w="9525">
            <a:noFill/>
          </a:ln>
        </p:spPr>
        <p:txBody>
          <a:bodyPr>
            <a:noAutofit/>
          </a:bodyPr>
          <a:lstStyle/>
          <a:p>
            <a:pPr>
              <a:defRPr sz="1350" b="0">
                <a:solidFill>
                  <a:srgbClr val="ACC4D1"/>
                </a:solidFill>
                <a:latin typeface="Arial"/>
                <a:ea typeface="Arial"/>
                <a:cs typeface="Arial"/>
              </a:defRPr>
            </a:pPr>
            <a:r>
              <a:rPr sz="1350" b="0" dirty="0">
                <a:solidFill>
                  <a:schemeClr val="tx1">
                    <a:lumMod val="95000"/>
                    <a:lumOff val="5000"/>
                  </a:schemeClr>
                </a:solidFill>
                <a:latin typeface="Arial"/>
                <a:ea typeface="Arial"/>
                <a:cs typeface="Arial"/>
              </a:rPr>
              <a:t>Illustrative arena</a:t>
            </a:r>
          </a:p>
        </p:txBody>
      </p:sp>
      <p:pic>
        <p:nvPicPr>
          <p:cNvPr id="54" name="Picture 53">
            <a:extLst>
              <a:ext uri="{FF2B5EF4-FFF2-40B4-BE49-F238E27FC236}">
                <a16:creationId xmlns:a16="http://schemas.microsoft.com/office/drawing/2014/main" id="{37FF973A-BA00-E05C-07A9-D460DC9786FC}"/>
              </a:ext>
            </a:extLst>
          </p:cNvPr>
          <p:cNvPicPr>
            <a:picLocks noChangeAspect="1"/>
          </p:cNvPicPr>
          <p:nvPr/>
        </p:nvPicPr>
        <p:blipFill>
          <a:blip r:embed="rId3"/>
          <a:stretch>
            <a:fillRect/>
          </a:stretch>
        </p:blipFill>
        <p:spPr>
          <a:xfrm>
            <a:off x="358581" y="1718373"/>
            <a:ext cx="6910328" cy="3859090"/>
          </a:xfrm>
          <a:prstGeom prst="rect">
            <a:avLst/>
          </a:prstGeom>
        </p:spPr>
      </p:pic>
      <p:sp>
        <p:nvSpPr>
          <p:cNvPr id="56" name="Shape 8">
            <a:extLst>
              <a:ext uri="{FF2B5EF4-FFF2-40B4-BE49-F238E27FC236}">
                <a16:creationId xmlns:a16="http://schemas.microsoft.com/office/drawing/2014/main" id="{1E5D62DB-E20C-0721-36A5-E871064C5DF9}"/>
              </a:ext>
            </a:extLst>
          </p:cNvPr>
          <p:cNvSpPr/>
          <p:nvPr/>
        </p:nvSpPr>
        <p:spPr>
          <a:xfrm>
            <a:off x="7487612" y="1712372"/>
            <a:ext cx="4170988" cy="418255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58" name="Text 6">
            <a:extLst>
              <a:ext uri="{FF2B5EF4-FFF2-40B4-BE49-F238E27FC236}">
                <a16:creationId xmlns:a16="http://schemas.microsoft.com/office/drawing/2014/main" id="{F06764D5-E78B-FE59-EA46-D2C8ED1FF285}"/>
              </a:ext>
            </a:extLst>
          </p:cNvPr>
          <p:cNvSpPr/>
          <p:nvPr/>
        </p:nvSpPr>
        <p:spPr>
          <a:xfrm>
            <a:off x="7600950" y="1915414"/>
            <a:ext cx="4057650" cy="3650392"/>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en-US" altLang="zh-CN" sz="1600" dirty="0"/>
              <a:t>In-door, flat-floor environment of approximately 5m × 5m (final dimensions are TBD), containing rooms, walls, and static obstacles.</a:t>
            </a:r>
            <a:endParaRPr lang="zh-CN" altLang="zh-CN" sz="1600" dirty="0"/>
          </a:p>
          <a:p>
            <a:pPr marL="285750" lvl="0" indent="-285750">
              <a:spcAft>
                <a:spcPts val="600"/>
              </a:spcAft>
              <a:buFont typeface="Wingdings" panose="05000000000000000000" pitchFamily="2" charset="2"/>
              <a:buChar char="l"/>
            </a:pPr>
            <a:r>
              <a:rPr lang="en-US" altLang="zh-CN" sz="1600" dirty="0"/>
              <a:t>Rescue targets are represented by </a:t>
            </a:r>
            <a:r>
              <a:rPr lang="en-US" altLang="zh-CN" sz="1600" dirty="0" err="1"/>
              <a:t>ArUco</a:t>
            </a:r>
            <a:r>
              <a:rPr lang="en-US" altLang="zh-CN" sz="1600" dirty="0"/>
              <a:t> visual markers and divided into two types: </a:t>
            </a:r>
            <a:r>
              <a:rPr lang="en-US" altLang="zh-CN" dirty="0"/>
              <a:t> </a:t>
            </a:r>
            <a:r>
              <a:rPr lang="en-US" altLang="zh-CN" sz="1600" b="1" dirty="0"/>
              <a:t>Normal</a:t>
            </a:r>
            <a:r>
              <a:rPr lang="en-US" altLang="zh-CN" sz="1600" dirty="0"/>
              <a:t> Targets and </a:t>
            </a:r>
            <a:r>
              <a:rPr lang="en-US" altLang="zh-CN" sz="1600" b="1" dirty="0"/>
              <a:t>Cooperative</a:t>
            </a:r>
            <a:r>
              <a:rPr lang="en-US" altLang="zh-CN" sz="1600" dirty="0"/>
              <a:t> Targets.</a:t>
            </a:r>
          </a:p>
          <a:p>
            <a:pPr marL="285750" lvl="0" indent="-285750">
              <a:spcAft>
                <a:spcPts val="600"/>
              </a:spcAft>
              <a:buFont typeface="Wingdings" panose="05000000000000000000" pitchFamily="2" charset="2"/>
              <a:buChar char="l"/>
            </a:pPr>
            <a:r>
              <a:rPr lang="en-US" altLang="zh-CN" sz="1600" dirty="0"/>
              <a:t>Rescue zone is used for rescue-completion verification. Each </a:t>
            </a:r>
            <a:r>
              <a:rPr lang="en-US" altLang="zh-CN" sz="1600" dirty="0" err="1"/>
              <a:t>ArUco</a:t>
            </a:r>
            <a:r>
              <a:rPr lang="en-US" altLang="zh-CN" sz="1600" dirty="0"/>
              <a:t> marker corresponds to one or more predefined Rescue Zones.</a:t>
            </a:r>
          </a:p>
          <a:p>
            <a:pPr marL="285750" lvl="0" indent="-285750">
              <a:buFont typeface="Wingdings" panose="05000000000000000000" pitchFamily="2" charset="2"/>
              <a:buChar char="l"/>
            </a:pPr>
            <a:r>
              <a:rPr lang="en-US" altLang="zh-CN" sz="1600" dirty="0"/>
              <a:t>A rescue is completed when the robot enters the corresponding Rescue Zone and remains there continuously for the required duration.</a:t>
            </a:r>
            <a:endParaRPr lang="zh-CN" altLang="zh-CN" sz="1600" dirty="0"/>
          </a:p>
        </p:txBody>
      </p:sp>
      <p:sp>
        <p:nvSpPr>
          <p:cNvPr id="59" name="Rectangle 58">
            <a:extLst>
              <a:ext uri="{FF2B5EF4-FFF2-40B4-BE49-F238E27FC236}">
                <a16:creationId xmlns:a16="http://schemas.microsoft.com/office/drawing/2014/main" id="{C5157CF2-A304-20DB-8439-C9CA3FD0D34D}"/>
              </a:ext>
            </a:extLst>
          </p:cNvPr>
          <p:cNvSpPr/>
          <p:nvPr/>
        </p:nvSpPr>
        <p:spPr>
          <a:xfrm>
            <a:off x="3794694" y="3790950"/>
            <a:ext cx="1221805" cy="266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82253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D67E-272A-7E6F-D8DF-F1E4ACF61D33}"/>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651364E-F8D7-41D1-00B6-51E601FFBBD6}"/>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Overall competition flow</a:t>
            </a:r>
          </a:p>
        </p:txBody>
      </p:sp>
      <p:sp>
        <p:nvSpPr>
          <p:cNvPr id="3" name="Rectangle 2">
            <a:extLst>
              <a:ext uri="{FF2B5EF4-FFF2-40B4-BE49-F238E27FC236}">
                <a16:creationId xmlns:a16="http://schemas.microsoft.com/office/drawing/2014/main" id="{057E3CBF-98B7-1755-28E6-6862D84A50A7}"/>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05</a:t>
            </a:r>
          </a:p>
        </p:txBody>
      </p:sp>
      <p:sp>
        <p:nvSpPr>
          <p:cNvPr id="4" name="Rectangle 3">
            <a:extLst>
              <a:ext uri="{FF2B5EF4-FFF2-40B4-BE49-F238E27FC236}">
                <a16:creationId xmlns:a16="http://schemas.microsoft.com/office/drawing/2014/main" id="{5F1F7A8D-A24B-F9DF-3B0E-DD2ADD05F261}"/>
              </a:ext>
            </a:extLst>
          </p:cNvPr>
          <p:cNvSpPr>
            <a:spLocks noGrp="1"/>
          </p:cNvSpPr>
          <p:nvPr/>
        </p:nvSpPr>
        <p:spPr>
          <a:xfrm>
            <a:off x="590550" y="2511425"/>
            <a:ext cx="2009775" cy="819150"/>
          </a:xfrm>
          <a:prstGeom prst="rect">
            <a:avLst/>
          </a:prstGeom>
          <a:solidFill>
            <a:srgbClr val="007F82"/>
          </a:solidFill>
          <a:ln w="9525">
            <a:solidFill>
              <a:srgbClr val="007F82"/>
            </a:solidFill>
          </a:ln>
        </p:spPr>
        <p:txBody>
          <a:bodyPr/>
          <a:lstStyle/>
          <a:p>
            <a:endParaRPr lang="zh-CN" altLang="en-US"/>
          </a:p>
        </p:txBody>
      </p:sp>
      <p:sp>
        <p:nvSpPr>
          <p:cNvPr id="5" name="Rectangle 4">
            <a:extLst>
              <a:ext uri="{FF2B5EF4-FFF2-40B4-BE49-F238E27FC236}">
                <a16:creationId xmlns:a16="http://schemas.microsoft.com/office/drawing/2014/main" id="{AD8D7EBB-9F23-7906-1414-9F6B5CB96807}"/>
              </a:ext>
            </a:extLst>
          </p:cNvPr>
          <p:cNvSpPr>
            <a:spLocks noGrp="1"/>
          </p:cNvSpPr>
          <p:nvPr/>
        </p:nvSpPr>
        <p:spPr>
          <a:xfrm>
            <a:off x="733425"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Task 1</a:t>
            </a:r>
          </a:p>
        </p:txBody>
      </p:sp>
      <p:sp>
        <p:nvSpPr>
          <p:cNvPr id="6" name="Rectangle 5">
            <a:extLst>
              <a:ext uri="{FF2B5EF4-FFF2-40B4-BE49-F238E27FC236}">
                <a16:creationId xmlns:a16="http://schemas.microsoft.com/office/drawing/2014/main" id="{B81E8C2C-A934-B615-FA43-A6B102BEA6DA}"/>
              </a:ext>
            </a:extLst>
          </p:cNvPr>
          <p:cNvSpPr>
            <a:spLocks noGrp="1"/>
          </p:cNvSpPr>
          <p:nvPr/>
        </p:nvSpPr>
        <p:spPr>
          <a:xfrm>
            <a:off x="590550"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dirty="0">
                <a:solidFill>
                  <a:srgbClr val="4E6473"/>
                </a:solidFill>
                <a:latin typeface="Arial"/>
                <a:ea typeface="Arial"/>
                <a:cs typeface="Arial"/>
              </a:rPr>
              <a:t>Explore, map</a:t>
            </a:r>
          </a:p>
          <a:p>
            <a:pPr>
              <a:defRPr sz="1875" b="0">
                <a:solidFill>
                  <a:srgbClr val="4E6473"/>
                </a:solidFill>
                <a:latin typeface="Arial"/>
                <a:ea typeface="Arial"/>
                <a:cs typeface="Arial"/>
              </a:defRPr>
            </a:pPr>
            <a:r>
              <a:rPr sz="1875" b="0" dirty="0">
                <a:solidFill>
                  <a:srgbClr val="4E6473"/>
                </a:solidFill>
                <a:latin typeface="Arial"/>
                <a:ea typeface="Arial"/>
                <a:cs typeface="Arial"/>
              </a:rPr>
              <a:t>and detect</a:t>
            </a:r>
          </a:p>
        </p:txBody>
      </p:sp>
      <p:sp>
        <p:nvSpPr>
          <p:cNvPr id="7" name="Arrow: Chevron 6">
            <a:extLst>
              <a:ext uri="{FF2B5EF4-FFF2-40B4-BE49-F238E27FC236}">
                <a16:creationId xmlns:a16="http://schemas.microsoft.com/office/drawing/2014/main" id="{7FDACB97-2133-7B9B-3B1D-173A7617D5AA}"/>
              </a:ext>
            </a:extLst>
          </p:cNvPr>
          <p:cNvSpPr>
            <a:spLocks noGrp="1"/>
          </p:cNvSpPr>
          <p:nvPr/>
        </p:nvSpPr>
        <p:spPr>
          <a:xfrm>
            <a:off x="2647950" y="2797175"/>
            <a:ext cx="171450" cy="228600"/>
          </a:xfrm>
          <a:prstGeom prst="chevron">
            <a:avLst/>
          </a:prstGeom>
          <a:solidFill>
            <a:srgbClr val="007F82"/>
          </a:solidFill>
          <a:ln w="9525">
            <a:solidFill>
              <a:srgbClr val="007F82"/>
            </a:solidFill>
          </a:ln>
        </p:spPr>
        <p:txBody>
          <a:bodyPr/>
          <a:lstStyle/>
          <a:p>
            <a:endParaRPr lang="zh-CN" altLang="en-US"/>
          </a:p>
        </p:txBody>
      </p:sp>
      <p:sp>
        <p:nvSpPr>
          <p:cNvPr id="8" name="Rectangle 7">
            <a:extLst>
              <a:ext uri="{FF2B5EF4-FFF2-40B4-BE49-F238E27FC236}">
                <a16:creationId xmlns:a16="http://schemas.microsoft.com/office/drawing/2014/main" id="{DDFA4525-0911-21FB-191A-E43F4FA064C3}"/>
              </a:ext>
            </a:extLst>
          </p:cNvPr>
          <p:cNvSpPr>
            <a:spLocks noGrp="1"/>
          </p:cNvSpPr>
          <p:nvPr/>
        </p:nvSpPr>
        <p:spPr>
          <a:xfrm>
            <a:off x="2867025" y="2511425"/>
            <a:ext cx="2009775" cy="819150"/>
          </a:xfrm>
          <a:prstGeom prst="rect">
            <a:avLst/>
          </a:prstGeom>
          <a:solidFill>
            <a:srgbClr val="007F82"/>
          </a:solidFill>
          <a:ln w="9525">
            <a:solidFill>
              <a:srgbClr val="007F82"/>
            </a:solidFill>
          </a:ln>
        </p:spPr>
        <p:txBody>
          <a:bodyPr/>
          <a:lstStyle/>
          <a:p>
            <a:endParaRPr lang="zh-CN" altLang="en-US"/>
          </a:p>
        </p:txBody>
      </p:sp>
      <p:sp>
        <p:nvSpPr>
          <p:cNvPr id="9" name="Rectangle 8">
            <a:extLst>
              <a:ext uri="{FF2B5EF4-FFF2-40B4-BE49-F238E27FC236}">
                <a16:creationId xmlns:a16="http://schemas.microsoft.com/office/drawing/2014/main" id="{C0965039-4E33-BC76-70D2-1ED1C28EAE81}"/>
              </a:ext>
            </a:extLst>
          </p:cNvPr>
          <p:cNvSpPr>
            <a:spLocks noGrp="1"/>
          </p:cNvSpPr>
          <p:nvPr/>
        </p:nvSpPr>
        <p:spPr>
          <a:xfrm>
            <a:off x="3009900"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Handover</a:t>
            </a:r>
          </a:p>
        </p:txBody>
      </p:sp>
      <p:sp>
        <p:nvSpPr>
          <p:cNvPr id="10" name="Rectangle 9">
            <a:extLst>
              <a:ext uri="{FF2B5EF4-FFF2-40B4-BE49-F238E27FC236}">
                <a16:creationId xmlns:a16="http://schemas.microsoft.com/office/drawing/2014/main" id="{C7C11CE2-BCEF-8542-690B-61BD9255138F}"/>
              </a:ext>
            </a:extLst>
          </p:cNvPr>
          <p:cNvSpPr>
            <a:spLocks noGrp="1"/>
          </p:cNvSpPr>
          <p:nvPr/>
        </p:nvSpPr>
        <p:spPr>
          <a:xfrm>
            <a:off x="2867025"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a:solidFill>
                  <a:srgbClr val="4E6473"/>
                </a:solidFill>
                <a:latin typeface="Arial"/>
                <a:ea typeface="Arial"/>
                <a:cs typeface="Arial"/>
              </a:rPr>
              <a:t>Save unified</a:t>
            </a:r>
          </a:p>
          <a:p>
            <a:pPr>
              <a:defRPr sz="1875" b="0">
                <a:solidFill>
                  <a:srgbClr val="4E6473"/>
                </a:solidFill>
                <a:latin typeface="Arial"/>
                <a:ea typeface="Arial"/>
                <a:cs typeface="Arial"/>
              </a:defRPr>
            </a:pPr>
            <a:r>
              <a:rPr sz="1875" b="0">
                <a:solidFill>
                  <a:srgbClr val="4E6473"/>
                </a:solidFill>
                <a:latin typeface="Arial"/>
                <a:ea typeface="Arial"/>
                <a:cs typeface="Arial"/>
              </a:rPr>
              <a:t>outputs</a:t>
            </a:r>
          </a:p>
        </p:txBody>
      </p:sp>
      <p:sp>
        <p:nvSpPr>
          <p:cNvPr id="11" name="Arrow: Chevron 10">
            <a:extLst>
              <a:ext uri="{FF2B5EF4-FFF2-40B4-BE49-F238E27FC236}">
                <a16:creationId xmlns:a16="http://schemas.microsoft.com/office/drawing/2014/main" id="{1DC66265-9F68-D865-2770-FF6A77058341}"/>
              </a:ext>
            </a:extLst>
          </p:cNvPr>
          <p:cNvSpPr>
            <a:spLocks noGrp="1"/>
          </p:cNvSpPr>
          <p:nvPr/>
        </p:nvSpPr>
        <p:spPr>
          <a:xfrm>
            <a:off x="4924425" y="2797175"/>
            <a:ext cx="171450" cy="228600"/>
          </a:xfrm>
          <a:prstGeom prst="chevron">
            <a:avLst/>
          </a:prstGeom>
          <a:solidFill>
            <a:srgbClr val="007F82"/>
          </a:solidFill>
          <a:ln w="9525">
            <a:solidFill>
              <a:srgbClr val="007F82"/>
            </a:solidFill>
          </a:ln>
        </p:spPr>
        <p:txBody>
          <a:bodyPr/>
          <a:lstStyle/>
          <a:p>
            <a:endParaRPr lang="zh-CN" altLang="en-US"/>
          </a:p>
        </p:txBody>
      </p:sp>
      <p:sp>
        <p:nvSpPr>
          <p:cNvPr id="12" name="Rectangle 11">
            <a:extLst>
              <a:ext uri="{FF2B5EF4-FFF2-40B4-BE49-F238E27FC236}">
                <a16:creationId xmlns:a16="http://schemas.microsoft.com/office/drawing/2014/main" id="{2F57B10F-0DFD-9053-4C68-4E18357CE410}"/>
              </a:ext>
            </a:extLst>
          </p:cNvPr>
          <p:cNvSpPr>
            <a:spLocks noGrp="1"/>
          </p:cNvSpPr>
          <p:nvPr/>
        </p:nvSpPr>
        <p:spPr>
          <a:xfrm>
            <a:off x="5143500" y="2511425"/>
            <a:ext cx="2009775" cy="819150"/>
          </a:xfrm>
          <a:prstGeom prst="rect">
            <a:avLst/>
          </a:prstGeom>
          <a:solidFill>
            <a:srgbClr val="007F82"/>
          </a:solidFill>
          <a:ln w="9525">
            <a:solidFill>
              <a:srgbClr val="007F82"/>
            </a:solidFill>
          </a:ln>
        </p:spPr>
        <p:txBody>
          <a:bodyPr/>
          <a:lstStyle/>
          <a:p>
            <a:endParaRPr lang="zh-CN" altLang="en-US"/>
          </a:p>
        </p:txBody>
      </p:sp>
      <p:sp>
        <p:nvSpPr>
          <p:cNvPr id="13" name="Rectangle 12">
            <a:extLst>
              <a:ext uri="{FF2B5EF4-FFF2-40B4-BE49-F238E27FC236}">
                <a16:creationId xmlns:a16="http://schemas.microsoft.com/office/drawing/2014/main" id="{E27AD6B5-8E46-9335-EA66-AE4871D6E08A}"/>
              </a:ext>
            </a:extLst>
          </p:cNvPr>
          <p:cNvSpPr>
            <a:spLocks noGrp="1"/>
          </p:cNvSpPr>
          <p:nvPr/>
        </p:nvSpPr>
        <p:spPr>
          <a:xfrm>
            <a:off x="5286375"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Task 2A</a:t>
            </a:r>
          </a:p>
        </p:txBody>
      </p:sp>
      <p:sp>
        <p:nvSpPr>
          <p:cNvPr id="14" name="Rectangle 13">
            <a:extLst>
              <a:ext uri="{FF2B5EF4-FFF2-40B4-BE49-F238E27FC236}">
                <a16:creationId xmlns:a16="http://schemas.microsoft.com/office/drawing/2014/main" id="{B7F595D2-3CB3-5EE0-9CBA-63C2DE8C0307}"/>
              </a:ext>
            </a:extLst>
          </p:cNvPr>
          <p:cNvSpPr>
            <a:spLocks noGrp="1"/>
          </p:cNvSpPr>
          <p:nvPr/>
        </p:nvSpPr>
        <p:spPr>
          <a:xfrm>
            <a:off x="5143500"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a:solidFill>
                  <a:srgbClr val="4E6473"/>
                </a:solidFill>
                <a:latin typeface="Arial"/>
                <a:ea typeface="Arial"/>
                <a:cs typeface="Arial"/>
              </a:rPr>
              <a:t>Autonomous</a:t>
            </a:r>
          </a:p>
          <a:p>
            <a:pPr>
              <a:defRPr sz="1875" b="0">
                <a:solidFill>
                  <a:srgbClr val="4E6473"/>
                </a:solidFill>
                <a:latin typeface="Arial"/>
                <a:ea typeface="Arial"/>
                <a:cs typeface="Arial"/>
              </a:defRPr>
            </a:pPr>
            <a:r>
              <a:rPr sz="1875" b="0">
                <a:solidFill>
                  <a:srgbClr val="4E6473"/>
                </a:solidFill>
                <a:latin typeface="Arial"/>
                <a:ea typeface="Arial"/>
                <a:cs typeface="Arial"/>
              </a:rPr>
              <a:t>rescue</a:t>
            </a:r>
          </a:p>
        </p:txBody>
      </p:sp>
      <p:sp>
        <p:nvSpPr>
          <p:cNvPr id="15" name="Arrow: Chevron 14">
            <a:extLst>
              <a:ext uri="{FF2B5EF4-FFF2-40B4-BE49-F238E27FC236}">
                <a16:creationId xmlns:a16="http://schemas.microsoft.com/office/drawing/2014/main" id="{989A51C0-27BE-46A8-7196-D876027C3D16}"/>
              </a:ext>
            </a:extLst>
          </p:cNvPr>
          <p:cNvSpPr>
            <a:spLocks noGrp="1"/>
          </p:cNvSpPr>
          <p:nvPr/>
        </p:nvSpPr>
        <p:spPr>
          <a:xfrm>
            <a:off x="7200900" y="2797175"/>
            <a:ext cx="171450" cy="228600"/>
          </a:xfrm>
          <a:prstGeom prst="chevron">
            <a:avLst/>
          </a:prstGeom>
          <a:solidFill>
            <a:srgbClr val="007F82"/>
          </a:solidFill>
          <a:ln w="9525">
            <a:solidFill>
              <a:srgbClr val="007F82"/>
            </a:solidFill>
          </a:ln>
        </p:spPr>
        <p:txBody>
          <a:bodyPr/>
          <a:lstStyle/>
          <a:p>
            <a:endParaRPr lang="zh-CN" altLang="en-US"/>
          </a:p>
        </p:txBody>
      </p:sp>
      <p:sp>
        <p:nvSpPr>
          <p:cNvPr id="16" name="Rectangle 15">
            <a:extLst>
              <a:ext uri="{FF2B5EF4-FFF2-40B4-BE49-F238E27FC236}">
                <a16:creationId xmlns:a16="http://schemas.microsoft.com/office/drawing/2014/main" id="{87B4A8C7-89A3-92F9-FE7B-EA06CBB7A93B}"/>
              </a:ext>
            </a:extLst>
          </p:cNvPr>
          <p:cNvSpPr>
            <a:spLocks noGrp="1"/>
          </p:cNvSpPr>
          <p:nvPr/>
        </p:nvSpPr>
        <p:spPr>
          <a:xfrm>
            <a:off x="7419975" y="2511425"/>
            <a:ext cx="2009775" cy="819150"/>
          </a:xfrm>
          <a:prstGeom prst="rect">
            <a:avLst/>
          </a:prstGeom>
          <a:solidFill>
            <a:srgbClr val="12283B"/>
          </a:solidFill>
          <a:ln w="9525">
            <a:solidFill>
              <a:srgbClr val="12283B"/>
            </a:solidFill>
          </a:ln>
        </p:spPr>
        <p:txBody>
          <a:bodyPr/>
          <a:lstStyle/>
          <a:p>
            <a:endParaRPr lang="zh-CN" altLang="en-US"/>
          </a:p>
        </p:txBody>
      </p:sp>
      <p:sp>
        <p:nvSpPr>
          <p:cNvPr id="17" name="Rectangle 16">
            <a:extLst>
              <a:ext uri="{FF2B5EF4-FFF2-40B4-BE49-F238E27FC236}">
                <a16:creationId xmlns:a16="http://schemas.microsoft.com/office/drawing/2014/main" id="{CE1FE84A-F133-F818-34C8-0E5F4727FAE0}"/>
              </a:ext>
            </a:extLst>
          </p:cNvPr>
          <p:cNvSpPr>
            <a:spLocks noGrp="1"/>
          </p:cNvSpPr>
          <p:nvPr/>
        </p:nvSpPr>
        <p:spPr>
          <a:xfrm>
            <a:off x="7562850"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Safe Mode</a:t>
            </a:r>
          </a:p>
        </p:txBody>
      </p:sp>
      <p:sp>
        <p:nvSpPr>
          <p:cNvPr id="18" name="Rectangle 17">
            <a:extLst>
              <a:ext uri="{FF2B5EF4-FFF2-40B4-BE49-F238E27FC236}">
                <a16:creationId xmlns:a16="http://schemas.microsoft.com/office/drawing/2014/main" id="{1C4506AA-017B-86B2-0D36-25DB9A337497}"/>
              </a:ext>
            </a:extLst>
          </p:cNvPr>
          <p:cNvSpPr>
            <a:spLocks noGrp="1"/>
          </p:cNvSpPr>
          <p:nvPr/>
        </p:nvSpPr>
        <p:spPr>
          <a:xfrm>
            <a:off x="7419975" y="3587750"/>
            <a:ext cx="2009775" cy="732965"/>
          </a:xfrm>
          <a:prstGeom prst="rect">
            <a:avLst/>
          </a:prstGeom>
          <a:noFill/>
          <a:ln w="9525">
            <a:noFill/>
          </a:ln>
        </p:spPr>
        <p:txBody>
          <a:bodyPr>
            <a:noAutofit/>
          </a:bodyPr>
          <a:lstStyle/>
          <a:p>
            <a:pPr>
              <a:defRPr sz="1875" b="0">
                <a:solidFill>
                  <a:srgbClr val="4E6473"/>
                </a:solidFill>
                <a:latin typeface="Arial"/>
                <a:ea typeface="Arial"/>
                <a:cs typeface="Arial"/>
              </a:defRPr>
            </a:pPr>
            <a:r>
              <a:rPr lang="en-US" altLang="zh-CN" sz="1875" b="0" dirty="0">
                <a:solidFill>
                  <a:srgbClr val="4E6473"/>
                </a:solidFill>
                <a:latin typeface="Arial"/>
                <a:ea typeface="Arial"/>
                <a:cs typeface="Arial"/>
              </a:rPr>
              <a:t>Verify results and reposition</a:t>
            </a:r>
            <a:endParaRPr sz="1875" b="0" dirty="0">
              <a:solidFill>
                <a:srgbClr val="4E6473"/>
              </a:solidFill>
              <a:latin typeface="Arial"/>
              <a:ea typeface="Arial"/>
              <a:cs typeface="Arial"/>
            </a:endParaRPr>
          </a:p>
        </p:txBody>
      </p:sp>
      <p:sp>
        <p:nvSpPr>
          <p:cNvPr id="19" name="Arrow: Chevron 18">
            <a:extLst>
              <a:ext uri="{FF2B5EF4-FFF2-40B4-BE49-F238E27FC236}">
                <a16:creationId xmlns:a16="http://schemas.microsoft.com/office/drawing/2014/main" id="{F84BA8EB-2F2F-BA44-9090-68CECA1A8DB7}"/>
              </a:ext>
            </a:extLst>
          </p:cNvPr>
          <p:cNvSpPr>
            <a:spLocks noGrp="1"/>
          </p:cNvSpPr>
          <p:nvPr/>
        </p:nvSpPr>
        <p:spPr>
          <a:xfrm>
            <a:off x="9477375" y="2797175"/>
            <a:ext cx="171450" cy="228600"/>
          </a:xfrm>
          <a:prstGeom prst="chevron">
            <a:avLst/>
          </a:prstGeom>
          <a:solidFill>
            <a:srgbClr val="007F82"/>
          </a:solidFill>
          <a:ln w="9525">
            <a:solidFill>
              <a:srgbClr val="007F82"/>
            </a:solidFill>
          </a:ln>
        </p:spPr>
        <p:txBody>
          <a:bodyPr/>
          <a:lstStyle/>
          <a:p>
            <a:endParaRPr lang="zh-CN" altLang="en-US"/>
          </a:p>
        </p:txBody>
      </p:sp>
      <p:sp>
        <p:nvSpPr>
          <p:cNvPr id="20" name="Rectangle 19">
            <a:extLst>
              <a:ext uri="{FF2B5EF4-FFF2-40B4-BE49-F238E27FC236}">
                <a16:creationId xmlns:a16="http://schemas.microsoft.com/office/drawing/2014/main" id="{7C5AA9D0-A46A-D529-F557-0E1EFB5A009A}"/>
              </a:ext>
            </a:extLst>
          </p:cNvPr>
          <p:cNvSpPr>
            <a:spLocks noGrp="1"/>
          </p:cNvSpPr>
          <p:nvPr/>
        </p:nvSpPr>
        <p:spPr>
          <a:xfrm>
            <a:off x="9696450" y="2511425"/>
            <a:ext cx="2009775" cy="819150"/>
          </a:xfrm>
          <a:prstGeom prst="rect">
            <a:avLst/>
          </a:prstGeom>
          <a:solidFill>
            <a:srgbClr val="007F82"/>
          </a:solidFill>
          <a:ln w="9525">
            <a:solidFill>
              <a:srgbClr val="007F82"/>
            </a:solidFill>
          </a:ln>
        </p:spPr>
        <p:txBody>
          <a:bodyPr/>
          <a:lstStyle/>
          <a:p>
            <a:endParaRPr lang="zh-CN" altLang="en-US"/>
          </a:p>
        </p:txBody>
      </p:sp>
      <p:sp>
        <p:nvSpPr>
          <p:cNvPr id="21" name="Rectangle 20">
            <a:extLst>
              <a:ext uri="{FF2B5EF4-FFF2-40B4-BE49-F238E27FC236}">
                <a16:creationId xmlns:a16="http://schemas.microsoft.com/office/drawing/2014/main" id="{E2250CCD-55C9-2863-77AC-774A734B0836}"/>
              </a:ext>
            </a:extLst>
          </p:cNvPr>
          <p:cNvSpPr>
            <a:spLocks noGrp="1"/>
          </p:cNvSpPr>
          <p:nvPr/>
        </p:nvSpPr>
        <p:spPr>
          <a:xfrm>
            <a:off x="9839325" y="2740025"/>
            <a:ext cx="1752600" cy="400050"/>
          </a:xfrm>
          <a:prstGeom prst="rect">
            <a:avLst/>
          </a:prstGeom>
          <a:noFill/>
          <a:ln w="9525">
            <a:noFill/>
          </a:ln>
        </p:spPr>
        <p:txBody>
          <a:bodyPr>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Task 2B</a:t>
            </a:r>
          </a:p>
        </p:txBody>
      </p:sp>
      <p:sp>
        <p:nvSpPr>
          <p:cNvPr id="22" name="Rectangle 21">
            <a:extLst>
              <a:ext uri="{FF2B5EF4-FFF2-40B4-BE49-F238E27FC236}">
                <a16:creationId xmlns:a16="http://schemas.microsoft.com/office/drawing/2014/main" id="{E9BE9416-EFFE-5A27-8D34-41C22B8CA3A1}"/>
              </a:ext>
            </a:extLst>
          </p:cNvPr>
          <p:cNvSpPr>
            <a:spLocks noGrp="1"/>
          </p:cNvSpPr>
          <p:nvPr/>
        </p:nvSpPr>
        <p:spPr>
          <a:xfrm>
            <a:off x="9696450" y="3587750"/>
            <a:ext cx="2019300" cy="952500"/>
          </a:xfrm>
          <a:prstGeom prst="rect">
            <a:avLst/>
          </a:prstGeom>
          <a:noFill/>
          <a:ln w="9525">
            <a:noFill/>
          </a:ln>
        </p:spPr>
        <p:txBody>
          <a:bodyPr>
            <a:noAutofit/>
          </a:bodyPr>
          <a:lstStyle/>
          <a:p>
            <a:pPr>
              <a:defRPr sz="1875" b="0">
                <a:solidFill>
                  <a:srgbClr val="4E6473"/>
                </a:solidFill>
                <a:latin typeface="Arial"/>
                <a:ea typeface="Arial"/>
                <a:cs typeface="Arial"/>
              </a:defRPr>
            </a:pPr>
            <a:r>
              <a:rPr sz="1875" b="0">
                <a:solidFill>
                  <a:srgbClr val="4E6473"/>
                </a:solidFill>
                <a:latin typeface="Arial"/>
                <a:ea typeface="Arial"/>
                <a:cs typeface="Arial"/>
              </a:rPr>
              <a:t>LLM-guided</a:t>
            </a:r>
          </a:p>
          <a:p>
            <a:pPr>
              <a:defRPr sz="1875" b="0">
                <a:solidFill>
                  <a:srgbClr val="4E6473"/>
                </a:solidFill>
                <a:latin typeface="Arial"/>
                <a:ea typeface="Arial"/>
                <a:cs typeface="Arial"/>
              </a:defRPr>
            </a:pPr>
            <a:r>
              <a:rPr sz="1875" b="0">
                <a:solidFill>
                  <a:srgbClr val="4E6473"/>
                </a:solidFill>
                <a:latin typeface="Arial"/>
                <a:ea typeface="Arial"/>
                <a:cs typeface="Arial"/>
              </a:rPr>
              <a:t>mission</a:t>
            </a:r>
          </a:p>
        </p:txBody>
      </p:sp>
      <p:sp>
        <p:nvSpPr>
          <p:cNvPr id="23" name="Rectangle 22">
            <a:extLst>
              <a:ext uri="{FF2B5EF4-FFF2-40B4-BE49-F238E27FC236}">
                <a16:creationId xmlns:a16="http://schemas.microsoft.com/office/drawing/2014/main" id="{86911108-38F0-BF4A-B6FB-3AC4C96B6C97}"/>
              </a:ext>
            </a:extLst>
          </p:cNvPr>
          <p:cNvSpPr>
            <a:spLocks noGrp="1"/>
          </p:cNvSpPr>
          <p:nvPr/>
        </p:nvSpPr>
        <p:spPr>
          <a:xfrm>
            <a:off x="638175" y="1871662"/>
            <a:ext cx="10477500" cy="428625"/>
          </a:xfrm>
          <a:prstGeom prst="rect">
            <a:avLst/>
          </a:prstGeom>
          <a:noFill/>
          <a:ln w="9525">
            <a:noFill/>
          </a:ln>
        </p:spPr>
        <p:txBody>
          <a:bodyPr>
            <a:noAutofit/>
          </a:bodyPr>
          <a:lstStyle/>
          <a:p>
            <a:pPr>
              <a:defRPr sz="2250" b="1">
                <a:solidFill>
                  <a:srgbClr val="12283B"/>
                </a:solidFill>
                <a:latin typeface="Arial"/>
                <a:ea typeface="Arial"/>
                <a:cs typeface="Arial"/>
              </a:defRPr>
            </a:pPr>
            <a:r>
              <a:rPr sz="2250" b="1" dirty="0">
                <a:solidFill>
                  <a:srgbClr val="12283B"/>
                </a:solidFill>
                <a:latin typeface="Arial"/>
                <a:ea typeface="Arial"/>
                <a:cs typeface="Arial"/>
              </a:rPr>
              <a:t>Two main tasks</a:t>
            </a:r>
          </a:p>
        </p:txBody>
      </p:sp>
      <p:sp>
        <p:nvSpPr>
          <p:cNvPr id="28" name="Shape 2">
            <a:extLst>
              <a:ext uri="{FF2B5EF4-FFF2-40B4-BE49-F238E27FC236}">
                <a16:creationId xmlns:a16="http://schemas.microsoft.com/office/drawing/2014/main" id="{F780E311-7DF8-30D2-9D06-0F7FC646B556}"/>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1665208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C16692-27C2-4633-9338-28053340C4D4}"/>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1   Autonomous exploration</a:t>
            </a:r>
            <a:r>
              <a:rPr lang="en-US" sz="3000" b="1" dirty="0">
                <a:solidFill>
                  <a:srgbClr val="12283B"/>
                </a:solidFill>
                <a:latin typeface="Arial"/>
                <a:ea typeface="Arial"/>
                <a:cs typeface="Arial"/>
              </a:rPr>
              <a:t>,</a:t>
            </a:r>
            <a:r>
              <a:rPr sz="3000" b="1" dirty="0">
                <a:solidFill>
                  <a:srgbClr val="12283B"/>
                </a:solidFill>
                <a:latin typeface="Arial"/>
                <a:ea typeface="Arial"/>
                <a:cs typeface="Arial"/>
              </a:rPr>
              <a:t> mapping</a:t>
            </a:r>
            <a:r>
              <a:rPr lang="en-US" sz="3000" b="1" dirty="0">
                <a:solidFill>
                  <a:srgbClr val="12283B"/>
                </a:solidFill>
                <a:latin typeface="Arial"/>
                <a:ea typeface="Arial"/>
                <a:cs typeface="Arial"/>
              </a:rPr>
              <a:t>, and detection</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D25B400E-5A10-4B73-8EF8-6BBF79CE4F33}"/>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06</a:t>
            </a:r>
          </a:p>
        </p:txBody>
      </p:sp>
      <p:sp>
        <p:nvSpPr>
          <p:cNvPr id="26" name="Shape 2">
            <a:extLst>
              <a:ext uri="{FF2B5EF4-FFF2-40B4-BE49-F238E27FC236}">
                <a16:creationId xmlns:a16="http://schemas.microsoft.com/office/drawing/2014/main" id="{E6583A9C-3FDB-0304-7D43-4BB84E0E0C10}"/>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8" name="Picture 27">
            <a:extLst>
              <a:ext uri="{FF2B5EF4-FFF2-40B4-BE49-F238E27FC236}">
                <a16:creationId xmlns:a16="http://schemas.microsoft.com/office/drawing/2014/main" id="{FABB0359-824C-DCBC-8D86-46D27056186B}"/>
              </a:ext>
            </a:extLst>
          </p:cNvPr>
          <p:cNvPicPr>
            <a:picLocks/>
          </p:cNvPicPr>
          <p:nvPr/>
        </p:nvPicPr>
        <p:blipFill>
          <a:blip r:embed="rId3"/>
          <a:srcRect l="11062" t="9522" r="29209"/>
          <a:stretch>
            <a:fillRect/>
          </a:stretch>
        </p:blipFill>
        <p:spPr>
          <a:xfrm>
            <a:off x="7473950" y="1285875"/>
            <a:ext cx="4127500" cy="3491642"/>
          </a:xfrm>
          <a:prstGeom prst="rect">
            <a:avLst/>
          </a:prstGeom>
        </p:spPr>
      </p:pic>
      <p:sp>
        <p:nvSpPr>
          <p:cNvPr id="30" name="Rectangle 29">
            <a:extLst>
              <a:ext uri="{FF2B5EF4-FFF2-40B4-BE49-F238E27FC236}">
                <a16:creationId xmlns:a16="http://schemas.microsoft.com/office/drawing/2014/main" id="{798C927A-C4D4-8444-EC13-25635ED39638}"/>
              </a:ext>
            </a:extLst>
          </p:cNvPr>
          <p:cNvSpPr>
            <a:spLocks noGrp="1"/>
          </p:cNvSpPr>
          <p:nvPr/>
        </p:nvSpPr>
        <p:spPr>
          <a:xfrm>
            <a:off x="425450" y="1285875"/>
            <a:ext cx="6616700" cy="2843211"/>
          </a:xfrm>
          <a:prstGeom prst="rect">
            <a:avLst/>
          </a:prstGeom>
          <a:noFill/>
          <a:ln w="9525">
            <a:noFill/>
          </a:ln>
        </p:spPr>
        <p:txBody>
          <a:bodyPr>
            <a:noAutofit/>
          </a:bodyPr>
          <a:lstStyle/>
          <a:p>
            <a:pPr algn="just">
              <a:spcAft>
                <a:spcPts val="600"/>
              </a:spcAft>
            </a:pPr>
            <a:r>
              <a:rPr lang="en-US" altLang="zh-CN" dirty="0"/>
              <a:t>Teams may use </a:t>
            </a:r>
            <a:r>
              <a:rPr lang="en-US" altLang="zh-CN" b="1" dirty="0"/>
              <a:t>up to two</a:t>
            </a:r>
            <a:r>
              <a:rPr lang="en-US" altLang="zh-CN" dirty="0"/>
              <a:t> robots starting from a designated start area to autonomously explore an unknown environment and build a unified 2D occupancy grid map within </a:t>
            </a:r>
            <a:r>
              <a:rPr lang="en-US" altLang="zh-CN" b="1" dirty="0"/>
              <a:t>limited time</a:t>
            </a:r>
            <a:r>
              <a:rPr lang="en-US" altLang="zh-CN" dirty="0"/>
              <a:t>:</a:t>
            </a:r>
          </a:p>
          <a:p>
            <a:pPr marL="285750" indent="-285750" algn="just">
              <a:buFont typeface="Wingdings" panose="05000000000000000000" pitchFamily="2" charset="2"/>
              <a:buChar char="l"/>
            </a:pPr>
            <a:r>
              <a:rPr lang="en-US" altLang="zh-CN" dirty="0"/>
              <a:t>The robot system shall operate </a:t>
            </a:r>
            <a:r>
              <a:rPr lang="en-US" altLang="zh-CN" b="1" dirty="0"/>
              <a:t>autonomously</a:t>
            </a:r>
            <a:r>
              <a:rPr lang="en-US" altLang="zh-CN" dirty="0"/>
              <a:t> based on the current map and sensor information, performing path planning, obstacle avoidance, and motion execution toward the selected target;</a:t>
            </a:r>
          </a:p>
          <a:p>
            <a:pPr marL="285750" indent="-285750" algn="just">
              <a:buFont typeface="Wingdings" panose="05000000000000000000" pitchFamily="2" charset="2"/>
              <a:buChar char="l"/>
            </a:pPr>
            <a:r>
              <a:rPr lang="en-US" altLang="zh-CN" dirty="0"/>
              <a:t>Existing ROS 2 SLAM, navigation, and other open-source software packages are allowed.</a:t>
            </a:r>
            <a:endParaRPr lang="en-US" altLang="zh-CN" sz="2000" dirty="0"/>
          </a:p>
        </p:txBody>
      </p:sp>
      <p:sp>
        <p:nvSpPr>
          <p:cNvPr id="32" name="Rectangle 31">
            <a:extLst>
              <a:ext uri="{FF2B5EF4-FFF2-40B4-BE49-F238E27FC236}">
                <a16:creationId xmlns:a16="http://schemas.microsoft.com/office/drawing/2014/main" id="{9AD1711D-C122-A9A6-25AD-B31FD05E896E}"/>
              </a:ext>
            </a:extLst>
          </p:cNvPr>
          <p:cNvSpPr/>
          <p:nvPr/>
        </p:nvSpPr>
        <p:spPr>
          <a:xfrm>
            <a:off x="10144694" y="2990850"/>
            <a:ext cx="1221805" cy="266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314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09BA0-AB8C-04BB-913D-F9A8DF6F146B}"/>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352A83B-E92C-7459-A93F-46CBC6F616CC}"/>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1   Autonomous exploration</a:t>
            </a:r>
            <a:r>
              <a:rPr lang="en-US" sz="3000" b="1" dirty="0">
                <a:solidFill>
                  <a:srgbClr val="12283B"/>
                </a:solidFill>
                <a:latin typeface="Arial"/>
                <a:ea typeface="Arial"/>
                <a:cs typeface="Arial"/>
              </a:rPr>
              <a:t>,</a:t>
            </a:r>
            <a:r>
              <a:rPr sz="3000" b="1" dirty="0">
                <a:solidFill>
                  <a:srgbClr val="12283B"/>
                </a:solidFill>
                <a:latin typeface="Arial"/>
                <a:ea typeface="Arial"/>
                <a:cs typeface="Arial"/>
              </a:rPr>
              <a:t> mapping</a:t>
            </a:r>
            <a:r>
              <a:rPr lang="en-US" sz="3000" b="1" dirty="0">
                <a:solidFill>
                  <a:srgbClr val="12283B"/>
                </a:solidFill>
                <a:latin typeface="Arial"/>
                <a:ea typeface="Arial"/>
                <a:cs typeface="Arial"/>
              </a:rPr>
              <a:t>, and detection</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E82DDDEF-86AD-B24A-D52B-43DCC1623528}"/>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06</a:t>
            </a:r>
          </a:p>
        </p:txBody>
      </p:sp>
      <p:sp>
        <p:nvSpPr>
          <p:cNvPr id="26" name="Shape 2">
            <a:extLst>
              <a:ext uri="{FF2B5EF4-FFF2-40B4-BE49-F238E27FC236}">
                <a16:creationId xmlns:a16="http://schemas.microsoft.com/office/drawing/2014/main" id="{D45A1D84-94DE-14E9-D203-E9388479AB6E}"/>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8" name="Picture 27">
            <a:extLst>
              <a:ext uri="{FF2B5EF4-FFF2-40B4-BE49-F238E27FC236}">
                <a16:creationId xmlns:a16="http://schemas.microsoft.com/office/drawing/2014/main" id="{0D514332-8801-2338-20C6-6105CBDF20FB}"/>
              </a:ext>
            </a:extLst>
          </p:cNvPr>
          <p:cNvPicPr>
            <a:picLocks/>
          </p:cNvPicPr>
          <p:nvPr/>
        </p:nvPicPr>
        <p:blipFill>
          <a:blip r:embed="rId3"/>
          <a:srcRect l="11062" t="9522" r="29209"/>
          <a:stretch>
            <a:fillRect/>
          </a:stretch>
        </p:blipFill>
        <p:spPr>
          <a:xfrm>
            <a:off x="7473950" y="1285875"/>
            <a:ext cx="4127500" cy="3491642"/>
          </a:xfrm>
          <a:prstGeom prst="rect">
            <a:avLst/>
          </a:prstGeom>
        </p:spPr>
      </p:pic>
      <p:sp>
        <p:nvSpPr>
          <p:cNvPr id="30" name="Rectangle 29">
            <a:extLst>
              <a:ext uri="{FF2B5EF4-FFF2-40B4-BE49-F238E27FC236}">
                <a16:creationId xmlns:a16="http://schemas.microsoft.com/office/drawing/2014/main" id="{E22B0FAB-3881-5ED1-843E-EFF83F9BCE7D}"/>
              </a:ext>
            </a:extLst>
          </p:cNvPr>
          <p:cNvSpPr>
            <a:spLocks noGrp="1"/>
          </p:cNvSpPr>
          <p:nvPr/>
        </p:nvSpPr>
        <p:spPr>
          <a:xfrm>
            <a:off x="425450" y="1285875"/>
            <a:ext cx="6616700" cy="2843211"/>
          </a:xfrm>
          <a:prstGeom prst="rect">
            <a:avLst/>
          </a:prstGeom>
          <a:noFill/>
          <a:ln w="9525">
            <a:noFill/>
          </a:ln>
        </p:spPr>
        <p:txBody>
          <a:bodyPr>
            <a:noAutofit/>
          </a:bodyPr>
          <a:lstStyle/>
          <a:p>
            <a:pPr algn="just">
              <a:spcAft>
                <a:spcPts val="600"/>
              </a:spcAft>
            </a:pPr>
            <a:r>
              <a:rPr lang="en-US" altLang="zh-CN" dirty="0"/>
              <a:t>Teams may use </a:t>
            </a:r>
            <a:r>
              <a:rPr lang="en-US" altLang="zh-CN" b="1" dirty="0"/>
              <a:t>up to two</a:t>
            </a:r>
            <a:r>
              <a:rPr lang="en-US" altLang="zh-CN" dirty="0"/>
              <a:t> robots starting from a designated start area to autonomously explore an unknown environment and build a unified 2D occupancy grid map within </a:t>
            </a:r>
            <a:r>
              <a:rPr lang="en-US" altLang="zh-CN" b="1" dirty="0"/>
              <a:t>limited time</a:t>
            </a:r>
            <a:r>
              <a:rPr lang="en-US" altLang="zh-CN" dirty="0"/>
              <a:t>:</a:t>
            </a:r>
          </a:p>
          <a:p>
            <a:pPr marL="285750" indent="-285750" algn="just">
              <a:buFont typeface="Wingdings" panose="05000000000000000000" pitchFamily="2" charset="2"/>
              <a:buChar char="l"/>
            </a:pPr>
            <a:r>
              <a:rPr lang="en-US" altLang="zh-CN" dirty="0"/>
              <a:t>The robot system shall operate </a:t>
            </a:r>
            <a:r>
              <a:rPr lang="en-US" altLang="zh-CN" b="1" dirty="0"/>
              <a:t>autonomously</a:t>
            </a:r>
            <a:r>
              <a:rPr lang="en-US" altLang="zh-CN" dirty="0"/>
              <a:t> based on the current map and sensor information, performing path planning, obstacle avoidance, and motion execution toward the selected target;</a:t>
            </a:r>
          </a:p>
          <a:p>
            <a:pPr marL="285750" indent="-285750" algn="just">
              <a:buFont typeface="Wingdings" panose="05000000000000000000" pitchFamily="2" charset="2"/>
              <a:buChar char="l"/>
            </a:pPr>
            <a:r>
              <a:rPr lang="en-US" altLang="zh-CN" dirty="0"/>
              <a:t>Existing ROS 2 SLAM, navigation, and other open-source software packages are allowed.</a:t>
            </a:r>
            <a:endParaRPr lang="en-US" altLang="zh-CN" sz="2000" dirty="0"/>
          </a:p>
        </p:txBody>
      </p:sp>
      <p:sp>
        <p:nvSpPr>
          <p:cNvPr id="4" name="Rectangle 3">
            <a:extLst>
              <a:ext uri="{FF2B5EF4-FFF2-40B4-BE49-F238E27FC236}">
                <a16:creationId xmlns:a16="http://schemas.microsoft.com/office/drawing/2014/main" id="{38AD108D-C5D0-F65E-5D72-6B01311C382F}"/>
              </a:ext>
            </a:extLst>
          </p:cNvPr>
          <p:cNvSpPr>
            <a:spLocks noGrp="1"/>
          </p:cNvSpPr>
          <p:nvPr/>
        </p:nvSpPr>
        <p:spPr>
          <a:xfrm>
            <a:off x="425450" y="4103920"/>
            <a:ext cx="3448050" cy="439397"/>
          </a:xfrm>
          <a:prstGeom prst="rect">
            <a:avLst/>
          </a:prstGeom>
          <a:solidFill>
            <a:schemeClr val="accent6">
              <a:lumMod val="20000"/>
              <a:lumOff val="80000"/>
            </a:schemeClr>
          </a:solidFill>
          <a:ln w="9525">
            <a:solidFill>
              <a:srgbClr val="F2F5F8"/>
            </a:solidFill>
          </a:ln>
        </p:spPr>
        <p:txBody>
          <a:bodyPr/>
          <a:lstStyle/>
          <a:p>
            <a:endParaRPr lang="zh-CN" altLang="en-US"/>
          </a:p>
        </p:txBody>
      </p:sp>
      <p:sp>
        <p:nvSpPr>
          <p:cNvPr id="7" name="TextBox 6">
            <a:extLst>
              <a:ext uri="{FF2B5EF4-FFF2-40B4-BE49-F238E27FC236}">
                <a16:creationId xmlns:a16="http://schemas.microsoft.com/office/drawing/2014/main" id="{CFCEAB0D-7500-DAC2-C2E3-82E12571846A}"/>
              </a:ext>
            </a:extLst>
          </p:cNvPr>
          <p:cNvSpPr txBox="1"/>
          <p:nvPr/>
        </p:nvSpPr>
        <p:spPr>
          <a:xfrm>
            <a:off x="502920" y="4138953"/>
            <a:ext cx="3448050" cy="369332"/>
          </a:xfrm>
          <a:prstGeom prst="rect">
            <a:avLst/>
          </a:prstGeom>
          <a:noFill/>
        </p:spPr>
        <p:txBody>
          <a:bodyPr wrap="square" rtlCol="0">
            <a:spAutoFit/>
          </a:bodyPr>
          <a:lstStyle/>
          <a:p>
            <a:r>
              <a:rPr lang="en-US" altLang="zh-CN" b="1" dirty="0"/>
              <a:t>Target detection and localization</a:t>
            </a:r>
            <a:endParaRPr lang="zh-CN" altLang="en-US" b="1" dirty="0"/>
          </a:p>
        </p:txBody>
      </p:sp>
      <p:sp>
        <p:nvSpPr>
          <p:cNvPr id="13" name="Rectangle 12">
            <a:extLst>
              <a:ext uri="{FF2B5EF4-FFF2-40B4-BE49-F238E27FC236}">
                <a16:creationId xmlns:a16="http://schemas.microsoft.com/office/drawing/2014/main" id="{891D7CE4-9060-E049-AA7F-9939E9F06E1C}"/>
              </a:ext>
            </a:extLst>
          </p:cNvPr>
          <p:cNvSpPr>
            <a:spLocks noGrp="1"/>
          </p:cNvSpPr>
          <p:nvPr/>
        </p:nvSpPr>
        <p:spPr>
          <a:xfrm>
            <a:off x="425450" y="4553185"/>
            <a:ext cx="6616700" cy="439398"/>
          </a:xfrm>
          <a:prstGeom prst="rect">
            <a:avLst/>
          </a:prstGeom>
          <a:noFill/>
          <a:ln w="9525">
            <a:noFill/>
          </a:ln>
        </p:spPr>
        <p:txBody>
          <a:bodyPr>
            <a:noAutofit/>
          </a:bodyPr>
          <a:lstStyle/>
          <a:p>
            <a:pPr algn="just">
              <a:spcAft>
                <a:spcPts val="600"/>
              </a:spcAft>
            </a:pPr>
            <a:r>
              <a:rPr lang="en-US" altLang="zh-CN" dirty="0"/>
              <a:t>The system shall perform the following pipeline:</a:t>
            </a:r>
          </a:p>
        </p:txBody>
      </p:sp>
      <p:sp>
        <p:nvSpPr>
          <p:cNvPr id="15" name="Rectangle 14">
            <a:extLst>
              <a:ext uri="{FF2B5EF4-FFF2-40B4-BE49-F238E27FC236}">
                <a16:creationId xmlns:a16="http://schemas.microsoft.com/office/drawing/2014/main" id="{6E2EF81D-A63E-8005-5E51-2A2B0FC71291}"/>
              </a:ext>
            </a:extLst>
          </p:cNvPr>
          <p:cNvSpPr/>
          <p:nvPr/>
        </p:nvSpPr>
        <p:spPr>
          <a:xfrm>
            <a:off x="10144694" y="2990850"/>
            <a:ext cx="1221805" cy="266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6">
            <a:extLst>
              <a:ext uri="{FF2B5EF4-FFF2-40B4-BE49-F238E27FC236}">
                <a16:creationId xmlns:a16="http://schemas.microsoft.com/office/drawing/2014/main" id="{A6AF7899-2E4C-9A69-ADA8-F1CBF70D5BB6}"/>
              </a:ext>
            </a:extLst>
          </p:cNvPr>
          <p:cNvSpPr>
            <a:spLocks noGrp="1"/>
          </p:cNvSpPr>
          <p:nvPr/>
        </p:nvSpPr>
        <p:spPr>
          <a:xfrm>
            <a:off x="502920" y="4879975"/>
            <a:ext cx="19050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a:solidFill>
                  <a:srgbClr val="007F82"/>
                </a:solidFill>
                <a:latin typeface="Arial"/>
                <a:ea typeface="Arial"/>
                <a:cs typeface="Arial"/>
              </a:rPr>
              <a:t>01</a:t>
            </a:r>
          </a:p>
        </p:txBody>
      </p:sp>
      <p:sp>
        <p:nvSpPr>
          <p:cNvPr id="19" name="Rectangle 18">
            <a:extLst>
              <a:ext uri="{FF2B5EF4-FFF2-40B4-BE49-F238E27FC236}">
                <a16:creationId xmlns:a16="http://schemas.microsoft.com/office/drawing/2014/main" id="{0508DD92-3781-79A5-3CB5-6098D070349C}"/>
              </a:ext>
            </a:extLst>
          </p:cNvPr>
          <p:cNvSpPr>
            <a:spLocks noGrp="1"/>
          </p:cNvSpPr>
          <p:nvPr/>
        </p:nvSpPr>
        <p:spPr>
          <a:xfrm>
            <a:off x="502920" y="5164806"/>
            <a:ext cx="1517650" cy="679450"/>
          </a:xfrm>
          <a:prstGeom prst="rect">
            <a:avLst/>
          </a:prstGeom>
          <a:noFill/>
          <a:ln w="9525">
            <a:noFill/>
          </a:ln>
        </p:spPr>
        <p:txBody>
          <a:bodyPr>
            <a:noAutofit/>
          </a:bodyPr>
          <a:lstStyle/>
          <a:p>
            <a:pPr>
              <a:defRPr sz="2175" b="1">
                <a:solidFill>
                  <a:srgbClr val="12283B"/>
                </a:solidFill>
                <a:latin typeface="Arial"/>
                <a:ea typeface="Arial"/>
                <a:cs typeface="Arial"/>
              </a:defRPr>
            </a:pPr>
            <a:r>
              <a:rPr sz="1600" b="1" dirty="0" err="1">
                <a:solidFill>
                  <a:srgbClr val="12283B"/>
                </a:solidFill>
                <a:latin typeface="Arial"/>
                <a:ea typeface="Arial"/>
                <a:cs typeface="Arial"/>
              </a:rPr>
              <a:t>ArUco</a:t>
            </a:r>
            <a:r>
              <a:rPr lang="en-US" sz="1600" b="1" dirty="0">
                <a:solidFill>
                  <a:srgbClr val="12283B"/>
                </a:solidFill>
                <a:latin typeface="Arial"/>
                <a:ea typeface="Arial"/>
                <a:cs typeface="Arial"/>
              </a:rPr>
              <a:t> </a:t>
            </a:r>
            <a:r>
              <a:rPr sz="1600" b="1" dirty="0">
                <a:solidFill>
                  <a:srgbClr val="12283B"/>
                </a:solidFill>
                <a:latin typeface="Arial"/>
                <a:ea typeface="Arial"/>
                <a:cs typeface="Arial"/>
              </a:rPr>
              <a:t>observation</a:t>
            </a:r>
          </a:p>
        </p:txBody>
      </p:sp>
      <p:sp>
        <p:nvSpPr>
          <p:cNvPr id="21" name="Arrow: Chevron 20">
            <a:extLst>
              <a:ext uri="{FF2B5EF4-FFF2-40B4-BE49-F238E27FC236}">
                <a16:creationId xmlns:a16="http://schemas.microsoft.com/office/drawing/2014/main" id="{19767F0A-BA31-078D-0269-CAD1B4EEE6B6}"/>
              </a:ext>
            </a:extLst>
          </p:cNvPr>
          <p:cNvSpPr>
            <a:spLocks noGrp="1"/>
          </p:cNvSpPr>
          <p:nvPr/>
        </p:nvSpPr>
        <p:spPr>
          <a:xfrm>
            <a:off x="2001520" y="5393406"/>
            <a:ext cx="304800" cy="228600"/>
          </a:xfrm>
          <a:prstGeom prst="chevron">
            <a:avLst/>
          </a:prstGeom>
          <a:solidFill>
            <a:srgbClr val="007F82"/>
          </a:solidFill>
          <a:ln w="9525">
            <a:solidFill>
              <a:srgbClr val="007F82"/>
            </a:solidFill>
          </a:ln>
        </p:spPr>
        <p:txBody>
          <a:bodyPr/>
          <a:lstStyle/>
          <a:p>
            <a:endParaRPr lang="zh-CN" altLang="en-US"/>
          </a:p>
        </p:txBody>
      </p:sp>
      <p:sp>
        <p:nvSpPr>
          <p:cNvPr id="23" name="Rectangle 22">
            <a:extLst>
              <a:ext uri="{FF2B5EF4-FFF2-40B4-BE49-F238E27FC236}">
                <a16:creationId xmlns:a16="http://schemas.microsoft.com/office/drawing/2014/main" id="{F8304F65-EE73-5CD5-A33C-282D8CD8DA90}"/>
              </a:ext>
            </a:extLst>
          </p:cNvPr>
          <p:cNvSpPr>
            <a:spLocks noGrp="1"/>
          </p:cNvSpPr>
          <p:nvPr/>
        </p:nvSpPr>
        <p:spPr>
          <a:xfrm>
            <a:off x="2496820" y="4879975"/>
            <a:ext cx="19050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a:solidFill>
                  <a:srgbClr val="007F82"/>
                </a:solidFill>
                <a:latin typeface="Arial"/>
                <a:ea typeface="Arial"/>
                <a:cs typeface="Arial"/>
              </a:rPr>
              <a:t>02</a:t>
            </a:r>
          </a:p>
        </p:txBody>
      </p:sp>
      <p:sp>
        <p:nvSpPr>
          <p:cNvPr id="27" name="Rectangle 26">
            <a:extLst>
              <a:ext uri="{FF2B5EF4-FFF2-40B4-BE49-F238E27FC236}">
                <a16:creationId xmlns:a16="http://schemas.microsoft.com/office/drawing/2014/main" id="{9B1FD5E4-8735-3B86-291F-2AA567D87E29}"/>
              </a:ext>
            </a:extLst>
          </p:cNvPr>
          <p:cNvSpPr>
            <a:spLocks noGrp="1"/>
          </p:cNvSpPr>
          <p:nvPr/>
        </p:nvSpPr>
        <p:spPr>
          <a:xfrm>
            <a:off x="2496820" y="5164806"/>
            <a:ext cx="1727200" cy="679450"/>
          </a:xfrm>
          <a:prstGeom prst="rect">
            <a:avLst/>
          </a:prstGeom>
          <a:noFill/>
          <a:ln w="9525">
            <a:noFill/>
          </a:ln>
        </p:spPr>
        <p:txBody>
          <a:bodyPr>
            <a:noAutofit/>
          </a:bodyPr>
          <a:lstStyle/>
          <a:p>
            <a:pPr>
              <a:defRPr sz="2175" b="1">
                <a:solidFill>
                  <a:srgbClr val="12283B"/>
                </a:solidFill>
                <a:latin typeface="Arial"/>
                <a:ea typeface="Arial"/>
                <a:cs typeface="Arial"/>
              </a:defRPr>
            </a:pPr>
            <a:r>
              <a:rPr lang="en-US" sz="1600" b="1" dirty="0">
                <a:solidFill>
                  <a:srgbClr val="12283B"/>
                </a:solidFill>
                <a:latin typeface="Arial"/>
                <a:ea typeface="Arial"/>
                <a:cs typeface="Arial"/>
              </a:rPr>
              <a:t>Identify target </a:t>
            </a:r>
            <a:r>
              <a:rPr sz="1600" b="1" dirty="0">
                <a:solidFill>
                  <a:srgbClr val="12283B"/>
                </a:solidFill>
                <a:latin typeface="Arial"/>
                <a:ea typeface="Arial"/>
                <a:cs typeface="Arial"/>
              </a:rPr>
              <a:t>ID and</a:t>
            </a:r>
            <a:r>
              <a:rPr lang="en-US" sz="1600" b="1" dirty="0">
                <a:solidFill>
                  <a:srgbClr val="12283B"/>
                </a:solidFill>
                <a:latin typeface="Arial"/>
                <a:ea typeface="Arial"/>
                <a:cs typeface="Arial"/>
              </a:rPr>
              <a:t> type</a:t>
            </a:r>
            <a:endParaRPr sz="1600" b="1" dirty="0">
              <a:solidFill>
                <a:srgbClr val="12283B"/>
              </a:solidFill>
              <a:latin typeface="Arial"/>
              <a:ea typeface="Arial"/>
              <a:cs typeface="Arial"/>
            </a:endParaRPr>
          </a:p>
        </p:txBody>
      </p:sp>
      <p:sp>
        <p:nvSpPr>
          <p:cNvPr id="31" name="Arrow: Chevron 30">
            <a:extLst>
              <a:ext uri="{FF2B5EF4-FFF2-40B4-BE49-F238E27FC236}">
                <a16:creationId xmlns:a16="http://schemas.microsoft.com/office/drawing/2014/main" id="{17E3E928-A6F1-152E-6330-AB1973C2E12B}"/>
              </a:ext>
            </a:extLst>
          </p:cNvPr>
          <p:cNvSpPr>
            <a:spLocks noGrp="1"/>
          </p:cNvSpPr>
          <p:nvPr/>
        </p:nvSpPr>
        <p:spPr>
          <a:xfrm>
            <a:off x="4243070" y="5393406"/>
            <a:ext cx="304800" cy="228600"/>
          </a:xfrm>
          <a:prstGeom prst="chevron">
            <a:avLst/>
          </a:prstGeom>
          <a:solidFill>
            <a:srgbClr val="007F82"/>
          </a:solidFill>
          <a:ln w="9525">
            <a:solidFill>
              <a:srgbClr val="007F82"/>
            </a:solidFill>
          </a:ln>
        </p:spPr>
        <p:txBody>
          <a:bodyPr/>
          <a:lstStyle/>
          <a:p>
            <a:endParaRPr lang="zh-CN" altLang="en-US"/>
          </a:p>
        </p:txBody>
      </p:sp>
      <p:sp>
        <p:nvSpPr>
          <p:cNvPr id="33" name="Rectangle 32">
            <a:extLst>
              <a:ext uri="{FF2B5EF4-FFF2-40B4-BE49-F238E27FC236}">
                <a16:creationId xmlns:a16="http://schemas.microsoft.com/office/drawing/2014/main" id="{74E84A53-C989-7D1A-DFFC-142C700620F6}"/>
              </a:ext>
            </a:extLst>
          </p:cNvPr>
          <p:cNvSpPr>
            <a:spLocks noGrp="1"/>
          </p:cNvSpPr>
          <p:nvPr/>
        </p:nvSpPr>
        <p:spPr>
          <a:xfrm>
            <a:off x="4744720" y="4866488"/>
            <a:ext cx="6858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a:solidFill>
                  <a:srgbClr val="007F82"/>
                </a:solidFill>
                <a:latin typeface="Arial"/>
                <a:ea typeface="Arial"/>
                <a:cs typeface="Arial"/>
              </a:rPr>
              <a:t>03</a:t>
            </a:r>
          </a:p>
        </p:txBody>
      </p:sp>
      <p:sp>
        <p:nvSpPr>
          <p:cNvPr id="35" name="Rectangle 34">
            <a:extLst>
              <a:ext uri="{FF2B5EF4-FFF2-40B4-BE49-F238E27FC236}">
                <a16:creationId xmlns:a16="http://schemas.microsoft.com/office/drawing/2014/main" id="{568F4B9C-D01C-12C3-7CF3-AB15A6E547D2}"/>
              </a:ext>
            </a:extLst>
          </p:cNvPr>
          <p:cNvSpPr>
            <a:spLocks noGrp="1"/>
          </p:cNvSpPr>
          <p:nvPr/>
        </p:nvSpPr>
        <p:spPr>
          <a:xfrm>
            <a:off x="7081520" y="5164806"/>
            <a:ext cx="1346200" cy="578666"/>
          </a:xfrm>
          <a:prstGeom prst="rect">
            <a:avLst/>
          </a:prstGeom>
          <a:noFill/>
          <a:ln w="9525">
            <a:noFill/>
          </a:ln>
        </p:spPr>
        <p:txBody>
          <a:bodyPr>
            <a:noAutofit/>
          </a:bodyPr>
          <a:lstStyle/>
          <a:p>
            <a:pPr>
              <a:defRPr sz="2175" b="1">
                <a:solidFill>
                  <a:srgbClr val="12283B"/>
                </a:solidFill>
                <a:latin typeface="Arial"/>
                <a:ea typeface="Arial"/>
                <a:cs typeface="Arial"/>
              </a:defRPr>
            </a:pPr>
            <a:r>
              <a:rPr sz="1600" b="1" dirty="0">
                <a:solidFill>
                  <a:srgbClr val="12283B"/>
                </a:solidFill>
                <a:latin typeface="Arial"/>
                <a:ea typeface="Arial"/>
                <a:cs typeface="Arial"/>
              </a:rPr>
              <a:t>Pose in</a:t>
            </a:r>
          </a:p>
          <a:p>
            <a:pPr>
              <a:defRPr sz="2175" b="1">
                <a:solidFill>
                  <a:srgbClr val="12283B"/>
                </a:solidFill>
                <a:latin typeface="Arial"/>
                <a:ea typeface="Arial"/>
                <a:cs typeface="Arial"/>
              </a:defRPr>
            </a:pPr>
            <a:r>
              <a:rPr sz="1600" b="1" dirty="0">
                <a:solidFill>
                  <a:srgbClr val="12283B"/>
                </a:solidFill>
                <a:latin typeface="Arial"/>
                <a:ea typeface="Arial"/>
                <a:cs typeface="Arial"/>
              </a:rPr>
              <a:t>map frame</a:t>
            </a:r>
          </a:p>
        </p:txBody>
      </p:sp>
      <p:sp>
        <p:nvSpPr>
          <p:cNvPr id="37" name="Arrow: Chevron 36">
            <a:extLst>
              <a:ext uri="{FF2B5EF4-FFF2-40B4-BE49-F238E27FC236}">
                <a16:creationId xmlns:a16="http://schemas.microsoft.com/office/drawing/2014/main" id="{06BD6998-77C8-2DC7-ED2C-F75B905CBA00}"/>
              </a:ext>
            </a:extLst>
          </p:cNvPr>
          <p:cNvSpPr>
            <a:spLocks noGrp="1"/>
          </p:cNvSpPr>
          <p:nvPr/>
        </p:nvSpPr>
        <p:spPr>
          <a:xfrm>
            <a:off x="8580120" y="5393406"/>
            <a:ext cx="304800" cy="228600"/>
          </a:xfrm>
          <a:prstGeom prst="chevron">
            <a:avLst/>
          </a:prstGeom>
          <a:solidFill>
            <a:srgbClr val="007F82"/>
          </a:solidFill>
          <a:ln w="9525">
            <a:solidFill>
              <a:srgbClr val="007F82"/>
            </a:solidFill>
          </a:ln>
        </p:spPr>
        <p:txBody>
          <a:bodyPr/>
          <a:lstStyle/>
          <a:p>
            <a:endParaRPr lang="zh-CN" altLang="en-US"/>
          </a:p>
        </p:txBody>
      </p:sp>
      <p:sp>
        <p:nvSpPr>
          <p:cNvPr id="39" name="Rectangle 38">
            <a:extLst>
              <a:ext uri="{FF2B5EF4-FFF2-40B4-BE49-F238E27FC236}">
                <a16:creationId xmlns:a16="http://schemas.microsoft.com/office/drawing/2014/main" id="{29EC8070-89F3-59C6-244B-708224C76C86}"/>
              </a:ext>
            </a:extLst>
          </p:cNvPr>
          <p:cNvSpPr>
            <a:spLocks noGrp="1"/>
          </p:cNvSpPr>
          <p:nvPr/>
        </p:nvSpPr>
        <p:spPr>
          <a:xfrm>
            <a:off x="7068820" y="4868758"/>
            <a:ext cx="6858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sz="2025" b="1" dirty="0">
                <a:solidFill>
                  <a:srgbClr val="007F82"/>
                </a:solidFill>
                <a:latin typeface="Arial"/>
                <a:ea typeface="Arial"/>
                <a:cs typeface="Arial"/>
              </a:rPr>
              <a:t>04</a:t>
            </a:r>
          </a:p>
        </p:txBody>
      </p:sp>
      <p:sp>
        <p:nvSpPr>
          <p:cNvPr id="41" name="Rectangle 40">
            <a:extLst>
              <a:ext uri="{FF2B5EF4-FFF2-40B4-BE49-F238E27FC236}">
                <a16:creationId xmlns:a16="http://schemas.microsoft.com/office/drawing/2014/main" id="{079D5AC1-FC4E-4298-4911-7A00A4CD90BA}"/>
              </a:ext>
            </a:extLst>
          </p:cNvPr>
          <p:cNvSpPr>
            <a:spLocks noGrp="1"/>
          </p:cNvSpPr>
          <p:nvPr/>
        </p:nvSpPr>
        <p:spPr>
          <a:xfrm>
            <a:off x="9075420" y="5188002"/>
            <a:ext cx="1346200" cy="663472"/>
          </a:xfrm>
          <a:prstGeom prst="rect">
            <a:avLst/>
          </a:prstGeom>
          <a:noFill/>
          <a:ln w="9525">
            <a:noFill/>
          </a:ln>
        </p:spPr>
        <p:txBody>
          <a:bodyPr>
            <a:noAutofit/>
          </a:bodyPr>
          <a:lstStyle/>
          <a:p>
            <a:pPr>
              <a:defRPr sz="2175" b="1">
                <a:solidFill>
                  <a:srgbClr val="12283B"/>
                </a:solidFill>
                <a:latin typeface="Arial"/>
                <a:ea typeface="Arial"/>
                <a:cs typeface="Arial"/>
              </a:defRPr>
            </a:pPr>
            <a:r>
              <a:rPr lang="en-US" sz="1600" b="1" dirty="0">
                <a:solidFill>
                  <a:srgbClr val="12283B"/>
                </a:solidFill>
                <a:latin typeface="Arial"/>
                <a:ea typeface="Arial"/>
                <a:cs typeface="Arial"/>
              </a:rPr>
              <a:t>Update</a:t>
            </a:r>
            <a:endParaRPr sz="1600" b="1" dirty="0">
              <a:solidFill>
                <a:srgbClr val="12283B"/>
              </a:solidFill>
              <a:latin typeface="Arial"/>
              <a:ea typeface="Arial"/>
              <a:cs typeface="Arial"/>
            </a:endParaRPr>
          </a:p>
          <a:p>
            <a:pPr>
              <a:defRPr sz="2175" b="1">
                <a:solidFill>
                  <a:srgbClr val="12283B"/>
                </a:solidFill>
                <a:latin typeface="Arial"/>
                <a:ea typeface="Arial"/>
                <a:cs typeface="Arial"/>
              </a:defRPr>
            </a:pPr>
            <a:r>
              <a:rPr sz="1600" b="1" dirty="0">
                <a:solidFill>
                  <a:srgbClr val="12283B"/>
                </a:solidFill>
                <a:latin typeface="Arial"/>
                <a:ea typeface="Arial"/>
                <a:cs typeface="Arial"/>
              </a:rPr>
              <a:t>target list</a:t>
            </a:r>
          </a:p>
        </p:txBody>
      </p:sp>
      <p:sp>
        <p:nvSpPr>
          <p:cNvPr id="43" name="Rectangle 42">
            <a:extLst>
              <a:ext uri="{FF2B5EF4-FFF2-40B4-BE49-F238E27FC236}">
                <a16:creationId xmlns:a16="http://schemas.microsoft.com/office/drawing/2014/main" id="{8C0C2865-D7EA-2C22-457A-C6D426617A97}"/>
              </a:ext>
            </a:extLst>
          </p:cNvPr>
          <p:cNvSpPr>
            <a:spLocks noGrp="1"/>
          </p:cNvSpPr>
          <p:nvPr/>
        </p:nvSpPr>
        <p:spPr>
          <a:xfrm>
            <a:off x="4744720" y="5172024"/>
            <a:ext cx="1905000" cy="679450"/>
          </a:xfrm>
          <a:prstGeom prst="rect">
            <a:avLst/>
          </a:prstGeom>
          <a:noFill/>
          <a:ln w="9525">
            <a:noFill/>
          </a:ln>
        </p:spPr>
        <p:txBody>
          <a:bodyPr>
            <a:noAutofit/>
          </a:bodyPr>
          <a:lstStyle/>
          <a:p>
            <a:pPr>
              <a:defRPr sz="2175" b="1">
                <a:solidFill>
                  <a:srgbClr val="12283B"/>
                </a:solidFill>
                <a:latin typeface="Arial"/>
                <a:ea typeface="Arial"/>
                <a:cs typeface="Arial"/>
              </a:defRPr>
            </a:pPr>
            <a:r>
              <a:rPr lang="en-US" sz="1600" b="1" dirty="0">
                <a:solidFill>
                  <a:srgbClr val="12283B"/>
                </a:solidFill>
                <a:latin typeface="Arial"/>
                <a:ea typeface="Arial"/>
                <a:cs typeface="Arial"/>
              </a:rPr>
              <a:t>Estimate relative position</a:t>
            </a:r>
            <a:endParaRPr sz="1600" b="1" dirty="0">
              <a:solidFill>
                <a:srgbClr val="12283B"/>
              </a:solidFill>
              <a:latin typeface="Arial"/>
              <a:ea typeface="Arial"/>
              <a:cs typeface="Arial"/>
            </a:endParaRPr>
          </a:p>
        </p:txBody>
      </p:sp>
      <p:sp>
        <p:nvSpPr>
          <p:cNvPr id="45" name="Arrow: Chevron 44">
            <a:extLst>
              <a:ext uri="{FF2B5EF4-FFF2-40B4-BE49-F238E27FC236}">
                <a16:creationId xmlns:a16="http://schemas.microsoft.com/office/drawing/2014/main" id="{2827725F-1F8E-BD68-1596-7E524BAF761A}"/>
              </a:ext>
            </a:extLst>
          </p:cNvPr>
          <p:cNvSpPr>
            <a:spLocks noGrp="1"/>
          </p:cNvSpPr>
          <p:nvPr/>
        </p:nvSpPr>
        <p:spPr>
          <a:xfrm>
            <a:off x="6694170" y="5390231"/>
            <a:ext cx="304800" cy="228600"/>
          </a:xfrm>
          <a:prstGeom prst="chevron">
            <a:avLst/>
          </a:prstGeom>
          <a:solidFill>
            <a:srgbClr val="007F82"/>
          </a:solidFill>
          <a:ln w="9525">
            <a:solidFill>
              <a:srgbClr val="007F82"/>
            </a:solidFill>
          </a:ln>
        </p:spPr>
        <p:txBody>
          <a:bodyPr/>
          <a:lstStyle/>
          <a:p>
            <a:endParaRPr lang="zh-CN" altLang="en-US"/>
          </a:p>
        </p:txBody>
      </p:sp>
      <p:sp>
        <p:nvSpPr>
          <p:cNvPr id="47" name="Rectangle 46">
            <a:extLst>
              <a:ext uri="{FF2B5EF4-FFF2-40B4-BE49-F238E27FC236}">
                <a16:creationId xmlns:a16="http://schemas.microsoft.com/office/drawing/2014/main" id="{EF7E460F-1E0B-C379-206D-CF6C2D3B1B78}"/>
              </a:ext>
            </a:extLst>
          </p:cNvPr>
          <p:cNvSpPr>
            <a:spLocks noGrp="1"/>
          </p:cNvSpPr>
          <p:nvPr/>
        </p:nvSpPr>
        <p:spPr>
          <a:xfrm>
            <a:off x="9075420" y="4866488"/>
            <a:ext cx="685800" cy="400050"/>
          </a:xfrm>
          <a:prstGeom prst="rect">
            <a:avLst/>
          </a:prstGeom>
          <a:noFill/>
          <a:ln w="9525">
            <a:noFill/>
          </a:ln>
        </p:spPr>
        <p:txBody>
          <a:bodyPr>
            <a:noAutofit/>
          </a:bodyPr>
          <a:lstStyle/>
          <a:p>
            <a:pPr>
              <a:defRPr sz="2025" b="1">
                <a:solidFill>
                  <a:srgbClr val="007F82"/>
                </a:solidFill>
                <a:latin typeface="Arial"/>
                <a:ea typeface="Arial"/>
                <a:cs typeface="Arial"/>
              </a:defRPr>
            </a:pPr>
            <a:r>
              <a:rPr lang="en-US" altLang="zh-CN" sz="2025" b="1" dirty="0">
                <a:solidFill>
                  <a:srgbClr val="007F82"/>
                </a:solidFill>
                <a:latin typeface="Arial"/>
                <a:ea typeface="Arial"/>
                <a:cs typeface="Arial"/>
              </a:rPr>
              <a:t>05</a:t>
            </a:r>
            <a:endParaRPr sz="2025" b="1" dirty="0">
              <a:solidFill>
                <a:srgbClr val="007F82"/>
              </a:solidFill>
              <a:latin typeface="Arial"/>
              <a:ea typeface="Arial"/>
              <a:cs typeface="Arial"/>
            </a:endParaRPr>
          </a:p>
        </p:txBody>
      </p:sp>
      <p:sp>
        <p:nvSpPr>
          <p:cNvPr id="49" name="Rectangle 48">
            <a:extLst>
              <a:ext uri="{FF2B5EF4-FFF2-40B4-BE49-F238E27FC236}">
                <a16:creationId xmlns:a16="http://schemas.microsoft.com/office/drawing/2014/main" id="{8A34F848-6455-1A3E-0C64-78AED4DF41E3}"/>
              </a:ext>
            </a:extLst>
          </p:cNvPr>
          <p:cNvSpPr>
            <a:spLocks noGrp="1"/>
          </p:cNvSpPr>
          <p:nvPr/>
        </p:nvSpPr>
        <p:spPr>
          <a:xfrm>
            <a:off x="425451" y="6064986"/>
            <a:ext cx="9193199" cy="496738"/>
          </a:xfrm>
          <a:prstGeom prst="rect">
            <a:avLst/>
          </a:prstGeom>
          <a:solidFill>
            <a:srgbClr val="E7F2F2"/>
          </a:solidFill>
          <a:ln w="9525">
            <a:solidFill>
              <a:srgbClr val="E7F2F2"/>
            </a:solidFill>
          </a:ln>
        </p:spPr>
        <p:txBody>
          <a:bodyPr/>
          <a:lstStyle/>
          <a:p>
            <a:endParaRPr lang="zh-CN" altLang="en-US"/>
          </a:p>
        </p:txBody>
      </p:sp>
      <p:sp>
        <p:nvSpPr>
          <p:cNvPr id="51" name="Rectangle 50">
            <a:extLst>
              <a:ext uri="{FF2B5EF4-FFF2-40B4-BE49-F238E27FC236}">
                <a16:creationId xmlns:a16="http://schemas.microsoft.com/office/drawing/2014/main" id="{EF7737D7-40D7-DF0E-85B8-249C0AF47871}"/>
              </a:ext>
            </a:extLst>
          </p:cNvPr>
          <p:cNvSpPr>
            <a:spLocks noGrp="1"/>
          </p:cNvSpPr>
          <p:nvPr/>
        </p:nvSpPr>
        <p:spPr>
          <a:xfrm>
            <a:off x="615950" y="6098276"/>
            <a:ext cx="8268970" cy="523875"/>
          </a:xfrm>
          <a:prstGeom prst="rect">
            <a:avLst/>
          </a:prstGeom>
          <a:noFill/>
          <a:ln w="9525">
            <a:noFill/>
          </a:ln>
        </p:spPr>
        <p:txBody>
          <a:bodyPr>
            <a:noAutofit/>
          </a:bodyPr>
          <a:lstStyle/>
          <a:p>
            <a:pPr>
              <a:defRPr sz="2025" b="1">
                <a:solidFill>
                  <a:srgbClr val="007F82"/>
                </a:solidFill>
                <a:latin typeface="Arial"/>
                <a:ea typeface="Arial"/>
                <a:cs typeface="Arial"/>
              </a:defRPr>
            </a:pPr>
            <a:r>
              <a:rPr lang="en-US" b="1" dirty="0">
                <a:solidFill>
                  <a:srgbClr val="007F82"/>
                </a:solidFill>
                <a:latin typeface="Arial"/>
                <a:ea typeface="Arial"/>
                <a:cs typeface="Arial"/>
              </a:rPr>
              <a:t>Required output: A 2D occupancy map and a target list</a:t>
            </a:r>
            <a:endParaRPr b="1" dirty="0">
              <a:solidFill>
                <a:srgbClr val="007F82"/>
              </a:solidFill>
              <a:latin typeface="Arial"/>
              <a:ea typeface="Arial"/>
              <a:cs typeface="Arial"/>
            </a:endParaRPr>
          </a:p>
        </p:txBody>
      </p:sp>
    </p:spTree>
    <p:extLst>
      <p:ext uri="{BB962C8B-B14F-4D97-AF65-F5344CB8AC3E}">
        <p14:creationId xmlns:p14="http://schemas.microsoft.com/office/powerpoint/2010/main" val="339244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72519E7-0F46-4872-8DDC-140739F9FD0F}"/>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2A   Multi-robot rescue</a:t>
            </a:r>
          </a:p>
        </p:txBody>
      </p:sp>
      <p:sp>
        <p:nvSpPr>
          <p:cNvPr id="3" name="Rectangle 2">
            <a:extLst>
              <a:ext uri="{FF2B5EF4-FFF2-40B4-BE49-F238E27FC236}">
                <a16:creationId xmlns:a16="http://schemas.microsoft.com/office/drawing/2014/main" id="{53AC12DC-1C8D-497E-80D1-F5460CBB6577}"/>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08</a:t>
            </a:r>
          </a:p>
        </p:txBody>
      </p:sp>
      <p:sp>
        <p:nvSpPr>
          <p:cNvPr id="17" name="Shape 2">
            <a:extLst>
              <a:ext uri="{FF2B5EF4-FFF2-40B4-BE49-F238E27FC236}">
                <a16:creationId xmlns:a16="http://schemas.microsoft.com/office/drawing/2014/main" id="{F9AA633B-4D71-068F-3507-F573DDBB5B36}"/>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19" name="Rectangle 18">
            <a:extLst>
              <a:ext uri="{FF2B5EF4-FFF2-40B4-BE49-F238E27FC236}">
                <a16:creationId xmlns:a16="http://schemas.microsoft.com/office/drawing/2014/main" id="{B03E80A9-086A-D91B-EBA7-5F74A0130D79}"/>
              </a:ext>
            </a:extLst>
          </p:cNvPr>
          <p:cNvSpPr>
            <a:spLocks noGrp="1"/>
          </p:cNvSpPr>
          <p:nvPr/>
        </p:nvSpPr>
        <p:spPr>
          <a:xfrm>
            <a:off x="425450" y="1285876"/>
            <a:ext cx="11290300" cy="1066798"/>
          </a:xfrm>
          <a:prstGeom prst="rect">
            <a:avLst/>
          </a:prstGeom>
          <a:noFill/>
          <a:ln w="9525">
            <a:noFill/>
          </a:ln>
        </p:spPr>
        <p:txBody>
          <a:bodyPr>
            <a:noAutofit/>
          </a:bodyPr>
          <a:lstStyle/>
          <a:p>
            <a:pPr algn="just">
              <a:spcAft>
                <a:spcPts val="600"/>
              </a:spcAft>
            </a:pPr>
            <a:r>
              <a:rPr lang="en-US" altLang="zh-CN" dirty="0"/>
              <a:t>Task 2 uses the unified map and target list generated in Task 1. Multiple robots cooperate to complete rescue tasks. Teams may use </a:t>
            </a:r>
            <a:r>
              <a:rPr lang="en-US" altLang="zh-CN" b="1" dirty="0"/>
              <a:t>up to four</a:t>
            </a:r>
            <a:r>
              <a:rPr lang="en-US" altLang="zh-CN" dirty="0"/>
              <a:t> robots and use the </a:t>
            </a:r>
            <a:r>
              <a:rPr lang="en-US" altLang="zh-CN" b="1" dirty="0"/>
              <a:t>organizer-provided edge node </a:t>
            </a:r>
            <a:r>
              <a:rPr lang="en-US" altLang="zh-CN" dirty="0"/>
              <a:t>for global state aggregation, task planning, and multi-robot coordination.</a:t>
            </a:r>
            <a:endParaRPr lang="en-US" altLang="zh-CN" sz="2000" dirty="0"/>
          </a:p>
        </p:txBody>
      </p:sp>
      <p:sp>
        <p:nvSpPr>
          <p:cNvPr id="21" name="Shape 2">
            <a:extLst>
              <a:ext uri="{FF2B5EF4-FFF2-40B4-BE49-F238E27FC236}">
                <a16:creationId xmlns:a16="http://schemas.microsoft.com/office/drawing/2014/main" id="{446E0FED-2D22-BA12-C222-38DF4ACCA179}"/>
              </a:ext>
            </a:extLst>
          </p:cNvPr>
          <p:cNvSpPr/>
          <p:nvPr/>
        </p:nvSpPr>
        <p:spPr>
          <a:xfrm>
            <a:off x="571500" y="2345341"/>
            <a:ext cx="2971800" cy="2057400"/>
          </a:xfrm>
          <a:prstGeom prst="roundRect">
            <a:avLst>
              <a:gd name="adj" fmla="val 3556"/>
            </a:avLst>
          </a:prstGeom>
          <a:solidFill>
            <a:srgbClr val="EAF2FB"/>
          </a:solidFill>
          <a:ln w="15240">
            <a:solidFill>
              <a:srgbClr val="BCD1EA"/>
            </a:solidFill>
            <a:prstDash val="solid"/>
          </a:ln>
        </p:spPr>
        <p:txBody>
          <a:bodyPr/>
          <a:lstStyle/>
          <a:p>
            <a:endParaRPr lang="zh-CN" altLang="en-US"/>
          </a:p>
        </p:txBody>
      </p:sp>
      <p:sp>
        <p:nvSpPr>
          <p:cNvPr id="23" name="Text 3">
            <a:extLst>
              <a:ext uri="{FF2B5EF4-FFF2-40B4-BE49-F238E27FC236}">
                <a16:creationId xmlns:a16="http://schemas.microsoft.com/office/drawing/2014/main" id="{AF4D050D-1AE8-B20A-09D0-7420ED5A779F}"/>
              </a:ext>
            </a:extLst>
          </p:cNvPr>
          <p:cNvSpPr/>
          <p:nvPr/>
        </p:nvSpPr>
        <p:spPr>
          <a:xfrm>
            <a:off x="736092" y="2455069"/>
            <a:ext cx="2642616" cy="292608"/>
          </a:xfrm>
          <a:prstGeom prst="rect">
            <a:avLst/>
          </a:prstGeom>
          <a:noFill/>
          <a:ln/>
        </p:spPr>
        <p:txBody>
          <a:bodyPr wrap="square" lIns="0" tIns="0" rIns="0" bIns="0" rtlCol="0" anchor="ctr"/>
          <a:lstStyle/>
          <a:p>
            <a:pPr marL="0" indent="0">
              <a:buNone/>
            </a:pPr>
            <a:r>
              <a:rPr lang="en-US" sz="1600" b="1" dirty="0">
                <a:solidFill>
                  <a:srgbClr val="183B66"/>
                </a:solidFill>
              </a:rPr>
              <a:t>Task 1 Outputs</a:t>
            </a:r>
            <a:endParaRPr lang="en-US" sz="1600" dirty="0"/>
          </a:p>
        </p:txBody>
      </p:sp>
      <p:sp>
        <p:nvSpPr>
          <p:cNvPr id="25" name="Shape 4">
            <a:extLst>
              <a:ext uri="{FF2B5EF4-FFF2-40B4-BE49-F238E27FC236}">
                <a16:creationId xmlns:a16="http://schemas.microsoft.com/office/drawing/2014/main" id="{C339A3B2-C807-4448-D991-C8A85FAC0E6E}"/>
              </a:ext>
            </a:extLst>
          </p:cNvPr>
          <p:cNvSpPr/>
          <p:nvPr/>
        </p:nvSpPr>
        <p:spPr>
          <a:xfrm>
            <a:off x="800100" y="2848261"/>
            <a:ext cx="1051560" cy="822960"/>
          </a:xfrm>
          <a:prstGeom prst="rect">
            <a:avLst/>
          </a:prstGeom>
          <a:solidFill>
            <a:srgbClr val="FFFFFF"/>
          </a:solidFill>
          <a:ln w="12700">
            <a:solidFill>
              <a:srgbClr val="93A9BE"/>
            </a:solidFill>
            <a:prstDash val="solid"/>
          </a:ln>
        </p:spPr>
        <p:txBody>
          <a:bodyPr/>
          <a:lstStyle/>
          <a:p>
            <a:endParaRPr lang="zh-CN" altLang="en-US"/>
          </a:p>
        </p:txBody>
      </p:sp>
      <p:sp>
        <p:nvSpPr>
          <p:cNvPr id="27" name="Shape 5">
            <a:extLst>
              <a:ext uri="{FF2B5EF4-FFF2-40B4-BE49-F238E27FC236}">
                <a16:creationId xmlns:a16="http://schemas.microsoft.com/office/drawing/2014/main" id="{D398108D-2BBF-5EAE-A82C-73D2424590D0}"/>
              </a:ext>
            </a:extLst>
          </p:cNvPr>
          <p:cNvSpPr/>
          <p:nvPr/>
        </p:nvSpPr>
        <p:spPr>
          <a:xfrm>
            <a:off x="1147572" y="2848261"/>
            <a:ext cx="0" cy="502920"/>
          </a:xfrm>
          <a:prstGeom prst="line">
            <a:avLst/>
          </a:prstGeom>
          <a:noFill/>
          <a:ln w="25400">
            <a:solidFill>
              <a:srgbClr val="8798A8"/>
            </a:solidFill>
            <a:prstDash val="solid"/>
          </a:ln>
        </p:spPr>
        <p:txBody>
          <a:bodyPr/>
          <a:lstStyle/>
          <a:p>
            <a:endParaRPr lang="zh-CN" altLang="en-US"/>
          </a:p>
        </p:txBody>
      </p:sp>
      <p:sp>
        <p:nvSpPr>
          <p:cNvPr id="29" name="Shape 6">
            <a:extLst>
              <a:ext uri="{FF2B5EF4-FFF2-40B4-BE49-F238E27FC236}">
                <a16:creationId xmlns:a16="http://schemas.microsoft.com/office/drawing/2014/main" id="{A6863D89-F584-97F4-6914-1CFC87870A77}"/>
              </a:ext>
            </a:extLst>
          </p:cNvPr>
          <p:cNvSpPr/>
          <p:nvPr/>
        </p:nvSpPr>
        <p:spPr>
          <a:xfrm>
            <a:off x="1147572" y="3351181"/>
            <a:ext cx="411480" cy="0"/>
          </a:xfrm>
          <a:prstGeom prst="line">
            <a:avLst/>
          </a:prstGeom>
          <a:noFill/>
          <a:ln w="25400">
            <a:solidFill>
              <a:srgbClr val="8798A8"/>
            </a:solidFill>
            <a:prstDash val="solid"/>
          </a:ln>
        </p:spPr>
        <p:txBody>
          <a:bodyPr/>
          <a:lstStyle/>
          <a:p>
            <a:endParaRPr lang="zh-CN" altLang="en-US"/>
          </a:p>
        </p:txBody>
      </p:sp>
      <p:sp>
        <p:nvSpPr>
          <p:cNvPr id="31" name="Shape 7">
            <a:extLst>
              <a:ext uri="{FF2B5EF4-FFF2-40B4-BE49-F238E27FC236}">
                <a16:creationId xmlns:a16="http://schemas.microsoft.com/office/drawing/2014/main" id="{0B15EC3F-B83E-3BA6-6E71-1AF289A60EA9}"/>
              </a:ext>
            </a:extLst>
          </p:cNvPr>
          <p:cNvSpPr/>
          <p:nvPr/>
        </p:nvSpPr>
        <p:spPr>
          <a:xfrm>
            <a:off x="1467612" y="3012853"/>
            <a:ext cx="164592" cy="164592"/>
          </a:xfrm>
          <a:prstGeom prst="rect">
            <a:avLst/>
          </a:prstGeom>
          <a:solidFill>
            <a:srgbClr val="FFF1E4"/>
          </a:solidFill>
          <a:ln w="12700">
            <a:solidFill>
              <a:srgbClr val="C97522"/>
            </a:solidFill>
            <a:prstDash val="solid"/>
          </a:ln>
        </p:spPr>
        <p:txBody>
          <a:bodyPr/>
          <a:lstStyle/>
          <a:p>
            <a:endParaRPr lang="zh-CN" altLang="en-US"/>
          </a:p>
        </p:txBody>
      </p:sp>
      <p:sp>
        <p:nvSpPr>
          <p:cNvPr id="33" name="Text 8">
            <a:extLst>
              <a:ext uri="{FF2B5EF4-FFF2-40B4-BE49-F238E27FC236}">
                <a16:creationId xmlns:a16="http://schemas.microsoft.com/office/drawing/2014/main" id="{5DC18168-2D00-3F55-DD1E-5DD4AC00B995}"/>
              </a:ext>
            </a:extLst>
          </p:cNvPr>
          <p:cNvSpPr/>
          <p:nvPr/>
        </p:nvSpPr>
        <p:spPr>
          <a:xfrm>
            <a:off x="754380" y="3762661"/>
            <a:ext cx="1188720" cy="256032"/>
          </a:xfrm>
          <a:prstGeom prst="rect">
            <a:avLst/>
          </a:prstGeom>
          <a:noFill/>
          <a:ln/>
        </p:spPr>
        <p:txBody>
          <a:bodyPr wrap="square" lIns="0" tIns="0" rIns="0" bIns="0" rtlCol="0" anchor="ctr"/>
          <a:lstStyle/>
          <a:p>
            <a:pPr marL="0" indent="0" algn="ctr">
              <a:buNone/>
            </a:pPr>
            <a:r>
              <a:rPr lang="en-US" sz="1400" b="1" dirty="0">
                <a:solidFill>
                  <a:srgbClr val="263238"/>
                </a:solidFill>
              </a:rPr>
              <a:t>Unified Map</a:t>
            </a:r>
            <a:endParaRPr lang="en-US" sz="1400" dirty="0"/>
          </a:p>
        </p:txBody>
      </p:sp>
      <p:sp>
        <p:nvSpPr>
          <p:cNvPr id="35" name="Shape 9">
            <a:extLst>
              <a:ext uri="{FF2B5EF4-FFF2-40B4-BE49-F238E27FC236}">
                <a16:creationId xmlns:a16="http://schemas.microsoft.com/office/drawing/2014/main" id="{4765642A-DD9D-3159-99E2-DA9297EF44D6}"/>
              </a:ext>
            </a:extLst>
          </p:cNvPr>
          <p:cNvSpPr/>
          <p:nvPr/>
        </p:nvSpPr>
        <p:spPr>
          <a:xfrm>
            <a:off x="2125979" y="2829973"/>
            <a:ext cx="1097280" cy="859536"/>
          </a:xfrm>
          <a:prstGeom prst="rect">
            <a:avLst/>
          </a:prstGeom>
          <a:solidFill>
            <a:srgbClr val="FFFFFF"/>
          </a:solidFill>
          <a:ln w="12700">
            <a:solidFill>
              <a:srgbClr val="AAB7C4"/>
            </a:solidFill>
            <a:prstDash val="solid"/>
          </a:ln>
        </p:spPr>
        <p:txBody>
          <a:bodyPr/>
          <a:lstStyle/>
          <a:p>
            <a:endParaRPr lang="zh-CN" altLang="en-US"/>
          </a:p>
        </p:txBody>
      </p:sp>
      <p:sp>
        <p:nvSpPr>
          <p:cNvPr id="37" name="Text 10">
            <a:extLst>
              <a:ext uri="{FF2B5EF4-FFF2-40B4-BE49-F238E27FC236}">
                <a16:creationId xmlns:a16="http://schemas.microsoft.com/office/drawing/2014/main" id="{051D487E-4A0C-546C-29F0-1572AD6249CB}"/>
              </a:ext>
            </a:extLst>
          </p:cNvPr>
          <p:cNvSpPr/>
          <p:nvPr/>
        </p:nvSpPr>
        <p:spPr>
          <a:xfrm>
            <a:off x="2244852" y="2939701"/>
            <a:ext cx="868680" cy="576072"/>
          </a:xfrm>
          <a:prstGeom prst="rect">
            <a:avLst/>
          </a:prstGeom>
          <a:noFill/>
          <a:ln/>
        </p:spPr>
        <p:txBody>
          <a:bodyPr wrap="square" lIns="254" tIns="254" rIns="254" bIns="254" rtlCol="0" anchor="ctr"/>
          <a:lstStyle/>
          <a:p>
            <a:pPr marL="0" indent="0">
              <a:buNone/>
            </a:pPr>
            <a:r>
              <a:rPr lang="en-US" sz="1200" dirty="0"/>
              <a:t>ID   Type</a:t>
            </a:r>
          </a:p>
          <a:p>
            <a:r>
              <a:rPr lang="en-US" sz="1200" dirty="0"/>
              <a:t>T1   Normal</a:t>
            </a:r>
          </a:p>
          <a:p>
            <a:pPr marL="0" indent="0">
              <a:buNone/>
            </a:pPr>
            <a:r>
              <a:rPr lang="en-US" sz="1200" dirty="0"/>
              <a:t>TC1  Coop.</a:t>
            </a:r>
          </a:p>
        </p:txBody>
      </p:sp>
      <p:sp>
        <p:nvSpPr>
          <p:cNvPr id="39" name="Text 11">
            <a:extLst>
              <a:ext uri="{FF2B5EF4-FFF2-40B4-BE49-F238E27FC236}">
                <a16:creationId xmlns:a16="http://schemas.microsoft.com/office/drawing/2014/main" id="{C680D191-66B5-7D97-237A-D76258FF5D84}"/>
              </a:ext>
            </a:extLst>
          </p:cNvPr>
          <p:cNvSpPr/>
          <p:nvPr/>
        </p:nvSpPr>
        <p:spPr>
          <a:xfrm>
            <a:off x="2061972" y="3762661"/>
            <a:ext cx="1234440" cy="256032"/>
          </a:xfrm>
          <a:prstGeom prst="rect">
            <a:avLst/>
          </a:prstGeom>
          <a:noFill/>
          <a:ln/>
        </p:spPr>
        <p:txBody>
          <a:bodyPr wrap="square" lIns="0" tIns="0" rIns="0" bIns="0" rtlCol="0" anchor="ctr"/>
          <a:lstStyle/>
          <a:p>
            <a:pPr marL="0" indent="0" algn="ctr">
              <a:buNone/>
            </a:pPr>
            <a:r>
              <a:rPr lang="en-US" sz="1400" b="1" dirty="0">
                <a:solidFill>
                  <a:srgbClr val="263238"/>
                </a:solidFill>
              </a:rPr>
              <a:t>Target List</a:t>
            </a:r>
            <a:endParaRPr lang="en-US" sz="1400" dirty="0"/>
          </a:p>
        </p:txBody>
      </p:sp>
      <p:sp>
        <p:nvSpPr>
          <p:cNvPr id="41" name="Text 12">
            <a:extLst>
              <a:ext uri="{FF2B5EF4-FFF2-40B4-BE49-F238E27FC236}">
                <a16:creationId xmlns:a16="http://schemas.microsoft.com/office/drawing/2014/main" id="{BCA01572-A675-31A0-2BB3-8395F39A867A}"/>
              </a:ext>
            </a:extLst>
          </p:cNvPr>
          <p:cNvSpPr/>
          <p:nvPr/>
        </p:nvSpPr>
        <p:spPr>
          <a:xfrm>
            <a:off x="845820" y="4110133"/>
            <a:ext cx="2377440" cy="219456"/>
          </a:xfrm>
          <a:prstGeom prst="rect">
            <a:avLst/>
          </a:prstGeom>
          <a:noFill/>
          <a:ln/>
        </p:spPr>
        <p:txBody>
          <a:bodyPr wrap="square" lIns="0" tIns="0" rIns="0" bIns="0" rtlCol="0" anchor="ctr"/>
          <a:lstStyle/>
          <a:p>
            <a:pPr marL="0" indent="0" algn="ctr">
              <a:buNone/>
            </a:pPr>
            <a:r>
              <a:rPr lang="en-US" sz="1050" dirty="0">
                <a:solidFill>
                  <a:srgbClr val="64748B"/>
                </a:solidFill>
              </a:rPr>
              <a:t>Map + target information from Task 1</a:t>
            </a:r>
            <a:endParaRPr lang="en-US" sz="1050" dirty="0"/>
          </a:p>
        </p:txBody>
      </p:sp>
      <p:sp>
        <p:nvSpPr>
          <p:cNvPr id="43" name="Shape 38">
            <a:extLst>
              <a:ext uri="{FF2B5EF4-FFF2-40B4-BE49-F238E27FC236}">
                <a16:creationId xmlns:a16="http://schemas.microsoft.com/office/drawing/2014/main" id="{911D1636-92E5-E310-F36F-5885B1FD0130}"/>
              </a:ext>
            </a:extLst>
          </p:cNvPr>
          <p:cNvSpPr/>
          <p:nvPr/>
        </p:nvSpPr>
        <p:spPr>
          <a:xfrm>
            <a:off x="3703319" y="3113437"/>
            <a:ext cx="384048" cy="475488"/>
          </a:xfrm>
          <a:prstGeom prst="chevron">
            <a:avLst/>
          </a:prstGeom>
          <a:solidFill>
            <a:srgbClr val="2F6FB0"/>
          </a:solidFill>
          <a:ln w="12700">
            <a:solidFill>
              <a:srgbClr val="2F6FB0"/>
            </a:solidFill>
            <a:prstDash val="solid"/>
          </a:ln>
        </p:spPr>
        <p:txBody>
          <a:bodyPr/>
          <a:lstStyle/>
          <a:p>
            <a:endParaRPr lang="zh-CN" altLang="en-US"/>
          </a:p>
        </p:txBody>
      </p:sp>
      <p:sp>
        <p:nvSpPr>
          <p:cNvPr id="45" name="Shape 13">
            <a:extLst>
              <a:ext uri="{FF2B5EF4-FFF2-40B4-BE49-F238E27FC236}">
                <a16:creationId xmlns:a16="http://schemas.microsoft.com/office/drawing/2014/main" id="{B706DB9F-D102-4EA4-E360-681AE08F18A5}"/>
              </a:ext>
            </a:extLst>
          </p:cNvPr>
          <p:cNvSpPr/>
          <p:nvPr/>
        </p:nvSpPr>
        <p:spPr>
          <a:xfrm>
            <a:off x="4247386" y="2345341"/>
            <a:ext cx="3975864" cy="2171259"/>
          </a:xfrm>
          <a:prstGeom prst="roundRect">
            <a:avLst>
              <a:gd name="adj" fmla="val 2500"/>
            </a:avLst>
          </a:prstGeom>
          <a:solidFill>
            <a:srgbClr val="FFF1E4"/>
          </a:solidFill>
          <a:ln w="15240">
            <a:solidFill>
              <a:srgbClr val="F0C69A"/>
            </a:solidFill>
            <a:prstDash val="solid"/>
          </a:ln>
        </p:spPr>
        <p:txBody>
          <a:bodyPr/>
          <a:lstStyle/>
          <a:p>
            <a:endParaRPr lang="zh-CN" altLang="en-US"/>
          </a:p>
        </p:txBody>
      </p:sp>
      <p:sp>
        <p:nvSpPr>
          <p:cNvPr id="47" name="Text 14">
            <a:extLst>
              <a:ext uri="{FF2B5EF4-FFF2-40B4-BE49-F238E27FC236}">
                <a16:creationId xmlns:a16="http://schemas.microsoft.com/office/drawing/2014/main" id="{E8CD8497-5686-4299-67B9-C3335B0BBB0D}"/>
              </a:ext>
            </a:extLst>
          </p:cNvPr>
          <p:cNvSpPr/>
          <p:nvPr/>
        </p:nvSpPr>
        <p:spPr>
          <a:xfrm>
            <a:off x="4411978" y="2400205"/>
            <a:ext cx="3419856" cy="292608"/>
          </a:xfrm>
          <a:prstGeom prst="rect">
            <a:avLst/>
          </a:prstGeom>
          <a:noFill/>
          <a:ln/>
        </p:spPr>
        <p:txBody>
          <a:bodyPr wrap="square" lIns="0" tIns="0" rIns="0" bIns="0" rtlCol="0" anchor="ctr"/>
          <a:lstStyle/>
          <a:p>
            <a:pPr marL="0" indent="0">
              <a:buNone/>
            </a:pPr>
            <a:r>
              <a:rPr lang="en-US" sz="1600" b="1" dirty="0">
                <a:solidFill>
                  <a:srgbClr val="C97522"/>
                </a:solidFill>
              </a:rPr>
              <a:t>Edge Node</a:t>
            </a:r>
            <a:endParaRPr lang="en-US" sz="1600" dirty="0"/>
          </a:p>
        </p:txBody>
      </p:sp>
      <p:sp>
        <p:nvSpPr>
          <p:cNvPr id="79" name="Text 65">
            <a:extLst>
              <a:ext uri="{FF2B5EF4-FFF2-40B4-BE49-F238E27FC236}">
                <a16:creationId xmlns:a16="http://schemas.microsoft.com/office/drawing/2014/main" id="{B98FC86C-486C-9618-989B-4B71C538EBF5}"/>
              </a:ext>
            </a:extLst>
          </p:cNvPr>
          <p:cNvSpPr/>
          <p:nvPr/>
        </p:nvSpPr>
        <p:spPr>
          <a:xfrm>
            <a:off x="8143750" y="3817525"/>
            <a:ext cx="1417320" cy="201168"/>
          </a:xfrm>
          <a:prstGeom prst="rect">
            <a:avLst/>
          </a:prstGeom>
          <a:noFill/>
          <a:ln/>
        </p:spPr>
        <p:txBody>
          <a:bodyPr wrap="square" lIns="0" tIns="0" rIns="0" bIns="0" rtlCol="0" anchor="ctr"/>
          <a:lstStyle/>
          <a:p>
            <a:pPr marL="0" indent="0" algn="ctr">
              <a:buNone/>
            </a:pPr>
            <a:r>
              <a:rPr lang="en-US" sz="1400" b="1" dirty="0">
                <a:solidFill>
                  <a:srgbClr val="2F6FB0"/>
                </a:solidFill>
              </a:rPr>
              <a:t>Task assignments</a:t>
            </a:r>
            <a:endParaRPr lang="en-US" sz="1400" dirty="0"/>
          </a:p>
        </p:txBody>
      </p:sp>
      <p:sp>
        <p:nvSpPr>
          <p:cNvPr id="81" name="Text 67">
            <a:extLst>
              <a:ext uri="{FF2B5EF4-FFF2-40B4-BE49-F238E27FC236}">
                <a16:creationId xmlns:a16="http://schemas.microsoft.com/office/drawing/2014/main" id="{9F920C34-5441-9FF9-82F5-8DB2F8E8D9A0}"/>
              </a:ext>
            </a:extLst>
          </p:cNvPr>
          <p:cNvSpPr/>
          <p:nvPr/>
        </p:nvSpPr>
        <p:spPr>
          <a:xfrm>
            <a:off x="8143750" y="2803906"/>
            <a:ext cx="1417320" cy="201168"/>
          </a:xfrm>
          <a:prstGeom prst="rect">
            <a:avLst/>
          </a:prstGeom>
          <a:noFill/>
          <a:ln/>
        </p:spPr>
        <p:txBody>
          <a:bodyPr wrap="square" lIns="0" tIns="0" rIns="0" bIns="0" rtlCol="0" anchor="ctr"/>
          <a:lstStyle/>
          <a:p>
            <a:pPr marL="0" indent="0" algn="ctr">
              <a:buNone/>
            </a:pPr>
            <a:r>
              <a:rPr lang="en-US" sz="1400" b="1" dirty="0">
                <a:solidFill>
                  <a:srgbClr val="2F8B57"/>
                </a:solidFill>
              </a:rPr>
              <a:t>State / progress</a:t>
            </a:r>
            <a:endParaRPr lang="en-US" sz="1400" dirty="0"/>
          </a:p>
        </p:txBody>
      </p:sp>
      <p:sp>
        <p:nvSpPr>
          <p:cNvPr id="85" name="Text 6">
            <a:extLst>
              <a:ext uri="{FF2B5EF4-FFF2-40B4-BE49-F238E27FC236}">
                <a16:creationId xmlns:a16="http://schemas.microsoft.com/office/drawing/2014/main" id="{9E65A254-E2BB-8D7E-C2E3-4A143EB644D9}"/>
              </a:ext>
            </a:extLst>
          </p:cNvPr>
          <p:cNvSpPr/>
          <p:nvPr/>
        </p:nvSpPr>
        <p:spPr>
          <a:xfrm>
            <a:off x="4411978" y="2593118"/>
            <a:ext cx="3612135" cy="1923482"/>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en-US" altLang="zh-CN" sz="1400" b="1" dirty="0"/>
              <a:t>Task planning </a:t>
            </a:r>
            <a:r>
              <a:rPr lang="en-US" altLang="zh-CN" sz="1400" dirty="0"/>
              <a:t>– What should be done next?</a:t>
            </a:r>
          </a:p>
          <a:p>
            <a:pPr marL="285750" lvl="0" indent="-285750">
              <a:spcAft>
                <a:spcPts val="600"/>
              </a:spcAft>
              <a:buFont typeface="Wingdings" panose="05000000000000000000" pitchFamily="2" charset="2"/>
              <a:buChar char="l"/>
            </a:pPr>
            <a:r>
              <a:rPr lang="en-US" altLang="zh-CN" sz="1400" b="1" dirty="0"/>
              <a:t>Robot allocation </a:t>
            </a:r>
            <a:r>
              <a:rPr lang="en-US" altLang="zh-CN" sz="1400" dirty="0"/>
              <a:t>– Which robot(s) should do it?</a:t>
            </a:r>
          </a:p>
          <a:p>
            <a:pPr marL="285750" lvl="0" indent="-285750">
              <a:spcAft>
                <a:spcPts val="600"/>
              </a:spcAft>
              <a:buFont typeface="Wingdings" panose="05000000000000000000" pitchFamily="2" charset="2"/>
              <a:buChar char="l"/>
            </a:pPr>
            <a:r>
              <a:rPr lang="en-US" altLang="zh-CN" sz="1400" b="1" dirty="0"/>
              <a:t>Coordination</a:t>
            </a:r>
            <a:r>
              <a:rPr lang="en-US" altLang="zh-CN" sz="1400" dirty="0"/>
              <a:t> – How should robots cooperate?</a:t>
            </a:r>
            <a:endParaRPr lang="zh-CN" altLang="zh-CN" sz="1400" dirty="0"/>
          </a:p>
          <a:p>
            <a:pPr marL="285750" lvl="0" indent="-285750">
              <a:spcAft>
                <a:spcPts val="600"/>
              </a:spcAft>
              <a:buFont typeface="Wingdings" panose="05000000000000000000" pitchFamily="2" charset="2"/>
              <a:buChar char="l"/>
            </a:pPr>
            <a:r>
              <a:rPr lang="en-US" altLang="zh-CN" sz="1400" b="1" dirty="0"/>
              <a:t>Global state </a:t>
            </a:r>
            <a:r>
              <a:rPr lang="en-US" altLang="zh-CN" sz="1400" dirty="0"/>
              <a:t>– Track progress and update plans</a:t>
            </a:r>
            <a:endParaRPr lang="zh-CN" altLang="zh-CN" sz="1400" dirty="0"/>
          </a:p>
        </p:txBody>
      </p:sp>
      <p:sp>
        <p:nvSpPr>
          <p:cNvPr id="87" name="Shape 40">
            <a:extLst>
              <a:ext uri="{FF2B5EF4-FFF2-40B4-BE49-F238E27FC236}">
                <a16:creationId xmlns:a16="http://schemas.microsoft.com/office/drawing/2014/main" id="{CD814CA4-A84D-5D89-9F93-ECB6EB64593C}"/>
              </a:ext>
            </a:extLst>
          </p:cNvPr>
          <p:cNvSpPr/>
          <p:nvPr/>
        </p:nvSpPr>
        <p:spPr>
          <a:xfrm>
            <a:off x="9481569" y="2175289"/>
            <a:ext cx="2110740" cy="2868010"/>
          </a:xfrm>
          <a:prstGeom prst="roundRect">
            <a:avLst>
              <a:gd name="adj" fmla="val 4118"/>
            </a:avLst>
          </a:prstGeom>
          <a:solidFill>
            <a:srgbClr val="F5FAF7"/>
          </a:solidFill>
          <a:ln w="15240">
            <a:solidFill>
              <a:srgbClr val="CFE5D6"/>
            </a:solidFill>
            <a:prstDash val="solid"/>
          </a:ln>
        </p:spPr>
        <p:txBody>
          <a:bodyPr/>
          <a:lstStyle/>
          <a:p>
            <a:endParaRPr lang="zh-CN" altLang="en-US"/>
          </a:p>
        </p:txBody>
      </p:sp>
      <p:sp>
        <p:nvSpPr>
          <p:cNvPr id="89" name="Text 41">
            <a:extLst>
              <a:ext uri="{FF2B5EF4-FFF2-40B4-BE49-F238E27FC236}">
                <a16:creationId xmlns:a16="http://schemas.microsoft.com/office/drawing/2014/main" id="{C030EAF7-DAF9-47FC-E338-9F649A62F036}"/>
              </a:ext>
            </a:extLst>
          </p:cNvPr>
          <p:cNvSpPr/>
          <p:nvPr/>
        </p:nvSpPr>
        <p:spPr>
          <a:xfrm>
            <a:off x="9568182" y="2272189"/>
            <a:ext cx="1576068" cy="256032"/>
          </a:xfrm>
          <a:prstGeom prst="rect">
            <a:avLst/>
          </a:prstGeom>
          <a:noFill/>
          <a:ln/>
        </p:spPr>
        <p:txBody>
          <a:bodyPr wrap="square" lIns="0" tIns="0" rIns="0" bIns="0" rtlCol="0" anchor="ctr"/>
          <a:lstStyle/>
          <a:p>
            <a:pPr marL="0" indent="0">
              <a:buNone/>
            </a:pPr>
            <a:r>
              <a:rPr lang="en-US" sz="1500" b="1" dirty="0">
                <a:solidFill>
                  <a:srgbClr val="2F8B57"/>
                </a:solidFill>
              </a:rPr>
              <a:t>Multiple Robots</a:t>
            </a:r>
            <a:endParaRPr lang="en-US" sz="1500" dirty="0"/>
          </a:p>
        </p:txBody>
      </p:sp>
      <p:pic>
        <p:nvPicPr>
          <p:cNvPr id="91" name="Picture 90">
            <a:extLst>
              <a:ext uri="{FF2B5EF4-FFF2-40B4-BE49-F238E27FC236}">
                <a16:creationId xmlns:a16="http://schemas.microsoft.com/office/drawing/2014/main" id="{D7B95B7A-47E7-08CC-38F7-17CB1CCC4FAD}"/>
              </a:ext>
            </a:extLst>
          </p:cNvPr>
          <p:cNvPicPr>
            <a:picLocks noChangeAspect="1"/>
          </p:cNvPicPr>
          <p:nvPr/>
        </p:nvPicPr>
        <p:blipFill>
          <a:blip r:embed="rId3"/>
          <a:stretch>
            <a:fillRect/>
          </a:stretch>
        </p:blipFill>
        <p:spPr>
          <a:xfrm>
            <a:off x="9933777" y="2828376"/>
            <a:ext cx="495325" cy="552478"/>
          </a:xfrm>
          <a:prstGeom prst="rect">
            <a:avLst/>
          </a:prstGeom>
        </p:spPr>
      </p:pic>
      <p:pic>
        <p:nvPicPr>
          <p:cNvPr id="93" name="Picture 92">
            <a:extLst>
              <a:ext uri="{FF2B5EF4-FFF2-40B4-BE49-F238E27FC236}">
                <a16:creationId xmlns:a16="http://schemas.microsoft.com/office/drawing/2014/main" id="{64DD72AB-823F-C00B-A054-6DB174D6C053}"/>
              </a:ext>
            </a:extLst>
          </p:cNvPr>
          <p:cNvPicPr>
            <a:picLocks noChangeAspect="1"/>
          </p:cNvPicPr>
          <p:nvPr/>
        </p:nvPicPr>
        <p:blipFill>
          <a:blip r:embed="rId4"/>
          <a:stretch>
            <a:fillRect/>
          </a:stretch>
        </p:blipFill>
        <p:spPr>
          <a:xfrm>
            <a:off x="10623523" y="2795510"/>
            <a:ext cx="520727" cy="596931"/>
          </a:xfrm>
          <a:prstGeom prst="rect">
            <a:avLst/>
          </a:prstGeom>
        </p:spPr>
      </p:pic>
      <p:sp>
        <p:nvSpPr>
          <p:cNvPr id="95" name="Text 6">
            <a:extLst>
              <a:ext uri="{FF2B5EF4-FFF2-40B4-BE49-F238E27FC236}">
                <a16:creationId xmlns:a16="http://schemas.microsoft.com/office/drawing/2014/main" id="{0752832A-BB71-348D-E545-D7200A15E924}"/>
              </a:ext>
            </a:extLst>
          </p:cNvPr>
          <p:cNvSpPr/>
          <p:nvPr/>
        </p:nvSpPr>
        <p:spPr>
          <a:xfrm>
            <a:off x="9492742" y="3949160"/>
            <a:ext cx="2127758" cy="940755"/>
          </a:xfrm>
          <a:prstGeom prst="rect">
            <a:avLst/>
          </a:prstGeom>
          <a:noFill/>
          <a:ln/>
        </p:spPr>
        <p:txBody>
          <a:bodyPr wrap="square" lIns="254" tIns="254" rIns="254" bIns="254" rtlCol="0" anchor="ctr">
            <a:noAutofit/>
          </a:bodyPr>
          <a:lstStyle/>
          <a:p>
            <a:pPr algn="ctr"/>
            <a:r>
              <a:rPr lang="en-US" altLang="zh-CN" sz="1400" b="1" dirty="0">
                <a:solidFill>
                  <a:srgbClr val="183B66"/>
                </a:solidFill>
              </a:rPr>
              <a:t>Autonomous Navigation &amp; Rescue Execution (path planning, motion control, obstacle avoidance)</a:t>
            </a:r>
            <a:endParaRPr lang="en-US" altLang="zh-CN" sz="1400" dirty="0"/>
          </a:p>
        </p:txBody>
      </p:sp>
      <p:pic>
        <p:nvPicPr>
          <p:cNvPr id="97" name="Picture 96">
            <a:extLst>
              <a:ext uri="{FF2B5EF4-FFF2-40B4-BE49-F238E27FC236}">
                <a16:creationId xmlns:a16="http://schemas.microsoft.com/office/drawing/2014/main" id="{42401568-3B68-10B4-13AA-78D5D0CBFE83}"/>
              </a:ext>
            </a:extLst>
          </p:cNvPr>
          <p:cNvPicPr>
            <a:picLocks noChangeAspect="1"/>
          </p:cNvPicPr>
          <p:nvPr/>
        </p:nvPicPr>
        <p:blipFill>
          <a:blip r:embed="rId4"/>
          <a:stretch>
            <a:fillRect/>
          </a:stretch>
        </p:blipFill>
        <p:spPr>
          <a:xfrm>
            <a:off x="9908375" y="3421762"/>
            <a:ext cx="520727" cy="596931"/>
          </a:xfrm>
          <a:prstGeom prst="rect">
            <a:avLst/>
          </a:prstGeom>
        </p:spPr>
      </p:pic>
      <p:pic>
        <p:nvPicPr>
          <p:cNvPr id="101" name="Picture 100">
            <a:extLst>
              <a:ext uri="{FF2B5EF4-FFF2-40B4-BE49-F238E27FC236}">
                <a16:creationId xmlns:a16="http://schemas.microsoft.com/office/drawing/2014/main" id="{40D4278B-E17D-7A7B-BDD5-5850FB7CDBDD}"/>
              </a:ext>
            </a:extLst>
          </p:cNvPr>
          <p:cNvPicPr>
            <a:picLocks noChangeAspect="1"/>
          </p:cNvPicPr>
          <p:nvPr/>
        </p:nvPicPr>
        <p:blipFill>
          <a:blip r:embed="rId3"/>
          <a:stretch>
            <a:fillRect/>
          </a:stretch>
        </p:blipFill>
        <p:spPr>
          <a:xfrm>
            <a:off x="10623523" y="3455306"/>
            <a:ext cx="495325" cy="552478"/>
          </a:xfrm>
          <a:prstGeom prst="rect">
            <a:avLst/>
          </a:prstGeom>
        </p:spPr>
      </p:pic>
      <p:sp>
        <p:nvSpPr>
          <p:cNvPr id="103" name="Shape 66">
            <a:extLst>
              <a:ext uri="{FF2B5EF4-FFF2-40B4-BE49-F238E27FC236}">
                <a16:creationId xmlns:a16="http://schemas.microsoft.com/office/drawing/2014/main" id="{8F593996-3895-0C25-B368-C0A9F7631FDC}"/>
              </a:ext>
            </a:extLst>
          </p:cNvPr>
          <p:cNvSpPr/>
          <p:nvPr/>
        </p:nvSpPr>
        <p:spPr>
          <a:xfrm rot="16200000">
            <a:off x="8665051" y="2814477"/>
            <a:ext cx="276098" cy="725935"/>
          </a:xfrm>
          <a:prstGeom prst="upArrow">
            <a:avLst/>
          </a:prstGeom>
          <a:solidFill>
            <a:srgbClr val="2F8B57"/>
          </a:solidFill>
          <a:ln w="12700">
            <a:solidFill>
              <a:srgbClr val="2F8B57"/>
            </a:solidFill>
            <a:prstDash val="solid"/>
          </a:ln>
        </p:spPr>
        <p:txBody>
          <a:bodyPr/>
          <a:lstStyle/>
          <a:p>
            <a:endParaRPr lang="zh-CN" altLang="en-US"/>
          </a:p>
        </p:txBody>
      </p:sp>
      <p:sp>
        <p:nvSpPr>
          <p:cNvPr id="105" name="Shape 64">
            <a:extLst>
              <a:ext uri="{FF2B5EF4-FFF2-40B4-BE49-F238E27FC236}">
                <a16:creationId xmlns:a16="http://schemas.microsoft.com/office/drawing/2014/main" id="{B3836EBE-533D-585E-3A90-7522C553F37C}"/>
              </a:ext>
            </a:extLst>
          </p:cNvPr>
          <p:cNvSpPr/>
          <p:nvPr/>
        </p:nvSpPr>
        <p:spPr>
          <a:xfrm rot="16200000">
            <a:off x="8696344" y="3269708"/>
            <a:ext cx="312132" cy="727966"/>
          </a:xfrm>
          <a:prstGeom prst="downArrow">
            <a:avLst>
              <a:gd name="adj1" fmla="val 50000"/>
              <a:gd name="adj2" fmla="val 50000"/>
            </a:avLst>
          </a:prstGeom>
          <a:solidFill>
            <a:srgbClr val="FFF1E4"/>
          </a:solidFill>
          <a:ln w="12700">
            <a:solidFill>
              <a:srgbClr val="2F6FB0"/>
            </a:solidFill>
            <a:prstDash val="solid"/>
          </a:ln>
        </p:spPr>
        <p:txBody>
          <a:bodyPr/>
          <a:lstStyle/>
          <a:p>
            <a:endParaRPr lang="zh-CN" altLang="en-US"/>
          </a:p>
        </p:txBody>
      </p:sp>
      <p:sp>
        <p:nvSpPr>
          <p:cNvPr id="5" name="Text 6">
            <a:extLst>
              <a:ext uri="{FF2B5EF4-FFF2-40B4-BE49-F238E27FC236}">
                <a16:creationId xmlns:a16="http://schemas.microsoft.com/office/drawing/2014/main" id="{29F04CE9-29F3-8248-118B-13E2068F49BE}"/>
              </a:ext>
            </a:extLst>
          </p:cNvPr>
          <p:cNvSpPr/>
          <p:nvPr/>
        </p:nvSpPr>
        <p:spPr>
          <a:xfrm>
            <a:off x="571501" y="5087400"/>
            <a:ext cx="4888585" cy="1275300"/>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Design the robot–edge communication interface</a:t>
            </a:r>
            <a:endParaRPr lang="en-US" altLang="zh-CN" sz="1600" dirty="0"/>
          </a:p>
          <a:p>
            <a:pPr marL="285750" lvl="0" indent="-285750">
              <a:spcAft>
                <a:spcPts val="600"/>
              </a:spcAft>
              <a:buFont typeface="Wingdings" panose="05000000000000000000" pitchFamily="2" charset="2"/>
              <a:buChar char="l"/>
            </a:pPr>
            <a:r>
              <a:rPr lang="zh-CN" altLang="zh-CN" sz="1600" dirty="0"/>
              <a:t>Build global robot and target state management</a:t>
            </a:r>
            <a:endParaRPr lang="en-US" altLang="zh-CN" sz="1600" dirty="0"/>
          </a:p>
          <a:p>
            <a:pPr marL="285750" lvl="0" indent="-285750">
              <a:spcAft>
                <a:spcPts val="600"/>
              </a:spcAft>
              <a:buFont typeface="Wingdings" panose="05000000000000000000" pitchFamily="2" charset="2"/>
              <a:buChar char="l"/>
            </a:pPr>
            <a:r>
              <a:rPr lang="zh-CN" altLang="zh-CN" sz="1600" dirty="0"/>
              <a:t>Develop task planning and robot allocation</a:t>
            </a:r>
            <a:endParaRPr lang="en-US" altLang="zh-CN" sz="1600" dirty="0"/>
          </a:p>
        </p:txBody>
      </p:sp>
      <p:sp>
        <p:nvSpPr>
          <p:cNvPr id="7" name="TextBox 6">
            <a:extLst>
              <a:ext uri="{FF2B5EF4-FFF2-40B4-BE49-F238E27FC236}">
                <a16:creationId xmlns:a16="http://schemas.microsoft.com/office/drawing/2014/main" id="{E3A19271-07E9-2A24-F00D-E0926F61E597}"/>
              </a:ext>
            </a:extLst>
          </p:cNvPr>
          <p:cNvSpPr txBox="1"/>
          <p:nvPr/>
        </p:nvSpPr>
        <p:spPr>
          <a:xfrm>
            <a:off x="502920" y="4713637"/>
            <a:ext cx="1623059" cy="369332"/>
          </a:xfrm>
          <a:prstGeom prst="rect">
            <a:avLst/>
          </a:prstGeom>
          <a:noFill/>
        </p:spPr>
        <p:txBody>
          <a:bodyPr wrap="square" rtlCol="0">
            <a:spAutoFit/>
          </a:bodyPr>
          <a:lstStyle/>
          <a:p>
            <a:r>
              <a:rPr lang="en-US" altLang="zh-CN" b="1" dirty="0"/>
              <a:t>Teams develop</a:t>
            </a:r>
            <a:endParaRPr lang="zh-CN" altLang="en-US" b="1" dirty="0"/>
          </a:p>
        </p:txBody>
      </p:sp>
      <p:sp>
        <p:nvSpPr>
          <p:cNvPr id="8" name="Text 6">
            <a:extLst>
              <a:ext uri="{FF2B5EF4-FFF2-40B4-BE49-F238E27FC236}">
                <a16:creationId xmlns:a16="http://schemas.microsoft.com/office/drawing/2014/main" id="{6234EC91-ACF7-0C3F-B362-4A5109A33DE4}"/>
              </a:ext>
            </a:extLst>
          </p:cNvPr>
          <p:cNvSpPr/>
          <p:nvPr/>
        </p:nvSpPr>
        <p:spPr>
          <a:xfrm>
            <a:off x="5614112" y="4872254"/>
            <a:ext cx="5218275" cy="1656136"/>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Implement multi-robot coordination</a:t>
            </a:r>
            <a:endParaRPr lang="en-US" altLang="zh-CN" sz="1600" dirty="0"/>
          </a:p>
          <a:p>
            <a:pPr marL="285750" lvl="0" indent="-285750">
              <a:spcAft>
                <a:spcPts val="600"/>
              </a:spcAft>
              <a:buFont typeface="Wingdings" panose="05000000000000000000" pitchFamily="2" charset="2"/>
              <a:buChar char="l"/>
            </a:pPr>
            <a:r>
              <a:rPr lang="zh-CN" altLang="zh-CN" sz="1600" dirty="0"/>
              <a:t>Integrate task assignments with autonomous navigation and rescue execution</a:t>
            </a:r>
            <a:endParaRPr lang="en-US" altLang="zh-CN" sz="1600" dirty="0"/>
          </a:p>
        </p:txBody>
      </p:sp>
    </p:spTree>
    <p:extLst>
      <p:ext uri="{BB962C8B-B14F-4D97-AF65-F5344CB8AC3E}">
        <p14:creationId xmlns:p14="http://schemas.microsoft.com/office/powerpoint/2010/main" val="117436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AF625E9-E73D-43F4-897C-227C39DFEA68}"/>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Normal and cooperative rescue</a:t>
            </a:r>
          </a:p>
        </p:txBody>
      </p:sp>
      <p:sp>
        <p:nvSpPr>
          <p:cNvPr id="3" name="Rectangle 2">
            <a:extLst>
              <a:ext uri="{FF2B5EF4-FFF2-40B4-BE49-F238E27FC236}">
                <a16:creationId xmlns:a16="http://schemas.microsoft.com/office/drawing/2014/main" id="{6A071D6D-0DAC-43BF-A92F-81E1ECBA0185}"/>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09</a:t>
            </a:r>
          </a:p>
        </p:txBody>
      </p:sp>
      <p:sp>
        <p:nvSpPr>
          <p:cNvPr id="4" name="Rectangle 3">
            <a:extLst>
              <a:ext uri="{FF2B5EF4-FFF2-40B4-BE49-F238E27FC236}">
                <a16:creationId xmlns:a16="http://schemas.microsoft.com/office/drawing/2014/main" id="{FF78D125-142A-4370-9362-C858E4E57CA2}"/>
              </a:ext>
            </a:extLst>
          </p:cNvPr>
          <p:cNvSpPr>
            <a:spLocks noGrp="1"/>
          </p:cNvSpPr>
          <p:nvPr/>
        </p:nvSpPr>
        <p:spPr>
          <a:xfrm>
            <a:off x="3924301" y="1109662"/>
            <a:ext cx="2314575" cy="476250"/>
          </a:xfrm>
          <a:prstGeom prst="rect">
            <a:avLst/>
          </a:prstGeom>
          <a:noFill/>
          <a:ln w="9525">
            <a:noFill/>
          </a:ln>
        </p:spPr>
        <p:txBody>
          <a:bodyPr>
            <a:noAutofit/>
          </a:bodyPr>
          <a:lstStyle/>
          <a:p>
            <a:pPr>
              <a:defRPr sz="2400" b="1">
                <a:solidFill>
                  <a:srgbClr val="12283B"/>
                </a:solidFill>
                <a:latin typeface="Arial"/>
                <a:ea typeface="Arial"/>
                <a:cs typeface="Arial"/>
              </a:defRPr>
            </a:pPr>
            <a:r>
              <a:rPr sz="2000" b="1" dirty="0">
                <a:solidFill>
                  <a:srgbClr val="12283B"/>
                </a:solidFill>
                <a:latin typeface="Arial"/>
                <a:ea typeface="Arial"/>
                <a:cs typeface="Arial"/>
              </a:rPr>
              <a:t>Normal Target</a:t>
            </a:r>
          </a:p>
        </p:txBody>
      </p:sp>
      <p:sp>
        <p:nvSpPr>
          <p:cNvPr id="5" name="Rectangle 4">
            <a:extLst>
              <a:ext uri="{FF2B5EF4-FFF2-40B4-BE49-F238E27FC236}">
                <a16:creationId xmlns:a16="http://schemas.microsoft.com/office/drawing/2014/main" id="{20E1F863-8CBF-4087-B499-3CEE0D64A153}"/>
              </a:ext>
            </a:extLst>
          </p:cNvPr>
          <p:cNvSpPr>
            <a:spLocks noGrp="1"/>
          </p:cNvSpPr>
          <p:nvPr/>
        </p:nvSpPr>
        <p:spPr>
          <a:xfrm>
            <a:off x="6910387" y="1128713"/>
            <a:ext cx="2752725" cy="476250"/>
          </a:xfrm>
          <a:prstGeom prst="rect">
            <a:avLst/>
          </a:prstGeom>
          <a:noFill/>
          <a:ln w="9525">
            <a:noFill/>
          </a:ln>
        </p:spPr>
        <p:txBody>
          <a:bodyPr>
            <a:noAutofit/>
          </a:bodyPr>
          <a:lstStyle/>
          <a:p>
            <a:pPr>
              <a:defRPr sz="2400" b="1">
                <a:solidFill>
                  <a:srgbClr val="12283B"/>
                </a:solidFill>
                <a:latin typeface="Arial"/>
                <a:ea typeface="Arial"/>
                <a:cs typeface="Arial"/>
              </a:defRPr>
            </a:pPr>
            <a:r>
              <a:rPr sz="2000" b="1" dirty="0">
                <a:solidFill>
                  <a:srgbClr val="12283B"/>
                </a:solidFill>
                <a:latin typeface="Arial"/>
                <a:ea typeface="Arial"/>
                <a:cs typeface="Arial"/>
              </a:rPr>
              <a:t>Cooperative Target</a:t>
            </a:r>
          </a:p>
        </p:txBody>
      </p:sp>
      <p:sp>
        <p:nvSpPr>
          <p:cNvPr id="6" name="Rectangle 5">
            <a:extLst>
              <a:ext uri="{FF2B5EF4-FFF2-40B4-BE49-F238E27FC236}">
                <a16:creationId xmlns:a16="http://schemas.microsoft.com/office/drawing/2014/main" id="{D12485EB-2DD9-4CCA-BB3F-44F8E60F9062}"/>
              </a:ext>
            </a:extLst>
          </p:cNvPr>
          <p:cNvSpPr>
            <a:spLocks noGrp="1"/>
          </p:cNvSpPr>
          <p:nvPr/>
        </p:nvSpPr>
        <p:spPr>
          <a:xfrm>
            <a:off x="4584701" y="1647825"/>
            <a:ext cx="514350" cy="514350"/>
          </a:xfrm>
          <a:prstGeom prst="rect">
            <a:avLst/>
          </a:prstGeom>
          <a:solidFill>
            <a:srgbClr val="12283B"/>
          </a:solidFill>
          <a:ln w="9525">
            <a:solidFill>
              <a:srgbClr val="12283B"/>
            </a:solidFill>
          </a:ln>
        </p:spPr>
        <p:txBody>
          <a:bodyPr/>
          <a:lstStyle/>
          <a:p>
            <a:endParaRPr lang="zh-CN" altLang="en-US"/>
          </a:p>
        </p:txBody>
      </p:sp>
      <p:sp>
        <p:nvSpPr>
          <p:cNvPr id="7" name="Rectangle 6">
            <a:extLst>
              <a:ext uri="{FF2B5EF4-FFF2-40B4-BE49-F238E27FC236}">
                <a16:creationId xmlns:a16="http://schemas.microsoft.com/office/drawing/2014/main" id="{13C9A306-292C-4C5C-994E-591EEF142774}"/>
              </a:ext>
            </a:extLst>
          </p:cNvPr>
          <p:cNvSpPr>
            <a:spLocks noGrp="1"/>
          </p:cNvSpPr>
          <p:nvPr/>
        </p:nvSpPr>
        <p:spPr>
          <a:xfrm>
            <a:off x="4651376" y="1714500"/>
            <a:ext cx="381000" cy="381000"/>
          </a:xfrm>
          <a:prstGeom prst="rect">
            <a:avLst/>
          </a:prstGeom>
          <a:solidFill>
            <a:srgbClr val="FFFFFF"/>
          </a:solidFill>
          <a:ln w="9525">
            <a:solidFill>
              <a:srgbClr val="FFFFFF"/>
            </a:solidFill>
          </a:ln>
        </p:spPr>
        <p:txBody>
          <a:bodyPr/>
          <a:lstStyle/>
          <a:p>
            <a:endParaRPr lang="zh-CN" altLang="en-US"/>
          </a:p>
        </p:txBody>
      </p:sp>
      <p:sp>
        <p:nvSpPr>
          <p:cNvPr id="8" name="Rectangle 7">
            <a:extLst>
              <a:ext uri="{FF2B5EF4-FFF2-40B4-BE49-F238E27FC236}">
                <a16:creationId xmlns:a16="http://schemas.microsoft.com/office/drawing/2014/main" id="{B3707083-2AFA-423F-A6FE-9CD9E3F87050}"/>
              </a:ext>
            </a:extLst>
          </p:cNvPr>
          <p:cNvSpPr>
            <a:spLocks noGrp="1"/>
          </p:cNvSpPr>
          <p:nvPr/>
        </p:nvSpPr>
        <p:spPr>
          <a:xfrm>
            <a:off x="4679951" y="1743075"/>
            <a:ext cx="95250" cy="95250"/>
          </a:xfrm>
          <a:prstGeom prst="rect">
            <a:avLst/>
          </a:prstGeom>
          <a:solidFill>
            <a:srgbClr val="12283B"/>
          </a:solidFill>
          <a:ln w="9525">
            <a:solidFill>
              <a:srgbClr val="12283B"/>
            </a:solidFill>
          </a:ln>
        </p:spPr>
        <p:txBody>
          <a:bodyPr/>
          <a:lstStyle/>
          <a:p>
            <a:endParaRPr lang="zh-CN" altLang="en-US"/>
          </a:p>
        </p:txBody>
      </p:sp>
      <p:sp>
        <p:nvSpPr>
          <p:cNvPr id="9" name="Rectangle 8">
            <a:extLst>
              <a:ext uri="{FF2B5EF4-FFF2-40B4-BE49-F238E27FC236}">
                <a16:creationId xmlns:a16="http://schemas.microsoft.com/office/drawing/2014/main" id="{EE5628BC-4EE5-4805-9C71-FE29C8CFC748}"/>
              </a:ext>
            </a:extLst>
          </p:cNvPr>
          <p:cNvSpPr>
            <a:spLocks noGrp="1"/>
          </p:cNvSpPr>
          <p:nvPr/>
        </p:nvSpPr>
        <p:spPr>
          <a:xfrm>
            <a:off x="4784726" y="1743075"/>
            <a:ext cx="95250" cy="95250"/>
          </a:xfrm>
          <a:prstGeom prst="rect">
            <a:avLst/>
          </a:prstGeom>
          <a:solidFill>
            <a:srgbClr val="12283B"/>
          </a:solidFill>
          <a:ln w="9525">
            <a:solidFill>
              <a:srgbClr val="12283B"/>
            </a:solidFill>
          </a:ln>
        </p:spPr>
        <p:txBody>
          <a:bodyPr/>
          <a:lstStyle/>
          <a:p>
            <a:endParaRPr lang="zh-CN" altLang="en-US"/>
          </a:p>
        </p:txBody>
      </p:sp>
      <p:sp>
        <p:nvSpPr>
          <p:cNvPr id="10" name="Rectangle 9">
            <a:extLst>
              <a:ext uri="{FF2B5EF4-FFF2-40B4-BE49-F238E27FC236}">
                <a16:creationId xmlns:a16="http://schemas.microsoft.com/office/drawing/2014/main" id="{D35F5F88-E524-4960-A68F-E9B29F5DF5A4}"/>
              </a:ext>
            </a:extLst>
          </p:cNvPr>
          <p:cNvSpPr>
            <a:spLocks noGrp="1"/>
          </p:cNvSpPr>
          <p:nvPr/>
        </p:nvSpPr>
        <p:spPr>
          <a:xfrm>
            <a:off x="4889501" y="1847850"/>
            <a:ext cx="95250" cy="95250"/>
          </a:xfrm>
          <a:prstGeom prst="rect">
            <a:avLst/>
          </a:prstGeom>
          <a:solidFill>
            <a:srgbClr val="12283B"/>
          </a:solidFill>
          <a:ln w="9525">
            <a:solidFill>
              <a:srgbClr val="12283B"/>
            </a:solidFill>
          </a:ln>
        </p:spPr>
        <p:txBody>
          <a:bodyPr/>
          <a:lstStyle/>
          <a:p>
            <a:endParaRPr lang="zh-CN" altLang="en-US"/>
          </a:p>
        </p:txBody>
      </p:sp>
      <p:sp>
        <p:nvSpPr>
          <p:cNvPr id="11" name="Rectangle 10">
            <a:extLst>
              <a:ext uri="{FF2B5EF4-FFF2-40B4-BE49-F238E27FC236}">
                <a16:creationId xmlns:a16="http://schemas.microsoft.com/office/drawing/2014/main" id="{EEEA58B2-D3D5-46FE-AA7B-AD58301597DA}"/>
              </a:ext>
            </a:extLst>
          </p:cNvPr>
          <p:cNvSpPr>
            <a:spLocks noGrp="1"/>
          </p:cNvSpPr>
          <p:nvPr/>
        </p:nvSpPr>
        <p:spPr>
          <a:xfrm>
            <a:off x="4679951" y="1952625"/>
            <a:ext cx="95250" cy="95250"/>
          </a:xfrm>
          <a:prstGeom prst="rect">
            <a:avLst/>
          </a:prstGeom>
          <a:solidFill>
            <a:srgbClr val="12283B"/>
          </a:solidFill>
          <a:ln w="9525">
            <a:solidFill>
              <a:srgbClr val="12283B"/>
            </a:solidFill>
          </a:ln>
        </p:spPr>
        <p:txBody>
          <a:bodyPr/>
          <a:lstStyle/>
          <a:p>
            <a:endParaRPr lang="zh-CN" altLang="en-US"/>
          </a:p>
        </p:txBody>
      </p:sp>
      <p:sp>
        <p:nvSpPr>
          <p:cNvPr id="12" name="Rectangle 11">
            <a:extLst>
              <a:ext uri="{FF2B5EF4-FFF2-40B4-BE49-F238E27FC236}">
                <a16:creationId xmlns:a16="http://schemas.microsoft.com/office/drawing/2014/main" id="{4A7113B1-E506-4B64-944A-80004A1FA845}"/>
              </a:ext>
            </a:extLst>
          </p:cNvPr>
          <p:cNvSpPr>
            <a:spLocks noGrp="1"/>
          </p:cNvSpPr>
          <p:nvPr/>
        </p:nvSpPr>
        <p:spPr>
          <a:xfrm>
            <a:off x="4889501" y="1952625"/>
            <a:ext cx="95250" cy="95250"/>
          </a:xfrm>
          <a:prstGeom prst="rect">
            <a:avLst/>
          </a:prstGeom>
          <a:solidFill>
            <a:srgbClr val="12283B"/>
          </a:solidFill>
          <a:ln w="9525">
            <a:solidFill>
              <a:srgbClr val="12283B"/>
            </a:solidFill>
          </a:ln>
        </p:spPr>
        <p:txBody>
          <a:bodyPr/>
          <a:lstStyle/>
          <a:p>
            <a:endParaRPr lang="zh-CN" altLang="en-US"/>
          </a:p>
        </p:txBody>
      </p:sp>
      <p:sp>
        <p:nvSpPr>
          <p:cNvPr id="13" name="Rectangle 12">
            <a:extLst>
              <a:ext uri="{FF2B5EF4-FFF2-40B4-BE49-F238E27FC236}">
                <a16:creationId xmlns:a16="http://schemas.microsoft.com/office/drawing/2014/main" id="{1398BC0C-30BD-4E64-A202-868DDEF573E1}"/>
              </a:ext>
            </a:extLst>
          </p:cNvPr>
          <p:cNvSpPr>
            <a:spLocks noGrp="1"/>
          </p:cNvSpPr>
          <p:nvPr/>
        </p:nvSpPr>
        <p:spPr>
          <a:xfrm>
            <a:off x="7981950" y="1647825"/>
            <a:ext cx="514350" cy="514350"/>
          </a:xfrm>
          <a:prstGeom prst="rect">
            <a:avLst/>
          </a:prstGeom>
          <a:solidFill>
            <a:srgbClr val="12283B"/>
          </a:solidFill>
          <a:ln w="9525">
            <a:solidFill>
              <a:srgbClr val="12283B"/>
            </a:solidFill>
          </a:ln>
        </p:spPr>
        <p:txBody>
          <a:bodyPr/>
          <a:lstStyle/>
          <a:p>
            <a:endParaRPr lang="zh-CN" altLang="en-US"/>
          </a:p>
        </p:txBody>
      </p:sp>
      <p:sp>
        <p:nvSpPr>
          <p:cNvPr id="14" name="Rectangle 13">
            <a:extLst>
              <a:ext uri="{FF2B5EF4-FFF2-40B4-BE49-F238E27FC236}">
                <a16:creationId xmlns:a16="http://schemas.microsoft.com/office/drawing/2014/main" id="{F8BEE912-207D-4D34-9D51-CC092E02EB05}"/>
              </a:ext>
            </a:extLst>
          </p:cNvPr>
          <p:cNvSpPr>
            <a:spLocks noGrp="1"/>
          </p:cNvSpPr>
          <p:nvPr/>
        </p:nvSpPr>
        <p:spPr>
          <a:xfrm>
            <a:off x="8048625" y="1714500"/>
            <a:ext cx="381000" cy="381000"/>
          </a:xfrm>
          <a:prstGeom prst="rect">
            <a:avLst/>
          </a:prstGeom>
          <a:solidFill>
            <a:srgbClr val="FFFFFF"/>
          </a:solidFill>
          <a:ln w="9525">
            <a:solidFill>
              <a:srgbClr val="FFFFFF"/>
            </a:solidFill>
          </a:ln>
        </p:spPr>
        <p:txBody>
          <a:bodyPr/>
          <a:lstStyle/>
          <a:p>
            <a:endParaRPr lang="zh-CN" altLang="en-US"/>
          </a:p>
        </p:txBody>
      </p:sp>
      <p:sp>
        <p:nvSpPr>
          <p:cNvPr id="15" name="Rectangle 14">
            <a:extLst>
              <a:ext uri="{FF2B5EF4-FFF2-40B4-BE49-F238E27FC236}">
                <a16:creationId xmlns:a16="http://schemas.microsoft.com/office/drawing/2014/main" id="{FA288D3C-6C76-4A04-942A-4859F8652BD0}"/>
              </a:ext>
            </a:extLst>
          </p:cNvPr>
          <p:cNvSpPr>
            <a:spLocks noGrp="1"/>
          </p:cNvSpPr>
          <p:nvPr/>
        </p:nvSpPr>
        <p:spPr>
          <a:xfrm>
            <a:off x="8077200" y="1743075"/>
            <a:ext cx="95250" cy="95250"/>
          </a:xfrm>
          <a:prstGeom prst="rect">
            <a:avLst/>
          </a:prstGeom>
          <a:solidFill>
            <a:srgbClr val="12283B"/>
          </a:solidFill>
          <a:ln w="9525">
            <a:solidFill>
              <a:srgbClr val="12283B"/>
            </a:solidFill>
          </a:ln>
        </p:spPr>
        <p:txBody>
          <a:bodyPr/>
          <a:lstStyle/>
          <a:p>
            <a:endParaRPr lang="zh-CN" altLang="en-US"/>
          </a:p>
        </p:txBody>
      </p:sp>
      <p:sp>
        <p:nvSpPr>
          <p:cNvPr id="16" name="Rectangle 15">
            <a:extLst>
              <a:ext uri="{FF2B5EF4-FFF2-40B4-BE49-F238E27FC236}">
                <a16:creationId xmlns:a16="http://schemas.microsoft.com/office/drawing/2014/main" id="{5B708BF1-8AD1-4AE1-A970-50BAFAC3146A}"/>
              </a:ext>
            </a:extLst>
          </p:cNvPr>
          <p:cNvSpPr>
            <a:spLocks noGrp="1"/>
          </p:cNvSpPr>
          <p:nvPr/>
        </p:nvSpPr>
        <p:spPr>
          <a:xfrm>
            <a:off x="8181975" y="1743075"/>
            <a:ext cx="95250" cy="95250"/>
          </a:xfrm>
          <a:prstGeom prst="rect">
            <a:avLst/>
          </a:prstGeom>
          <a:solidFill>
            <a:srgbClr val="12283B"/>
          </a:solidFill>
          <a:ln w="9525">
            <a:solidFill>
              <a:srgbClr val="12283B"/>
            </a:solidFill>
          </a:ln>
        </p:spPr>
        <p:txBody>
          <a:bodyPr/>
          <a:lstStyle/>
          <a:p>
            <a:endParaRPr lang="zh-CN" altLang="en-US"/>
          </a:p>
        </p:txBody>
      </p:sp>
      <p:sp>
        <p:nvSpPr>
          <p:cNvPr id="17" name="Rectangle 16">
            <a:extLst>
              <a:ext uri="{FF2B5EF4-FFF2-40B4-BE49-F238E27FC236}">
                <a16:creationId xmlns:a16="http://schemas.microsoft.com/office/drawing/2014/main" id="{53A1A6F0-B3B0-44FD-8983-B5AE9931F217}"/>
              </a:ext>
            </a:extLst>
          </p:cNvPr>
          <p:cNvSpPr>
            <a:spLocks noGrp="1"/>
          </p:cNvSpPr>
          <p:nvPr/>
        </p:nvSpPr>
        <p:spPr>
          <a:xfrm>
            <a:off x="8286750" y="1847850"/>
            <a:ext cx="95250" cy="95250"/>
          </a:xfrm>
          <a:prstGeom prst="rect">
            <a:avLst/>
          </a:prstGeom>
          <a:solidFill>
            <a:srgbClr val="12283B"/>
          </a:solidFill>
          <a:ln w="9525">
            <a:solidFill>
              <a:srgbClr val="12283B"/>
            </a:solidFill>
          </a:ln>
        </p:spPr>
        <p:txBody>
          <a:bodyPr/>
          <a:lstStyle/>
          <a:p>
            <a:endParaRPr lang="zh-CN" altLang="en-US"/>
          </a:p>
        </p:txBody>
      </p:sp>
      <p:sp>
        <p:nvSpPr>
          <p:cNvPr id="18" name="Rectangle 17">
            <a:extLst>
              <a:ext uri="{FF2B5EF4-FFF2-40B4-BE49-F238E27FC236}">
                <a16:creationId xmlns:a16="http://schemas.microsoft.com/office/drawing/2014/main" id="{E2D02C24-59E0-4680-968B-0D3812FC7AB0}"/>
              </a:ext>
            </a:extLst>
          </p:cNvPr>
          <p:cNvSpPr>
            <a:spLocks noGrp="1"/>
          </p:cNvSpPr>
          <p:nvPr/>
        </p:nvSpPr>
        <p:spPr>
          <a:xfrm>
            <a:off x="8077200" y="1952625"/>
            <a:ext cx="95250" cy="95250"/>
          </a:xfrm>
          <a:prstGeom prst="rect">
            <a:avLst/>
          </a:prstGeom>
          <a:solidFill>
            <a:srgbClr val="12283B"/>
          </a:solidFill>
          <a:ln w="9525">
            <a:solidFill>
              <a:srgbClr val="12283B"/>
            </a:solidFill>
          </a:ln>
        </p:spPr>
        <p:txBody>
          <a:bodyPr/>
          <a:lstStyle/>
          <a:p>
            <a:endParaRPr lang="zh-CN" altLang="en-US"/>
          </a:p>
        </p:txBody>
      </p:sp>
      <p:sp>
        <p:nvSpPr>
          <p:cNvPr id="19" name="Rectangle 18">
            <a:extLst>
              <a:ext uri="{FF2B5EF4-FFF2-40B4-BE49-F238E27FC236}">
                <a16:creationId xmlns:a16="http://schemas.microsoft.com/office/drawing/2014/main" id="{CFDC0DD8-9AFA-4275-BF40-37CAD355834A}"/>
              </a:ext>
            </a:extLst>
          </p:cNvPr>
          <p:cNvSpPr>
            <a:spLocks noGrp="1"/>
          </p:cNvSpPr>
          <p:nvPr/>
        </p:nvSpPr>
        <p:spPr>
          <a:xfrm>
            <a:off x="8286750" y="1952625"/>
            <a:ext cx="95250" cy="95250"/>
          </a:xfrm>
          <a:prstGeom prst="rect">
            <a:avLst/>
          </a:prstGeom>
          <a:solidFill>
            <a:srgbClr val="12283B"/>
          </a:solidFill>
          <a:ln w="9525">
            <a:solidFill>
              <a:srgbClr val="12283B"/>
            </a:solidFill>
          </a:ln>
        </p:spPr>
        <p:txBody>
          <a:bodyPr/>
          <a:lstStyle/>
          <a:p>
            <a:endParaRPr lang="zh-CN" altLang="en-US"/>
          </a:p>
        </p:txBody>
      </p:sp>
      <p:sp>
        <p:nvSpPr>
          <p:cNvPr id="20" name="Oval 19">
            <a:extLst>
              <a:ext uri="{FF2B5EF4-FFF2-40B4-BE49-F238E27FC236}">
                <a16:creationId xmlns:a16="http://schemas.microsoft.com/office/drawing/2014/main" id="{DF8B7F93-9B9F-4A59-9B3E-58295E159BB5}"/>
              </a:ext>
            </a:extLst>
          </p:cNvPr>
          <p:cNvSpPr>
            <a:spLocks noGrp="1"/>
          </p:cNvSpPr>
          <p:nvPr/>
        </p:nvSpPr>
        <p:spPr>
          <a:xfrm>
            <a:off x="4240213" y="2171700"/>
            <a:ext cx="1219200" cy="1047750"/>
          </a:xfrm>
          <a:prstGeom prst="ellipse">
            <a:avLst/>
          </a:prstGeom>
          <a:solidFill>
            <a:schemeClr val="tx2">
              <a:lumMod val="10000"/>
              <a:lumOff val="90000"/>
            </a:schemeClr>
          </a:solidFill>
          <a:ln w="9525">
            <a:solidFill>
              <a:srgbClr val="007F82"/>
            </a:solidFill>
            <a:prstDash val="dash"/>
          </a:ln>
        </p:spPr>
        <p:txBody>
          <a:bodyPr/>
          <a:lstStyle/>
          <a:p>
            <a:endParaRPr lang="zh-CN" altLang="en-US"/>
          </a:p>
        </p:txBody>
      </p:sp>
      <p:sp>
        <p:nvSpPr>
          <p:cNvPr id="21" name="Rectangle 20">
            <a:extLst>
              <a:ext uri="{FF2B5EF4-FFF2-40B4-BE49-F238E27FC236}">
                <a16:creationId xmlns:a16="http://schemas.microsoft.com/office/drawing/2014/main" id="{96E8AA3B-0D75-4991-8F49-18DCA69CEAAB}"/>
              </a:ext>
            </a:extLst>
          </p:cNvPr>
          <p:cNvSpPr>
            <a:spLocks noGrp="1"/>
          </p:cNvSpPr>
          <p:nvPr/>
        </p:nvSpPr>
        <p:spPr>
          <a:xfrm>
            <a:off x="4192588" y="3314700"/>
            <a:ext cx="1428750" cy="304800"/>
          </a:xfrm>
          <a:prstGeom prst="rect">
            <a:avLst/>
          </a:prstGeom>
          <a:noFill/>
          <a:ln w="9525">
            <a:noFill/>
          </a:ln>
        </p:spPr>
        <p:txBody>
          <a:bodyPr>
            <a:noAutofit/>
          </a:bodyPr>
          <a:lstStyle/>
          <a:p>
            <a:pPr>
              <a:defRPr sz="1500" b="1">
                <a:solidFill>
                  <a:srgbClr val="007F82"/>
                </a:solidFill>
                <a:latin typeface="Arial"/>
                <a:ea typeface="Arial"/>
                <a:cs typeface="Arial"/>
              </a:defRPr>
            </a:pPr>
            <a:r>
              <a:rPr sz="1500" b="1">
                <a:solidFill>
                  <a:srgbClr val="007F82"/>
                </a:solidFill>
                <a:latin typeface="Arial"/>
                <a:ea typeface="Arial"/>
                <a:cs typeface="Arial"/>
              </a:rPr>
              <a:t>Rescue Zone</a:t>
            </a:r>
          </a:p>
        </p:txBody>
      </p:sp>
      <p:sp>
        <p:nvSpPr>
          <p:cNvPr id="26" name="Rectangle 25">
            <a:extLst>
              <a:ext uri="{FF2B5EF4-FFF2-40B4-BE49-F238E27FC236}">
                <a16:creationId xmlns:a16="http://schemas.microsoft.com/office/drawing/2014/main" id="{51F7959D-DB4B-41FE-A201-01FE81178DC8}"/>
              </a:ext>
            </a:extLst>
          </p:cNvPr>
          <p:cNvSpPr>
            <a:spLocks noGrp="1"/>
          </p:cNvSpPr>
          <p:nvPr/>
        </p:nvSpPr>
        <p:spPr>
          <a:xfrm>
            <a:off x="4459288" y="2990850"/>
            <a:ext cx="952500" cy="285750"/>
          </a:xfrm>
          <a:prstGeom prst="rect">
            <a:avLst/>
          </a:prstGeom>
          <a:noFill/>
          <a:ln w="9525">
            <a:noFill/>
          </a:ln>
        </p:spPr>
        <p:txBody>
          <a:bodyPr>
            <a:noAutofit/>
          </a:bodyPr>
          <a:lstStyle/>
          <a:p>
            <a:endParaRPr/>
          </a:p>
        </p:txBody>
      </p:sp>
      <p:sp>
        <p:nvSpPr>
          <p:cNvPr id="27" name="Oval 26">
            <a:extLst>
              <a:ext uri="{FF2B5EF4-FFF2-40B4-BE49-F238E27FC236}">
                <a16:creationId xmlns:a16="http://schemas.microsoft.com/office/drawing/2014/main" id="{05037616-3B6E-4A2C-8556-4765AE9252FE}"/>
              </a:ext>
            </a:extLst>
          </p:cNvPr>
          <p:cNvSpPr>
            <a:spLocks noGrp="1"/>
          </p:cNvSpPr>
          <p:nvPr/>
        </p:nvSpPr>
        <p:spPr>
          <a:xfrm>
            <a:off x="6977064" y="2228850"/>
            <a:ext cx="1219200" cy="1047750"/>
          </a:xfrm>
          <a:prstGeom prst="ellipse">
            <a:avLst/>
          </a:prstGeom>
          <a:solidFill>
            <a:srgbClr val="FFF1E4"/>
          </a:solidFill>
          <a:ln w="9525">
            <a:solidFill>
              <a:srgbClr val="007F82"/>
            </a:solidFill>
          </a:ln>
        </p:spPr>
        <p:txBody>
          <a:bodyPr/>
          <a:lstStyle/>
          <a:p>
            <a:endParaRPr lang="zh-CN" altLang="en-US"/>
          </a:p>
        </p:txBody>
      </p:sp>
      <p:sp>
        <p:nvSpPr>
          <p:cNvPr id="28" name="Rectangle 27">
            <a:extLst>
              <a:ext uri="{FF2B5EF4-FFF2-40B4-BE49-F238E27FC236}">
                <a16:creationId xmlns:a16="http://schemas.microsoft.com/office/drawing/2014/main" id="{AF2B9D7E-55B3-4CFE-AA7F-9D9004A9FCF5}"/>
              </a:ext>
            </a:extLst>
          </p:cNvPr>
          <p:cNvSpPr>
            <a:spLocks noGrp="1"/>
          </p:cNvSpPr>
          <p:nvPr/>
        </p:nvSpPr>
        <p:spPr>
          <a:xfrm>
            <a:off x="7131053" y="3361167"/>
            <a:ext cx="1428750" cy="304800"/>
          </a:xfrm>
          <a:prstGeom prst="rect">
            <a:avLst/>
          </a:prstGeom>
          <a:noFill/>
          <a:ln w="9525">
            <a:noFill/>
          </a:ln>
        </p:spPr>
        <p:txBody>
          <a:bodyPr>
            <a:noAutofit/>
          </a:bodyPr>
          <a:lstStyle/>
          <a:p>
            <a:pPr>
              <a:defRPr sz="1500" b="1">
                <a:solidFill>
                  <a:srgbClr val="007F82"/>
                </a:solidFill>
                <a:latin typeface="Arial"/>
                <a:ea typeface="Arial"/>
                <a:cs typeface="Arial"/>
              </a:defRPr>
            </a:pPr>
            <a:r>
              <a:rPr sz="1500" b="1">
                <a:solidFill>
                  <a:srgbClr val="007F82"/>
                </a:solidFill>
                <a:latin typeface="Arial"/>
                <a:ea typeface="Arial"/>
                <a:cs typeface="Arial"/>
              </a:rPr>
              <a:t>Zone A</a:t>
            </a:r>
          </a:p>
        </p:txBody>
      </p:sp>
      <p:sp>
        <p:nvSpPr>
          <p:cNvPr id="29" name="Oval 28">
            <a:extLst>
              <a:ext uri="{FF2B5EF4-FFF2-40B4-BE49-F238E27FC236}">
                <a16:creationId xmlns:a16="http://schemas.microsoft.com/office/drawing/2014/main" id="{6D037371-DD3F-43B2-91BA-82DC8CB2FE1E}"/>
              </a:ext>
            </a:extLst>
          </p:cNvPr>
          <p:cNvSpPr>
            <a:spLocks noGrp="1"/>
          </p:cNvSpPr>
          <p:nvPr/>
        </p:nvSpPr>
        <p:spPr>
          <a:xfrm>
            <a:off x="8210551" y="2266950"/>
            <a:ext cx="1219200" cy="1047750"/>
          </a:xfrm>
          <a:prstGeom prst="ellipse">
            <a:avLst/>
          </a:prstGeom>
          <a:solidFill>
            <a:srgbClr val="FFF1E4"/>
          </a:solidFill>
          <a:ln w="9525">
            <a:solidFill>
              <a:srgbClr val="007F82"/>
            </a:solidFill>
          </a:ln>
        </p:spPr>
        <p:txBody>
          <a:bodyPr/>
          <a:lstStyle/>
          <a:p>
            <a:endParaRPr lang="zh-CN" altLang="en-US"/>
          </a:p>
        </p:txBody>
      </p:sp>
      <p:sp>
        <p:nvSpPr>
          <p:cNvPr id="30" name="Rectangle 29">
            <a:extLst>
              <a:ext uri="{FF2B5EF4-FFF2-40B4-BE49-F238E27FC236}">
                <a16:creationId xmlns:a16="http://schemas.microsoft.com/office/drawing/2014/main" id="{13BE6059-CAD6-46A7-8738-89A410537FBC}"/>
              </a:ext>
            </a:extLst>
          </p:cNvPr>
          <p:cNvSpPr>
            <a:spLocks noGrp="1"/>
          </p:cNvSpPr>
          <p:nvPr/>
        </p:nvSpPr>
        <p:spPr>
          <a:xfrm>
            <a:off x="8429625" y="3352800"/>
            <a:ext cx="1428750" cy="304800"/>
          </a:xfrm>
          <a:prstGeom prst="rect">
            <a:avLst/>
          </a:prstGeom>
          <a:noFill/>
          <a:ln w="9525">
            <a:noFill/>
          </a:ln>
        </p:spPr>
        <p:txBody>
          <a:bodyPr>
            <a:noAutofit/>
          </a:bodyPr>
          <a:lstStyle/>
          <a:p>
            <a:pPr>
              <a:defRPr sz="1500" b="1">
                <a:solidFill>
                  <a:srgbClr val="007F82"/>
                </a:solidFill>
                <a:latin typeface="Arial"/>
                <a:ea typeface="Arial"/>
                <a:cs typeface="Arial"/>
              </a:defRPr>
            </a:pPr>
            <a:r>
              <a:rPr sz="1500" b="1">
                <a:solidFill>
                  <a:srgbClr val="007F82"/>
                </a:solidFill>
                <a:latin typeface="Arial"/>
                <a:ea typeface="Arial"/>
                <a:cs typeface="Arial"/>
              </a:rPr>
              <a:t>Zone B</a:t>
            </a:r>
          </a:p>
        </p:txBody>
      </p:sp>
      <p:sp>
        <p:nvSpPr>
          <p:cNvPr id="35" name="Rectangle 34">
            <a:extLst>
              <a:ext uri="{FF2B5EF4-FFF2-40B4-BE49-F238E27FC236}">
                <a16:creationId xmlns:a16="http://schemas.microsoft.com/office/drawing/2014/main" id="{EF9714D1-D55C-43ED-A7E3-9D2CC6E94E30}"/>
              </a:ext>
            </a:extLst>
          </p:cNvPr>
          <p:cNvSpPr>
            <a:spLocks noGrp="1"/>
          </p:cNvSpPr>
          <p:nvPr/>
        </p:nvSpPr>
        <p:spPr>
          <a:xfrm>
            <a:off x="7196139" y="3048000"/>
            <a:ext cx="952500" cy="285750"/>
          </a:xfrm>
          <a:prstGeom prst="rect">
            <a:avLst/>
          </a:prstGeom>
          <a:noFill/>
          <a:ln w="9525">
            <a:noFill/>
          </a:ln>
        </p:spPr>
        <p:txBody>
          <a:bodyPr>
            <a:noAutofit/>
          </a:bodyPr>
          <a:lstStyle/>
          <a:p>
            <a:endParaRPr/>
          </a:p>
        </p:txBody>
      </p:sp>
      <p:sp>
        <p:nvSpPr>
          <p:cNvPr id="40" name="Rectangle 39">
            <a:extLst>
              <a:ext uri="{FF2B5EF4-FFF2-40B4-BE49-F238E27FC236}">
                <a16:creationId xmlns:a16="http://schemas.microsoft.com/office/drawing/2014/main" id="{FF8F5D2B-C07D-4D3F-B701-F12C8151D0EA}"/>
              </a:ext>
            </a:extLst>
          </p:cNvPr>
          <p:cNvSpPr>
            <a:spLocks noGrp="1"/>
          </p:cNvSpPr>
          <p:nvPr/>
        </p:nvSpPr>
        <p:spPr>
          <a:xfrm>
            <a:off x="8429626" y="3086100"/>
            <a:ext cx="952500" cy="285750"/>
          </a:xfrm>
          <a:prstGeom prst="rect">
            <a:avLst/>
          </a:prstGeom>
          <a:noFill/>
          <a:ln w="9525">
            <a:noFill/>
          </a:ln>
        </p:spPr>
        <p:txBody>
          <a:bodyPr>
            <a:noAutofit/>
          </a:bodyPr>
          <a:lstStyle/>
          <a:p>
            <a:endParaRPr/>
          </a:p>
        </p:txBody>
      </p:sp>
      <p:sp>
        <p:nvSpPr>
          <p:cNvPr id="41" name="Rectangle 40">
            <a:extLst>
              <a:ext uri="{FF2B5EF4-FFF2-40B4-BE49-F238E27FC236}">
                <a16:creationId xmlns:a16="http://schemas.microsoft.com/office/drawing/2014/main" id="{CD67E847-9416-4F86-BA9A-653ED4AFECBF}"/>
              </a:ext>
            </a:extLst>
          </p:cNvPr>
          <p:cNvSpPr>
            <a:spLocks noGrp="1"/>
          </p:cNvSpPr>
          <p:nvPr/>
        </p:nvSpPr>
        <p:spPr>
          <a:xfrm>
            <a:off x="4164648" y="3657600"/>
            <a:ext cx="2108200" cy="766762"/>
          </a:xfrm>
          <a:prstGeom prst="rect">
            <a:avLst/>
          </a:prstGeom>
          <a:noFill/>
          <a:ln w="9525">
            <a:noFill/>
          </a:ln>
        </p:spPr>
        <p:txBody>
          <a:bodyPr>
            <a:noAutofit/>
          </a:bodyPr>
          <a:lstStyle/>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1 robot</a:t>
            </a:r>
          </a:p>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Continuous dwell</a:t>
            </a:r>
          </a:p>
        </p:txBody>
      </p:sp>
      <p:sp>
        <p:nvSpPr>
          <p:cNvPr id="42" name="Rectangle 41">
            <a:extLst>
              <a:ext uri="{FF2B5EF4-FFF2-40B4-BE49-F238E27FC236}">
                <a16:creationId xmlns:a16="http://schemas.microsoft.com/office/drawing/2014/main" id="{3F5C0F0F-622B-4AAD-9FD9-204AE925CB79}"/>
              </a:ext>
            </a:extLst>
          </p:cNvPr>
          <p:cNvSpPr>
            <a:spLocks noGrp="1"/>
          </p:cNvSpPr>
          <p:nvPr/>
        </p:nvSpPr>
        <p:spPr>
          <a:xfrm>
            <a:off x="7131053" y="3672317"/>
            <a:ext cx="3340100" cy="679450"/>
          </a:xfrm>
          <a:prstGeom prst="rect">
            <a:avLst/>
          </a:prstGeom>
          <a:noFill/>
          <a:ln w="9525">
            <a:noFill/>
          </a:ln>
        </p:spPr>
        <p:txBody>
          <a:bodyPr>
            <a:noAutofit/>
          </a:bodyPr>
          <a:lstStyle/>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2 different robots</a:t>
            </a:r>
          </a:p>
          <a:p>
            <a:pPr>
              <a:defRPr sz="2175" b="1">
                <a:solidFill>
                  <a:srgbClr val="007F82"/>
                </a:solidFill>
                <a:latin typeface="Arial"/>
                <a:ea typeface="Arial"/>
                <a:cs typeface="Arial"/>
              </a:defRPr>
            </a:pPr>
            <a:r>
              <a:rPr sz="1600" b="1" dirty="0">
                <a:solidFill>
                  <a:schemeClr val="tx1">
                    <a:lumMod val="95000"/>
                    <a:lumOff val="5000"/>
                  </a:schemeClr>
                </a:solidFill>
                <a:latin typeface="Arial"/>
                <a:ea typeface="Arial"/>
                <a:cs typeface="Arial"/>
              </a:rPr>
              <a:t>Simultaneous continuous dwell</a:t>
            </a:r>
          </a:p>
        </p:txBody>
      </p:sp>
      <p:sp>
        <p:nvSpPr>
          <p:cNvPr id="46" name="Shape 2">
            <a:extLst>
              <a:ext uri="{FF2B5EF4-FFF2-40B4-BE49-F238E27FC236}">
                <a16:creationId xmlns:a16="http://schemas.microsoft.com/office/drawing/2014/main" id="{C964A02F-187A-01ED-624E-F5C05F965D51}"/>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48" name="Picture 47">
            <a:extLst>
              <a:ext uri="{FF2B5EF4-FFF2-40B4-BE49-F238E27FC236}">
                <a16:creationId xmlns:a16="http://schemas.microsoft.com/office/drawing/2014/main" id="{C3AB3C2C-575D-0447-C399-DFE35E18E5F4}"/>
              </a:ext>
            </a:extLst>
          </p:cNvPr>
          <p:cNvPicPr>
            <a:picLocks/>
          </p:cNvPicPr>
          <p:nvPr/>
        </p:nvPicPr>
        <p:blipFill>
          <a:blip r:embed="rId3"/>
          <a:srcRect l="11062" t="9522" r="29209"/>
          <a:stretch>
            <a:fillRect/>
          </a:stretch>
        </p:blipFill>
        <p:spPr>
          <a:xfrm>
            <a:off x="521810" y="1459341"/>
            <a:ext cx="2678114" cy="2472467"/>
          </a:xfrm>
          <a:prstGeom prst="rect">
            <a:avLst/>
          </a:prstGeom>
        </p:spPr>
      </p:pic>
      <p:pic>
        <p:nvPicPr>
          <p:cNvPr id="50" name="Picture 49">
            <a:extLst>
              <a:ext uri="{FF2B5EF4-FFF2-40B4-BE49-F238E27FC236}">
                <a16:creationId xmlns:a16="http://schemas.microsoft.com/office/drawing/2014/main" id="{2827528C-2E3B-0B81-C69A-D75F3A3212A4}"/>
              </a:ext>
            </a:extLst>
          </p:cNvPr>
          <p:cNvPicPr>
            <a:picLocks noChangeAspect="1"/>
          </p:cNvPicPr>
          <p:nvPr/>
        </p:nvPicPr>
        <p:blipFill>
          <a:blip r:embed="rId4"/>
          <a:stretch>
            <a:fillRect/>
          </a:stretch>
        </p:blipFill>
        <p:spPr>
          <a:xfrm>
            <a:off x="4602138" y="2381222"/>
            <a:ext cx="495325" cy="552478"/>
          </a:xfrm>
          <a:prstGeom prst="rect">
            <a:avLst/>
          </a:prstGeom>
        </p:spPr>
      </p:pic>
      <p:pic>
        <p:nvPicPr>
          <p:cNvPr id="52" name="Picture 51">
            <a:extLst>
              <a:ext uri="{FF2B5EF4-FFF2-40B4-BE49-F238E27FC236}">
                <a16:creationId xmlns:a16="http://schemas.microsoft.com/office/drawing/2014/main" id="{C097B0C3-B9D7-C477-9993-98CCB30AB951}"/>
              </a:ext>
            </a:extLst>
          </p:cNvPr>
          <p:cNvPicPr>
            <a:picLocks noChangeAspect="1"/>
          </p:cNvPicPr>
          <p:nvPr/>
        </p:nvPicPr>
        <p:blipFill>
          <a:blip r:embed="rId4"/>
          <a:stretch>
            <a:fillRect/>
          </a:stretch>
        </p:blipFill>
        <p:spPr>
          <a:xfrm>
            <a:off x="7339001" y="2495508"/>
            <a:ext cx="495325" cy="552478"/>
          </a:xfrm>
          <a:prstGeom prst="rect">
            <a:avLst/>
          </a:prstGeom>
        </p:spPr>
      </p:pic>
      <p:pic>
        <p:nvPicPr>
          <p:cNvPr id="54" name="Picture 53">
            <a:extLst>
              <a:ext uri="{FF2B5EF4-FFF2-40B4-BE49-F238E27FC236}">
                <a16:creationId xmlns:a16="http://schemas.microsoft.com/office/drawing/2014/main" id="{FFB2A1A4-F475-2370-5AED-2E70ADE2E234}"/>
              </a:ext>
            </a:extLst>
          </p:cNvPr>
          <p:cNvPicPr>
            <a:picLocks noChangeAspect="1"/>
          </p:cNvPicPr>
          <p:nvPr/>
        </p:nvPicPr>
        <p:blipFill>
          <a:blip r:embed="rId5"/>
          <a:stretch>
            <a:fillRect/>
          </a:stretch>
        </p:blipFill>
        <p:spPr>
          <a:xfrm>
            <a:off x="8559787" y="2470119"/>
            <a:ext cx="520727" cy="596931"/>
          </a:xfrm>
          <a:prstGeom prst="rect">
            <a:avLst/>
          </a:prstGeom>
        </p:spPr>
      </p:pic>
      <p:sp>
        <p:nvSpPr>
          <p:cNvPr id="56" name="Text 6">
            <a:extLst>
              <a:ext uri="{FF2B5EF4-FFF2-40B4-BE49-F238E27FC236}">
                <a16:creationId xmlns:a16="http://schemas.microsoft.com/office/drawing/2014/main" id="{C8F11E56-9423-204F-5D25-DA6F1B0F8493}"/>
              </a:ext>
            </a:extLst>
          </p:cNvPr>
          <p:cNvSpPr/>
          <p:nvPr/>
        </p:nvSpPr>
        <p:spPr>
          <a:xfrm>
            <a:off x="521810" y="4302092"/>
            <a:ext cx="9899558" cy="2298733"/>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en-US" altLang="zh-CN" sz="1600" dirty="0"/>
              <a:t>Rescue zone position is determined from the marker pose using unified and publicly specified geometric rules (TBD) </a:t>
            </a:r>
            <a:endParaRPr lang="zh-CN" altLang="zh-CN" sz="1600" dirty="0"/>
          </a:p>
          <a:p>
            <a:pPr marL="285750" lvl="0" indent="-285750">
              <a:spcAft>
                <a:spcPts val="600"/>
              </a:spcAft>
              <a:buFont typeface="Wingdings" panose="05000000000000000000" pitchFamily="2" charset="2"/>
              <a:buChar char="l"/>
            </a:pPr>
            <a:r>
              <a:rPr lang="en-US" altLang="zh-CN" sz="1600" dirty="0"/>
              <a:t>Task 2A is also time-limited and ends when one of the following conditions occurs: (1) The competition time limit is reached; (2) All valid rescue targets have been successfully completed; (3) The referee terminates the run due to safety, equipment failure, or another necessary reason. </a:t>
            </a:r>
          </a:p>
          <a:p>
            <a:pPr marL="285750" lvl="0" indent="-285750">
              <a:spcAft>
                <a:spcPts val="600"/>
              </a:spcAft>
              <a:buFont typeface="Wingdings" panose="05000000000000000000" pitchFamily="2" charset="2"/>
              <a:buChar char="l"/>
            </a:pPr>
            <a:r>
              <a:rPr lang="en-US" altLang="zh-CN" sz="1600" dirty="0"/>
              <a:t>After Task 2A results have been verified, the organizers will reposition the robots to predefined Task 2B starting positions. The map, target list, and other environment information obtained previously are retained. </a:t>
            </a:r>
          </a:p>
          <a:p>
            <a:pPr lvl="0" indent="360000">
              <a:spcAft>
                <a:spcPts val="600"/>
              </a:spcAft>
            </a:pPr>
            <a:endParaRPr lang="en-US" altLang="zh-CN" sz="1600" dirty="0"/>
          </a:p>
        </p:txBody>
      </p:sp>
      <p:sp>
        <p:nvSpPr>
          <p:cNvPr id="22" name="Rectangle 21">
            <a:extLst>
              <a:ext uri="{FF2B5EF4-FFF2-40B4-BE49-F238E27FC236}">
                <a16:creationId xmlns:a16="http://schemas.microsoft.com/office/drawing/2014/main" id="{415F5498-7549-6B2A-B3CC-3578D43AA5E8}"/>
              </a:ext>
            </a:extLst>
          </p:cNvPr>
          <p:cNvSpPr/>
          <p:nvPr/>
        </p:nvSpPr>
        <p:spPr>
          <a:xfrm>
            <a:off x="2387211" y="2699824"/>
            <a:ext cx="648684" cy="1480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926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6ABBA98-3622-49BB-AB63-CF0D107E1D94}"/>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2B   LLM-guided mission</a:t>
            </a:r>
            <a:r>
              <a:rPr lang="en-US" sz="3000" b="1" dirty="0">
                <a:solidFill>
                  <a:srgbClr val="12283B"/>
                </a:solidFill>
                <a:latin typeface="Arial"/>
                <a:ea typeface="Arial"/>
                <a:cs typeface="Arial"/>
              </a:rPr>
              <a:t>: Task flow</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7104DD3D-8304-43D5-B57B-2649CBAF6AE5}"/>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11</a:t>
            </a:r>
          </a:p>
        </p:txBody>
      </p:sp>
      <p:sp>
        <p:nvSpPr>
          <p:cNvPr id="25" name="Shape 2">
            <a:extLst>
              <a:ext uri="{FF2B5EF4-FFF2-40B4-BE49-F238E27FC236}">
                <a16:creationId xmlns:a16="http://schemas.microsoft.com/office/drawing/2014/main" id="{E4C22755-7856-70BB-A4E4-17F5BDB1B833}"/>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7" name="Rectangle 26">
            <a:extLst>
              <a:ext uri="{FF2B5EF4-FFF2-40B4-BE49-F238E27FC236}">
                <a16:creationId xmlns:a16="http://schemas.microsoft.com/office/drawing/2014/main" id="{37F1C946-2B1A-E151-24D5-C4EE2C5BC140}"/>
              </a:ext>
            </a:extLst>
          </p:cNvPr>
          <p:cNvSpPr>
            <a:spLocks noGrp="1"/>
          </p:cNvSpPr>
          <p:nvPr/>
        </p:nvSpPr>
        <p:spPr>
          <a:xfrm>
            <a:off x="425450" y="1285876"/>
            <a:ext cx="11290300" cy="832374"/>
          </a:xfrm>
          <a:prstGeom prst="rect">
            <a:avLst/>
          </a:prstGeom>
          <a:noFill/>
          <a:ln w="9525">
            <a:noFill/>
          </a:ln>
        </p:spPr>
        <p:txBody>
          <a:bodyPr>
            <a:noAutofit/>
          </a:bodyPr>
          <a:lstStyle/>
          <a:p>
            <a:pPr algn="just">
              <a:spcAft>
                <a:spcPts val="600"/>
              </a:spcAft>
            </a:pPr>
            <a:r>
              <a:rPr lang="en-US" altLang="zh-CN" dirty="0"/>
              <a:t>In this task, the LLM acts as a high-level mission interpreter and planner. Its primary role is to understand the natural-language mission instruction and convert mission objectives and high-level constraints into a structured mission plan.</a:t>
            </a:r>
            <a:endParaRPr lang="en-US" altLang="zh-CN" sz="2000" dirty="0"/>
          </a:p>
        </p:txBody>
      </p:sp>
      <p:sp>
        <p:nvSpPr>
          <p:cNvPr id="29" name="Shape 13">
            <a:extLst>
              <a:ext uri="{FF2B5EF4-FFF2-40B4-BE49-F238E27FC236}">
                <a16:creationId xmlns:a16="http://schemas.microsoft.com/office/drawing/2014/main" id="{F7119699-080C-DE4A-3147-6116049B2EE9}"/>
              </a:ext>
            </a:extLst>
          </p:cNvPr>
          <p:cNvSpPr/>
          <p:nvPr/>
        </p:nvSpPr>
        <p:spPr>
          <a:xfrm>
            <a:off x="3480085" y="2345341"/>
            <a:ext cx="4743166" cy="2722845"/>
          </a:xfrm>
          <a:prstGeom prst="roundRect">
            <a:avLst>
              <a:gd name="adj" fmla="val 2500"/>
            </a:avLst>
          </a:prstGeom>
          <a:solidFill>
            <a:srgbClr val="FFF1E4"/>
          </a:solidFill>
          <a:ln w="15240">
            <a:solidFill>
              <a:srgbClr val="F0C69A"/>
            </a:solidFill>
            <a:prstDash val="solid"/>
          </a:ln>
        </p:spPr>
        <p:txBody>
          <a:bodyPr/>
          <a:lstStyle/>
          <a:p>
            <a:endParaRPr lang="zh-CN" altLang="en-US"/>
          </a:p>
        </p:txBody>
      </p:sp>
      <p:sp>
        <p:nvSpPr>
          <p:cNvPr id="31" name="Text 14">
            <a:extLst>
              <a:ext uri="{FF2B5EF4-FFF2-40B4-BE49-F238E27FC236}">
                <a16:creationId xmlns:a16="http://schemas.microsoft.com/office/drawing/2014/main" id="{73382155-0258-CC0E-550B-0670CA10D341}"/>
              </a:ext>
            </a:extLst>
          </p:cNvPr>
          <p:cNvSpPr/>
          <p:nvPr/>
        </p:nvSpPr>
        <p:spPr>
          <a:xfrm>
            <a:off x="3688964" y="2416136"/>
            <a:ext cx="1131129" cy="292608"/>
          </a:xfrm>
          <a:prstGeom prst="rect">
            <a:avLst/>
          </a:prstGeom>
          <a:noFill/>
          <a:ln/>
        </p:spPr>
        <p:txBody>
          <a:bodyPr wrap="square" lIns="0" tIns="0" rIns="0" bIns="0" rtlCol="0" anchor="ctr"/>
          <a:lstStyle/>
          <a:p>
            <a:pPr marL="0" indent="0">
              <a:buNone/>
            </a:pPr>
            <a:r>
              <a:rPr lang="en-US" sz="1600" b="1" dirty="0">
                <a:solidFill>
                  <a:srgbClr val="C97522"/>
                </a:solidFill>
              </a:rPr>
              <a:t>Edge Node</a:t>
            </a:r>
            <a:endParaRPr lang="en-US" sz="1600" dirty="0"/>
          </a:p>
        </p:txBody>
      </p:sp>
      <p:sp>
        <p:nvSpPr>
          <p:cNvPr id="33" name="Text 65">
            <a:extLst>
              <a:ext uri="{FF2B5EF4-FFF2-40B4-BE49-F238E27FC236}">
                <a16:creationId xmlns:a16="http://schemas.microsoft.com/office/drawing/2014/main" id="{CE61B699-2268-92E6-6390-2EC3DC89DEB3}"/>
              </a:ext>
            </a:extLst>
          </p:cNvPr>
          <p:cNvSpPr/>
          <p:nvPr/>
        </p:nvSpPr>
        <p:spPr>
          <a:xfrm>
            <a:off x="8143750" y="4122322"/>
            <a:ext cx="1417320" cy="201168"/>
          </a:xfrm>
          <a:prstGeom prst="rect">
            <a:avLst/>
          </a:prstGeom>
          <a:noFill/>
          <a:ln/>
        </p:spPr>
        <p:txBody>
          <a:bodyPr wrap="square" lIns="0" tIns="0" rIns="0" bIns="0" rtlCol="0" anchor="ctr"/>
          <a:lstStyle/>
          <a:p>
            <a:pPr marL="0" indent="0" algn="ctr">
              <a:buNone/>
            </a:pPr>
            <a:r>
              <a:rPr lang="en-US" sz="1400" b="1" dirty="0">
                <a:solidFill>
                  <a:srgbClr val="2F6FB0"/>
                </a:solidFill>
              </a:rPr>
              <a:t>Task assignments</a:t>
            </a:r>
            <a:endParaRPr lang="en-US" sz="1400" dirty="0"/>
          </a:p>
        </p:txBody>
      </p:sp>
      <p:sp>
        <p:nvSpPr>
          <p:cNvPr id="35" name="Text 67">
            <a:extLst>
              <a:ext uri="{FF2B5EF4-FFF2-40B4-BE49-F238E27FC236}">
                <a16:creationId xmlns:a16="http://schemas.microsoft.com/office/drawing/2014/main" id="{1D762716-D676-8794-723A-ABDA970C310F}"/>
              </a:ext>
            </a:extLst>
          </p:cNvPr>
          <p:cNvSpPr/>
          <p:nvPr/>
        </p:nvSpPr>
        <p:spPr>
          <a:xfrm>
            <a:off x="8143750" y="3108703"/>
            <a:ext cx="1417320" cy="201168"/>
          </a:xfrm>
          <a:prstGeom prst="rect">
            <a:avLst/>
          </a:prstGeom>
          <a:noFill/>
          <a:ln/>
        </p:spPr>
        <p:txBody>
          <a:bodyPr wrap="square" lIns="0" tIns="0" rIns="0" bIns="0" rtlCol="0" anchor="ctr"/>
          <a:lstStyle/>
          <a:p>
            <a:pPr marL="0" indent="0" algn="ctr">
              <a:buNone/>
            </a:pPr>
            <a:r>
              <a:rPr lang="en-US" sz="1400" b="1" dirty="0">
                <a:solidFill>
                  <a:srgbClr val="2F8B57"/>
                </a:solidFill>
              </a:rPr>
              <a:t>State / progress</a:t>
            </a:r>
            <a:endParaRPr lang="en-US" sz="1400" dirty="0"/>
          </a:p>
        </p:txBody>
      </p:sp>
      <p:sp>
        <p:nvSpPr>
          <p:cNvPr id="39" name="Shape 40">
            <a:extLst>
              <a:ext uri="{FF2B5EF4-FFF2-40B4-BE49-F238E27FC236}">
                <a16:creationId xmlns:a16="http://schemas.microsoft.com/office/drawing/2014/main" id="{9259B255-8ABD-ED77-34E2-4C23B2C677D8}"/>
              </a:ext>
            </a:extLst>
          </p:cNvPr>
          <p:cNvSpPr/>
          <p:nvPr/>
        </p:nvSpPr>
        <p:spPr>
          <a:xfrm>
            <a:off x="9481569" y="2480086"/>
            <a:ext cx="2110740" cy="2580947"/>
          </a:xfrm>
          <a:prstGeom prst="roundRect">
            <a:avLst>
              <a:gd name="adj" fmla="val 4118"/>
            </a:avLst>
          </a:prstGeom>
          <a:solidFill>
            <a:srgbClr val="F5FAF7"/>
          </a:solidFill>
          <a:ln w="15240">
            <a:solidFill>
              <a:srgbClr val="CFE5D6"/>
            </a:solidFill>
            <a:prstDash val="solid"/>
          </a:ln>
        </p:spPr>
        <p:txBody>
          <a:bodyPr/>
          <a:lstStyle/>
          <a:p>
            <a:endParaRPr lang="zh-CN" altLang="en-US"/>
          </a:p>
        </p:txBody>
      </p:sp>
      <p:sp>
        <p:nvSpPr>
          <p:cNvPr id="41" name="Text 41">
            <a:extLst>
              <a:ext uri="{FF2B5EF4-FFF2-40B4-BE49-F238E27FC236}">
                <a16:creationId xmlns:a16="http://schemas.microsoft.com/office/drawing/2014/main" id="{4CDF86F8-91A9-3A6C-6CBE-9B445FB09279}"/>
              </a:ext>
            </a:extLst>
          </p:cNvPr>
          <p:cNvSpPr/>
          <p:nvPr/>
        </p:nvSpPr>
        <p:spPr>
          <a:xfrm>
            <a:off x="9568182" y="2576986"/>
            <a:ext cx="1576068" cy="256032"/>
          </a:xfrm>
          <a:prstGeom prst="rect">
            <a:avLst/>
          </a:prstGeom>
          <a:noFill/>
          <a:ln/>
        </p:spPr>
        <p:txBody>
          <a:bodyPr wrap="square" lIns="0" tIns="0" rIns="0" bIns="0" rtlCol="0" anchor="ctr"/>
          <a:lstStyle/>
          <a:p>
            <a:pPr marL="0" indent="0">
              <a:buNone/>
            </a:pPr>
            <a:r>
              <a:rPr lang="en-US" sz="1500" b="1" dirty="0">
                <a:solidFill>
                  <a:srgbClr val="2F8B57"/>
                </a:solidFill>
              </a:rPr>
              <a:t>Multiple Robots</a:t>
            </a:r>
            <a:endParaRPr lang="en-US" sz="1500" dirty="0"/>
          </a:p>
        </p:txBody>
      </p:sp>
      <p:pic>
        <p:nvPicPr>
          <p:cNvPr id="43" name="Picture 42">
            <a:extLst>
              <a:ext uri="{FF2B5EF4-FFF2-40B4-BE49-F238E27FC236}">
                <a16:creationId xmlns:a16="http://schemas.microsoft.com/office/drawing/2014/main" id="{066E4122-C16C-1902-FB62-3F5FF6A9425C}"/>
              </a:ext>
            </a:extLst>
          </p:cNvPr>
          <p:cNvPicPr>
            <a:picLocks noChangeAspect="1"/>
          </p:cNvPicPr>
          <p:nvPr/>
        </p:nvPicPr>
        <p:blipFill>
          <a:blip r:embed="rId3"/>
          <a:stretch>
            <a:fillRect/>
          </a:stretch>
        </p:blipFill>
        <p:spPr>
          <a:xfrm>
            <a:off x="9933777" y="3133173"/>
            <a:ext cx="495325" cy="552478"/>
          </a:xfrm>
          <a:prstGeom prst="rect">
            <a:avLst/>
          </a:prstGeom>
        </p:spPr>
      </p:pic>
      <p:pic>
        <p:nvPicPr>
          <p:cNvPr id="45" name="Picture 44">
            <a:extLst>
              <a:ext uri="{FF2B5EF4-FFF2-40B4-BE49-F238E27FC236}">
                <a16:creationId xmlns:a16="http://schemas.microsoft.com/office/drawing/2014/main" id="{731FD52B-4285-68AA-7AD2-173EEBE1D2D7}"/>
              </a:ext>
            </a:extLst>
          </p:cNvPr>
          <p:cNvPicPr>
            <a:picLocks noChangeAspect="1"/>
          </p:cNvPicPr>
          <p:nvPr/>
        </p:nvPicPr>
        <p:blipFill>
          <a:blip r:embed="rId4"/>
          <a:stretch>
            <a:fillRect/>
          </a:stretch>
        </p:blipFill>
        <p:spPr>
          <a:xfrm>
            <a:off x="10623523" y="3100307"/>
            <a:ext cx="520727" cy="596931"/>
          </a:xfrm>
          <a:prstGeom prst="rect">
            <a:avLst/>
          </a:prstGeom>
        </p:spPr>
      </p:pic>
      <p:sp>
        <p:nvSpPr>
          <p:cNvPr id="47" name="Text 6">
            <a:extLst>
              <a:ext uri="{FF2B5EF4-FFF2-40B4-BE49-F238E27FC236}">
                <a16:creationId xmlns:a16="http://schemas.microsoft.com/office/drawing/2014/main" id="{8531968F-F2FB-D4C8-9ACF-347C0AC0306D}"/>
              </a:ext>
            </a:extLst>
          </p:cNvPr>
          <p:cNvSpPr/>
          <p:nvPr/>
        </p:nvSpPr>
        <p:spPr>
          <a:xfrm>
            <a:off x="9492742" y="4253957"/>
            <a:ext cx="2127758" cy="940755"/>
          </a:xfrm>
          <a:prstGeom prst="rect">
            <a:avLst/>
          </a:prstGeom>
          <a:noFill/>
          <a:ln/>
        </p:spPr>
        <p:txBody>
          <a:bodyPr wrap="square" lIns="254" tIns="254" rIns="254" bIns="254" rtlCol="0" anchor="ctr">
            <a:noAutofit/>
          </a:bodyPr>
          <a:lstStyle/>
          <a:p>
            <a:pPr algn="ctr"/>
            <a:r>
              <a:rPr lang="en-US" altLang="zh-CN" sz="1400" b="1" dirty="0">
                <a:solidFill>
                  <a:srgbClr val="183B66"/>
                </a:solidFill>
              </a:rPr>
              <a:t>Autonomous Navigation &amp; Rescue Execution</a:t>
            </a:r>
            <a:endParaRPr lang="en-US" altLang="zh-CN" sz="1400" dirty="0"/>
          </a:p>
        </p:txBody>
      </p:sp>
      <p:pic>
        <p:nvPicPr>
          <p:cNvPr id="49" name="Picture 48">
            <a:extLst>
              <a:ext uri="{FF2B5EF4-FFF2-40B4-BE49-F238E27FC236}">
                <a16:creationId xmlns:a16="http://schemas.microsoft.com/office/drawing/2014/main" id="{66FCDF45-223D-128E-5C28-FCCA11BABEDB}"/>
              </a:ext>
            </a:extLst>
          </p:cNvPr>
          <p:cNvPicPr>
            <a:picLocks noChangeAspect="1"/>
          </p:cNvPicPr>
          <p:nvPr/>
        </p:nvPicPr>
        <p:blipFill>
          <a:blip r:embed="rId4"/>
          <a:stretch>
            <a:fillRect/>
          </a:stretch>
        </p:blipFill>
        <p:spPr>
          <a:xfrm>
            <a:off x="9908375" y="3726559"/>
            <a:ext cx="520727" cy="596931"/>
          </a:xfrm>
          <a:prstGeom prst="rect">
            <a:avLst/>
          </a:prstGeom>
        </p:spPr>
      </p:pic>
      <p:pic>
        <p:nvPicPr>
          <p:cNvPr id="51" name="Picture 50">
            <a:extLst>
              <a:ext uri="{FF2B5EF4-FFF2-40B4-BE49-F238E27FC236}">
                <a16:creationId xmlns:a16="http://schemas.microsoft.com/office/drawing/2014/main" id="{9ADA3A69-D956-67EA-AAC8-C6251713F794}"/>
              </a:ext>
            </a:extLst>
          </p:cNvPr>
          <p:cNvPicPr>
            <a:picLocks noChangeAspect="1"/>
          </p:cNvPicPr>
          <p:nvPr/>
        </p:nvPicPr>
        <p:blipFill>
          <a:blip r:embed="rId3"/>
          <a:stretch>
            <a:fillRect/>
          </a:stretch>
        </p:blipFill>
        <p:spPr>
          <a:xfrm>
            <a:off x="10623523" y="3760103"/>
            <a:ext cx="495325" cy="552478"/>
          </a:xfrm>
          <a:prstGeom prst="rect">
            <a:avLst/>
          </a:prstGeom>
        </p:spPr>
      </p:pic>
      <p:sp>
        <p:nvSpPr>
          <p:cNvPr id="53" name="Shape 66">
            <a:extLst>
              <a:ext uri="{FF2B5EF4-FFF2-40B4-BE49-F238E27FC236}">
                <a16:creationId xmlns:a16="http://schemas.microsoft.com/office/drawing/2014/main" id="{A8DAA7ED-0017-16CE-5413-F941E836037F}"/>
              </a:ext>
            </a:extLst>
          </p:cNvPr>
          <p:cNvSpPr/>
          <p:nvPr/>
        </p:nvSpPr>
        <p:spPr>
          <a:xfrm rot="16200000">
            <a:off x="8665051" y="3119274"/>
            <a:ext cx="276098" cy="725935"/>
          </a:xfrm>
          <a:prstGeom prst="upArrow">
            <a:avLst/>
          </a:prstGeom>
          <a:solidFill>
            <a:srgbClr val="2F8B57"/>
          </a:solidFill>
          <a:ln w="12700">
            <a:solidFill>
              <a:srgbClr val="2F8B57"/>
            </a:solidFill>
            <a:prstDash val="solid"/>
          </a:ln>
        </p:spPr>
        <p:txBody>
          <a:bodyPr/>
          <a:lstStyle/>
          <a:p>
            <a:endParaRPr lang="zh-CN" altLang="en-US"/>
          </a:p>
        </p:txBody>
      </p:sp>
      <p:sp>
        <p:nvSpPr>
          <p:cNvPr id="55" name="Shape 64">
            <a:extLst>
              <a:ext uri="{FF2B5EF4-FFF2-40B4-BE49-F238E27FC236}">
                <a16:creationId xmlns:a16="http://schemas.microsoft.com/office/drawing/2014/main" id="{B1A726D6-D48C-4C25-8759-04E7EBBACB5E}"/>
              </a:ext>
            </a:extLst>
          </p:cNvPr>
          <p:cNvSpPr/>
          <p:nvPr/>
        </p:nvSpPr>
        <p:spPr>
          <a:xfrm rot="16200000">
            <a:off x="8696344" y="3574505"/>
            <a:ext cx="312132" cy="727966"/>
          </a:xfrm>
          <a:prstGeom prst="downArrow">
            <a:avLst>
              <a:gd name="adj1" fmla="val 50000"/>
              <a:gd name="adj2" fmla="val 50000"/>
            </a:avLst>
          </a:prstGeom>
          <a:solidFill>
            <a:srgbClr val="FFF1E4"/>
          </a:solidFill>
          <a:ln w="12700">
            <a:solidFill>
              <a:srgbClr val="2F6FB0"/>
            </a:solidFill>
            <a:prstDash val="solid"/>
          </a:ln>
        </p:spPr>
        <p:txBody>
          <a:bodyPr/>
          <a:lstStyle/>
          <a:p>
            <a:endParaRPr lang="zh-CN" altLang="en-US"/>
          </a:p>
        </p:txBody>
      </p:sp>
      <p:sp>
        <p:nvSpPr>
          <p:cNvPr id="57" name="Rounded Rectangle 4">
            <a:extLst>
              <a:ext uri="{FF2B5EF4-FFF2-40B4-BE49-F238E27FC236}">
                <a16:creationId xmlns:a16="http://schemas.microsoft.com/office/drawing/2014/main" id="{98205D07-6988-75BF-CD3F-5A4A57C87EE4}"/>
              </a:ext>
            </a:extLst>
          </p:cNvPr>
          <p:cNvSpPr/>
          <p:nvPr/>
        </p:nvSpPr>
        <p:spPr>
          <a:xfrm>
            <a:off x="502920" y="2429627"/>
            <a:ext cx="1874519" cy="1058570"/>
          </a:xfrm>
          <a:prstGeom prst="roundRect">
            <a:avLst/>
          </a:prstGeom>
          <a:solidFill>
            <a:srgbClr val="EFF7FE"/>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70F99602-031B-A5A1-ED70-4514A66406DB}"/>
              </a:ext>
            </a:extLst>
          </p:cNvPr>
          <p:cNvSpPr txBox="1"/>
          <p:nvPr/>
        </p:nvSpPr>
        <p:spPr>
          <a:xfrm>
            <a:off x="502920" y="2491706"/>
            <a:ext cx="1116703" cy="353943"/>
          </a:xfrm>
          <a:prstGeom prst="rect">
            <a:avLst/>
          </a:prstGeom>
          <a:noFill/>
        </p:spPr>
        <p:txBody>
          <a:bodyPr wrap="square" anchor="ctr">
            <a:spAutoFit/>
          </a:bodyPr>
          <a:lstStyle/>
          <a:p>
            <a:pPr algn="ctr"/>
            <a:r>
              <a:rPr sz="1600" b="1" dirty="0">
                <a:solidFill>
                  <a:srgbClr val="152F46"/>
                </a:solidFill>
                <a:latin typeface="Aptos"/>
              </a:rPr>
              <a:t>Operator</a:t>
            </a:r>
            <a:r>
              <a:rPr sz="1700" b="1" dirty="0">
                <a:solidFill>
                  <a:srgbClr val="152F46"/>
                </a:solidFill>
                <a:latin typeface="Aptos"/>
              </a:rPr>
              <a:t> </a:t>
            </a:r>
          </a:p>
        </p:txBody>
      </p:sp>
      <p:sp>
        <p:nvSpPr>
          <p:cNvPr id="61" name="TextBox 60">
            <a:extLst>
              <a:ext uri="{FF2B5EF4-FFF2-40B4-BE49-F238E27FC236}">
                <a16:creationId xmlns:a16="http://schemas.microsoft.com/office/drawing/2014/main" id="{EEBF010A-7F59-6FF3-56AD-01A7C795A7A1}"/>
              </a:ext>
            </a:extLst>
          </p:cNvPr>
          <p:cNvSpPr txBox="1"/>
          <p:nvPr/>
        </p:nvSpPr>
        <p:spPr>
          <a:xfrm>
            <a:off x="683178" y="2835419"/>
            <a:ext cx="1594667" cy="523220"/>
          </a:xfrm>
          <a:prstGeom prst="rect">
            <a:avLst/>
          </a:prstGeom>
          <a:noFill/>
        </p:spPr>
        <p:txBody>
          <a:bodyPr wrap="none" anchor="ctr">
            <a:spAutoFit/>
          </a:bodyPr>
          <a:lstStyle/>
          <a:p>
            <a:pPr algn="ctr"/>
            <a:r>
              <a:rPr sz="1400" b="1" dirty="0">
                <a:solidFill>
                  <a:srgbClr val="232323"/>
                </a:solidFill>
                <a:latin typeface="Aptos"/>
              </a:rPr>
              <a:t>Natural-language
mission input</a:t>
            </a:r>
          </a:p>
        </p:txBody>
      </p:sp>
      <p:sp>
        <p:nvSpPr>
          <p:cNvPr id="63" name="Shape 64">
            <a:extLst>
              <a:ext uri="{FF2B5EF4-FFF2-40B4-BE49-F238E27FC236}">
                <a16:creationId xmlns:a16="http://schemas.microsoft.com/office/drawing/2014/main" id="{0E923CAE-C011-04AD-4D29-6E4B07DA23E8}"/>
              </a:ext>
            </a:extLst>
          </p:cNvPr>
          <p:cNvSpPr/>
          <p:nvPr/>
        </p:nvSpPr>
        <p:spPr>
          <a:xfrm rot="16200000">
            <a:off x="2772696" y="2573385"/>
            <a:ext cx="312132" cy="727966"/>
          </a:xfrm>
          <a:prstGeom prst="downArrow">
            <a:avLst>
              <a:gd name="adj1" fmla="val 50000"/>
              <a:gd name="adj2" fmla="val 50000"/>
            </a:avLst>
          </a:prstGeom>
          <a:solidFill>
            <a:schemeClr val="tx2">
              <a:lumMod val="10000"/>
              <a:lumOff val="90000"/>
            </a:schemeClr>
          </a:solidFill>
          <a:ln w="12700">
            <a:solidFill>
              <a:srgbClr val="2F6FB0"/>
            </a:solidFill>
            <a:prstDash val="solid"/>
          </a:ln>
        </p:spPr>
        <p:txBody>
          <a:bodyPr/>
          <a:lstStyle/>
          <a:p>
            <a:endParaRPr lang="zh-CN" altLang="en-US"/>
          </a:p>
        </p:txBody>
      </p:sp>
      <p:sp>
        <p:nvSpPr>
          <p:cNvPr id="65" name="Rounded Rectangle 12">
            <a:extLst>
              <a:ext uri="{FF2B5EF4-FFF2-40B4-BE49-F238E27FC236}">
                <a16:creationId xmlns:a16="http://schemas.microsoft.com/office/drawing/2014/main" id="{62A5436B-25E8-CD10-1C39-BEB7232ADC64}"/>
              </a:ext>
            </a:extLst>
          </p:cNvPr>
          <p:cNvSpPr/>
          <p:nvPr/>
        </p:nvSpPr>
        <p:spPr>
          <a:xfrm>
            <a:off x="3601164" y="2759587"/>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6155F29A-6669-D8A6-C67F-5462A3735182}"/>
              </a:ext>
            </a:extLst>
          </p:cNvPr>
          <p:cNvSpPr txBox="1"/>
          <p:nvPr/>
        </p:nvSpPr>
        <p:spPr>
          <a:xfrm>
            <a:off x="3652994" y="2823481"/>
            <a:ext cx="2382832" cy="338554"/>
          </a:xfrm>
          <a:prstGeom prst="rect">
            <a:avLst/>
          </a:prstGeom>
          <a:noFill/>
        </p:spPr>
        <p:txBody>
          <a:bodyPr wrap="none" anchor="ctr">
            <a:spAutoFit/>
          </a:bodyPr>
          <a:lstStyle/>
          <a:p>
            <a:pPr algn="l"/>
            <a:r>
              <a:rPr sz="1600" b="1" dirty="0">
                <a:solidFill>
                  <a:srgbClr val="744718"/>
                </a:solidFill>
                <a:latin typeface="Aptos"/>
              </a:rPr>
              <a:t>LLM Mission Interpreter</a:t>
            </a:r>
          </a:p>
        </p:txBody>
      </p:sp>
      <p:sp>
        <p:nvSpPr>
          <p:cNvPr id="69" name="TextBox 68">
            <a:extLst>
              <a:ext uri="{FF2B5EF4-FFF2-40B4-BE49-F238E27FC236}">
                <a16:creationId xmlns:a16="http://schemas.microsoft.com/office/drawing/2014/main" id="{AF72A8C5-62F4-2D14-E7AB-72D92B82BBF0}"/>
              </a:ext>
            </a:extLst>
          </p:cNvPr>
          <p:cNvSpPr txBox="1"/>
          <p:nvPr/>
        </p:nvSpPr>
        <p:spPr>
          <a:xfrm>
            <a:off x="3616529" y="3167390"/>
            <a:ext cx="4558427" cy="523220"/>
          </a:xfrm>
          <a:prstGeom prst="rect">
            <a:avLst/>
          </a:prstGeom>
          <a:noFill/>
        </p:spPr>
        <p:txBody>
          <a:bodyPr wrap="none" anchor="t">
            <a:spAutoFit/>
          </a:bodyPr>
          <a:lstStyle/>
          <a:p>
            <a:pPr algn="l"/>
            <a:r>
              <a:rPr sz="1400" dirty="0">
                <a:solidFill>
                  <a:srgbClr val="2D2D2D"/>
                </a:solidFill>
                <a:latin typeface="Aptos"/>
              </a:rPr>
              <a:t>Interpret instruction</a:t>
            </a:r>
            <a:r>
              <a:rPr lang="zh-CN" altLang="en-US" sz="1400" dirty="0">
                <a:solidFill>
                  <a:srgbClr val="2D2D2D"/>
                </a:solidFill>
                <a:latin typeface="Aptos"/>
              </a:rPr>
              <a:t>，</a:t>
            </a:r>
            <a:r>
              <a:rPr sz="1400" dirty="0">
                <a:solidFill>
                  <a:srgbClr val="2D2D2D"/>
                </a:solidFill>
                <a:latin typeface="Aptos"/>
              </a:rPr>
              <a:t>Extract objectives &amp; constraints</a:t>
            </a:r>
            <a:r>
              <a:rPr lang="zh-CN" altLang="en-US" sz="1400" dirty="0">
                <a:solidFill>
                  <a:srgbClr val="2D2D2D"/>
                </a:solidFill>
                <a:latin typeface="Aptos"/>
              </a:rPr>
              <a:t>，</a:t>
            </a:r>
            <a:r>
              <a:rPr sz="1400" dirty="0">
                <a:solidFill>
                  <a:srgbClr val="2D2D2D"/>
                </a:solidFill>
                <a:latin typeface="Aptos"/>
              </a:rPr>
              <a:t>
Generate a structured mission plan</a:t>
            </a:r>
          </a:p>
        </p:txBody>
      </p:sp>
      <p:sp>
        <p:nvSpPr>
          <p:cNvPr id="71" name="Rounded Rectangle 12">
            <a:extLst>
              <a:ext uri="{FF2B5EF4-FFF2-40B4-BE49-F238E27FC236}">
                <a16:creationId xmlns:a16="http://schemas.microsoft.com/office/drawing/2014/main" id="{AECABCA0-F263-F178-79C3-18A8C31E6E58}"/>
              </a:ext>
            </a:extLst>
          </p:cNvPr>
          <p:cNvSpPr/>
          <p:nvPr/>
        </p:nvSpPr>
        <p:spPr>
          <a:xfrm>
            <a:off x="3601164" y="4087572"/>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E47083FF-7594-B950-DCD9-1E843FD4DBB7}"/>
              </a:ext>
            </a:extLst>
          </p:cNvPr>
          <p:cNvSpPr txBox="1"/>
          <p:nvPr/>
        </p:nvSpPr>
        <p:spPr>
          <a:xfrm>
            <a:off x="3616529" y="4167293"/>
            <a:ext cx="2453107" cy="338554"/>
          </a:xfrm>
          <a:prstGeom prst="rect">
            <a:avLst/>
          </a:prstGeom>
          <a:noFill/>
        </p:spPr>
        <p:txBody>
          <a:bodyPr wrap="none" anchor="ctr">
            <a:spAutoFit/>
          </a:bodyPr>
          <a:lstStyle/>
          <a:p>
            <a:pPr algn="l"/>
            <a:r>
              <a:rPr lang="en-US" altLang="zh-CN" sz="1600" b="1" dirty="0">
                <a:solidFill>
                  <a:srgbClr val="744718"/>
                </a:solidFill>
                <a:latin typeface="Aptos"/>
              </a:rPr>
              <a:t>Multi-Robot Coordinator</a:t>
            </a:r>
            <a:endParaRPr sz="1600" b="1" dirty="0">
              <a:solidFill>
                <a:srgbClr val="744718"/>
              </a:solidFill>
              <a:latin typeface="Aptos"/>
            </a:endParaRPr>
          </a:p>
        </p:txBody>
      </p:sp>
      <p:sp>
        <p:nvSpPr>
          <p:cNvPr id="75" name="TextBox 74">
            <a:extLst>
              <a:ext uri="{FF2B5EF4-FFF2-40B4-BE49-F238E27FC236}">
                <a16:creationId xmlns:a16="http://schemas.microsoft.com/office/drawing/2014/main" id="{F5845482-B9A0-6B65-7108-95B6C9ED574C}"/>
              </a:ext>
            </a:extLst>
          </p:cNvPr>
          <p:cNvSpPr txBox="1"/>
          <p:nvPr/>
        </p:nvSpPr>
        <p:spPr>
          <a:xfrm>
            <a:off x="3652994" y="4495376"/>
            <a:ext cx="4533677" cy="523220"/>
          </a:xfrm>
          <a:prstGeom prst="rect">
            <a:avLst/>
          </a:prstGeom>
          <a:noFill/>
        </p:spPr>
        <p:txBody>
          <a:bodyPr wrap="none" anchor="t">
            <a:spAutoFit/>
          </a:bodyPr>
          <a:lstStyle/>
          <a:p>
            <a:r>
              <a:rPr lang="en-US" altLang="zh-CN" sz="1400" dirty="0">
                <a:solidFill>
                  <a:srgbClr val="2D2D2D"/>
                </a:solidFill>
                <a:latin typeface="Aptos"/>
              </a:rPr>
              <a:t>Execution planning </a:t>
            </a:r>
            <a:r>
              <a:rPr lang="zh-CN" altLang="en-US" sz="1400" dirty="0">
                <a:solidFill>
                  <a:srgbClr val="2D2D2D"/>
                </a:solidFill>
                <a:latin typeface="Aptos"/>
              </a:rPr>
              <a:t>，</a:t>
            </a:r>
            <a:r>
              <a:rPr lang="en-US" altLang="zh-CN" sz="1400" dirty="0">
                <a:solidFill>
                  <a:srgbClr val="2D2D2D"/>
                </a:solidFill>
                <a:latin typeface="Aptos"/>
              </a:rPr>
              <a:t>Robot allocation</a:t>
            </a:r>
            <a:r>
              <a:rPr lang="zh-CN" altLang="en-US" sz="1400" dirty="0">
                <a:solidFill>
                  <a:srgbClr val="2D2D2D"/>
                </a:solidFill>
                <a:latin typeface="Aptos"/>
              </a:rPr>
              <a:t>，</a:t>
            </a:r>
            <a:r>
              <a:rPr lang="en-US" altLang="zh-CN" sz="1400" dirty="0">
                <a:solidFill>
                  <a:srgbClr val="2D2D2D"/>
                </a:solidFill>
                <a:latin typeface="Aptos"/>
              </a:rPr>
              <a:t>Coordination</a:t>
            </a:r>
            <a:r>
              <a:rPr lang="zh-CN" altLang="en-US" sz="1400" dirty="0">
                <a:solidFill>
                  <a:srgbClr val="2D2D2D"/>
                </a:solidFill>
                <a:latin typeface="Aptos"/>
              </a:rPr>
              <a:t>，</a:t>
            </a:r>
            <a:endParaRPr lang="en-US" altLang="zh-CN" sz="1400" dirty="0">
              <a:solidFill>
                <a:srgbClr val="2D2D2D"/>
              </a:solidFill>
              <a:latin typeface="Aptos"/>
            </a:endParaRPr>
          </a:p>
          <a:p>
            <a:r>
              <a:rPr lang="en-US" altLang="zh-CN" sz="1400" dirty="0">
                <a:solidFill>
                  <a:srgbClr val="2D2D2D"/>
                </a:solidFill>
                <a:latin typeface="Aptos"/>
              </a:rPr>
              <a:t>Global state management</a:t>
            </a:r>
          </a:p>
        </p:txBody>
      </p:sp>
      <p:sp>
        <p:nvSpPr>
          <p:cNvPr id="77" name="Down Arrow 15">
            <a:extLst>
              <a:ext uri="{FF2B5EF4-FFF2-40B4-BE49-F238E27FC236}">
                <a16:creationId xmlns:a16="http://schemas.microsoft.com/office/drawing/2014/main" id="{CC3DE0F6-044D-83F6-4EC0-8B5D7A089D35}"/>
              </a:ext>
            </a:extLst>
          </p:cNvPr>
          <p:cNvSpPr/>
          <p:nvPr/>
        </p:nvSpPr>
        <p:spPr>
          <a:xfrm>
            <a:off x="5663800" y="3770331"/>
            <a:ext cx="256032" cy="256032"/>
          </a:xfrm>
          <a:prstGeom prst="downArrow">
            <a:avLst/>
          </a:prstGeom>
          <a:solidFill>
            <a:srgbClr val="C46914"/>
          </a:solidFill>
          <a:ln>
            <a:solidFill>
              <a:srgbClr val="C469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84ABDBF5-2AC4-B6CD-A45F-5049DC988295}"/>
              </a:ext>
            </a:extLst>
          </p:cNvPr>
          <p:cNvSpPr txBox="1"/>
          <p:nvPr/>
        </p:nvSpPr>
        <p:spPr>
          <a:xfrm>
            <a:off x="5919832" y="3755654"/>
            <a:ext cx="1828800" cy="256032"/>
          </a:xfrm>
          <a:prstGeom prst="rect">
            <a:avLst/>
          </a:prstGeom>
          <a:noFill/>
        </p:spPr>
        <p:txBody>
          <a:bodyPr wrap="none" anchor="ctr">
            <a:spAutoFit/>
          </a:bodyPr>
          <a:lstStyle/>
          <a:p>
            <a:pPr algn="l"/>
            <a:r>
              <a:rPr sz="1120" b="1" dirty="0">
                <a:solidFill>
                  <a:srgbClr val="C46914"/>
                </a:solidFill>
                <a:latin typeface="Aptos"/>
              </a:rPr>
              <a:t>Structured mission plan</a:t>
            </a:r>
          </a:p>
        </p:txBody>
      </p:sp>
      <p:sp>
        <p:nvSpPr>
          <p:cNvPr id="80" name="Text 6">
            <a:extLst>
              <a:ext uri="{FF2B5EF4-FFF2-40B4-BE49-F238E27FC236}">
                <a16:creationId xmlns:a16="http://schemas.microsoft.com/office/drawing/2014/main" id="{F5201DC8-CCC7-0485-4499-B7B528CABFE2}"/>
              </a:ext>
            </a:extLst>
          </p:cNvPr>
          <p:cNvSpPr/>
          <p:nvPr/>
        </p:nvSpPr>
        <p:spPr>
          <a:xfrm>
            <a:off x="571500" y="5548358"/>
            <a:ext cx="4099737" cy="1058569"/>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Natural-language mission input interface</a:t>
            </a:r>
            <a:endParaRPr lang="en-US" altLang="zh-CN" sz="1600" dirty="0"/>
          </a:p>
          <a:p>
            <a:pPr marL="285750" lvl="0" indent="-285750">
              <a:spcAft>
                <a:spcPts val="600"/>
              </a:spcAft>
              <a:buFont typeface="Wingdings" panose="05000000000000000000" pitchFamily="2" charset="2"/>
              <a:buChar char="l"/>
            </a:pPr>
            <a:r>
              <a:rPr lang="zh-CN" altLang="zh-CN" sz="1600" dirty="0"/>
              <a:t>LLM prompting and mission interpretation</a:t>
            </a:r>
            <a:endParaRPr lang="en-US" altLang="zh-CN" sz="1600" dirty="0"/>
          </a:p>
          <a:p>
            <a:pPr marL="285750" lvl="0" indent="-285750">
              <a:spcAft>
                <a:spcPts val="600"/>
              </a:spcAft>
              <a:buFont typeface="Wingdings" panose="05000000000000000000" pitchFamily="2" charset="2"/>
              <a:buChar char="l"/>
            </a:pPr>
            <a:r>
              <a:rPr lang="zh-CN" altLang="zh-CN" sz="1600" dirty="0"/>
              <a:t>Structured mission-plan representation</a:t>
            </a:r>
            <a:endParaRPr lang="en-US" altLang="zh-CN" sz="1600" dirty="0"/>
          </a:p>
        </p:txBody>
      </p:sp>
      <p:sp>
        <p:nvSpPr>
          <p:cNvPr id="81" name="TextBox 80">
            <a:extLst>
              <a:ext uri="{FF2B5EF4-FFF2-40B4-BE49-F238E27FC236}">
                <a16:creationId xmlns:a16="http://schemas.microsoft.com/office/drawing/2014/main" id="{6E632995-B5FE-AD80-F3F5-35876CF36AF3}"/>
              </a:ext>
            </a:extLst>
          </p:cNvPr>
          <p:cNvSpPr txBox="1"/>
          <p:nvPr/>
        </p:nvSpPr>
        <p:spPr>
          <a:xfrm>
            <a:off x="476250" y="5179026"/>
            <a:ext cx="1623059" cy="369332"/>
          </a:xfrm>
          <a:prstGeom prst="rect">
            <a:avLst/>
          </a:prstGeom>
          <a:noFill/>
        </p:spPr>
        <p:txBody>
          <a:bodyPr wrap="square" rtlCol="0">
            <a:spAutoFit/>
          </a:bodyPr>
          <a:lstStyle/>
          <a:p>
            <a:r>
              <a:rPr lang="en-US" altLang="zh-CN" b="1" dirty="0"/>
              <a:t>Teams develop</a:t>
            </a:r>
            <a:endParaRPr lang="zh-CN" altLang="en-US" b="1" dirty="0"/>
          </a:p>
        </p:txBody>
      </p:sp>
      <p:sp>
        <p:nvSpPr>
          <p:cNvPr id="82" name="Text 6">
            <a:extLst>
              <a:ext uri="{FF2B5EF4-FFF2-40B4-BE49-F238E27FC236}">
                <a16:creationId xmlns:a16="http://schemas.microsoft.com/office/drawing/2014/main" id="{9048307D-9F8A-9129-1701-E750AEACA6C8}"/>
              </a:ext>
            </a:extLst>
          </p:cNvPr>
          <p:cNvSpPr/>
          <p:nvPr/>
        </p:nvSpPr>
        <p:spPr>
          <a:xfrm>
            <a:off x="5056865" y="5562040"/>
            <a:ext cx="5814320" cy="624341"/>
          </a:xfrm>
          <a:prstGeom prst="rect">
            <a:avLst/>
          </a:prstGeom>
          <a:noFill/>
          <a:ln/>
        </p:spPr>
        <p:txBody>
          <a:bodyPr wrap="square" lIns="254" tIns="254" rIns="254" bIns="254" rtlCol="0" anchor="ctr">
            <a:noAutofit/>
          </a:bodyPr>
          <a:lstStyle/>
          <a:p>
            <a:pPr marL="285750" lvl="0" indent="-285750">
              <a:spcAft>
                <a:spcPts val="600"/>
              </a:spcAft>
              <a:buFont typeface="Wingdings" panose="05000000000000000000" pitchFamily="2" charset="2"/>
              <a:buChar char="l"/>
            </a:pPr>
            <a:r>
              <a:rPr lang="zh-CN" altLang="zh-CN" sz="1600" dirty="0"/>
              <a:t>Integrate the LLM mission layer with the existing Task 2A coordination framewor</a:t>
            </a:r>
            <a:r>
              <a:rPr lang="en-US" altLang="zh-CN" sz="1600" dirty="0"/>
              <a:t>k</a:t>
            </a:r>
          </a:p>
        </p:txBody>
      </p:sp>
      <p:sp>
        <p:nvSpPr>
          <p:cNvPr id="84" name="Rounded Rectangle 4">
            <a:extLst>
              <a:ext uri="{FF2B5EF4-FFF2-40B4-BE49-F238E27FC236}">
                <a16:creationId xmlns:a16="http://schemas.microsoft.com/office/drawing/2014/main" id="{6BC3C2C1-8C7B-51AE-95F7-84115C2A028E}"/>
              </a:ext>
            </a:extLst>
          </p:cNvPr>
          <p:cNvSpPr/>
          <p:nvPr/>
        </p:nvSpPr>
        <p:spPr>
          <a:xfrm>
            <a:off x="914144" y="4038121"/>
            <a:ext cx="1456214" cy="774148"/>
          </a:xfrm>
          <a:prstGeom prst="roundRect">
            <a:avLst/>
          </a:prstGeom>
          <a:solidFill>
            <a:schemeClr val="accent2">
              <a:lumMod val="60000"/>
              <a:lumOff val="40000"/>
            </a:schemeClr>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52449B81-3E66-D412-E5B2-D3D3EEE5BB15}"/>
              </a:ext>
            </a:extLst>
          </p:cNvPr>
          <p:cNvSpPr txBox="1"/>
          <p:nvPr/>
        </p:nvSpPr>
        <p:spPr>
          <a:xfrm>
            <a:off x="1062249" y="4159491"/>
            <a:ext cx="1142299" cy="523220"/>
          </a:xfrm>
          <a:prstGeom prst="rect">
            <a:avLst/>
          </a:prstGeom>
          <a:noFill/>
        </p:spPr>
        <p:txBody>
          <a:bodyPr wrap="none" anchor="ctr">
            <a:spAutoFit/>
          </a:bodyPr>
          <a:lstStyle/>
          <a:p>
            <a:pPr algn="ctr"/>
            <a:r>
              <a:rPr lang="en-US" altLang="zh-CN" sz="1400" b="1" dirty="0">
                <a:solidFill>
                  <a:srgbClr val="232323"/>
                </a:solidFill>
                <a:latin typeface="Aptos"/>
              </a:rPr>
              <a:t>Retained </a:t>
            </a:r>
          </a:p>
          <a:p>
            <a:pPr algn="ctr"/>
            <a:r>
              <a:rPr lang="en-US" altLang="zh-CN" sz="1400" b="1" dirty="0">
                <a:solidFill>
                  <a:srgbClr val="232323"/>
                </a:solidFill>
                <a:latin typeface="Aptos"/>
              </a:rPr>
              <a:t>information</a:t>
            </a:r>
            <a:endParaRPr sz="1400" b="1" dirty="0">
              <a:solidFill>
                <a:srgbClr val="232323"/>
              </a:solidFill>
              <a:latin typeface="Aptos"/>
            </a:endParaRPr>
          </a:p>
        </p:txBody>
      </p:sp>
      <p:sp>
        <p:nvSpPr>
          <p:cNvPr id="90" name="Shape 64">
            <a:extLst>
              <a:ext uri="{FF2B5EF4-FFF2-40B4-BE49-F238E27FC236}">
                <a16:creationId xmlns:a16="http://schemas.microsoft.com/office/drawing/2014/main" id="{12E968EF-C1FC-4AD4-63A4-7F548547D89B}"/>
              </a:ext>
            </a:extLst>
          </p:cNvPr>
          <p:cNvSpPr/>
          <p:nvPr/>
        </p:nvSpPr>
        <p:spPr>
          <a:xfrm rot="16200000">
            <a:off x="2724815" y="4046040"/>
            <a:ext cx="312132" cy="727966"/>
          </a:xfrm>
          <a:prstGeom prst="downArrow">
            <a:avLst>
              <a:gd name="adj1" fmla="val 50000"/>
              <a:gd name="adj2" fmla="val 50000"/>
            </a:avLst>
          </a:prstGeom>
          <a:solidFill>
            <a:schemeClr val="accent2">
              <a:lumMod val="60000"/>
              <a:lumOff val="40000"/>
            </a:schemeClr>
          </a:solidFill>
          <a:ln w="12700">
            <a:solidFill>
              <a:srgbClr val="2F6FB0"/>
            </a:solidFill>
            <a:prstDash val="solid"/>
          </a:ln>
        </p:spPr>
        <p:txBody>
          <a:bodyPr/>
          <a:lstStyle/>
          <a:p>
            <a:endParaRPr lang="zh-CN" altLang="en-US"/>
          </a:p>
        </p:txBody>
      </p:sp>
    </p:spTree>
    <p:extLst>
      <p:ext uri="{BB962C8B-B14F-4D97-AF65-F5344CB8AC3E}">
        <p14:creationId xmlns:p14="http://schemas.microsoft.com/office/powerpoint/2010/main" val="164388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p:bldP spid="8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DF56E-7A4E-5DB7-6749-0B2A513CB266}"/>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73A16D32-3AB2-F848-B498-86EB0BB528F8}"/>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Task 2B   LLM-guided mission</a:t>
            </a:r>
            <a:r>
              <a:rPr lang="en-US" sz="3000" b="1" dirty="0">
                <a:solidFill>
                  <a:srgbClr val="12283B"/>
                </a:solidFill>
                <a:latin typeface="Arial"/>
                <a:ea typeface="Arial"/>
                <a:cs typeface="Arial"/>
              </a:rPr>
              <a:t>: Task flow</a:t>
            </a:r>
            <a:endParaRPr sz="3000" b="1" dirty="0">
              <a:solidFill>
                <a:srgbClr val="12283B"/>
              </a:solidFill>
              <a:latin typeface="Arial"/>
              <a:ea typeface="Arial"/>
              <a:cs typeface="Arial"/>
            </a:endParaRPr>
          </a:p>
        </p:txBody>
      </p:sp>
      <p:sp>
        <p:nvSpPr>
          <p:cNvPr id="3" name="Rectangle 2">
            <a:extLst>
              <a:ext uri="{FF2B5EF4-FFF2-40B4-BE49-F238E27FC236}">
                <a16:creationId xmlns:a16="http://schemas.microsoft.com/office/drawing/2014/main" id="{91130AB0-E96F-BC23-DD6C-E585667A8C3F}"/>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11</a:t>
            </a:r>
          </a:p>
        </p:txBody>
      </p:sp>
      <p:sp>
        <p:nvSpPr>
          <p:cNvPr id="25" name="Shape 2">
            <a:extLst>
              <a:ext uri="{FF2B5EF4-FFF2-40B4-BE49-F238E27FC236}">
                <a16:creationId xmlns:a16="http://schemas.microsoft.com/office/drawing/2014/main" id="{9D91BFC4-4A98-AE32-46A9-ED010BC6E45F}"/>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7" name="Rectangle 26">
            <a:extLst>
              <a:ext uri="{FF2B5EF4-FFF2-40B4-BE49-F238E27FC236}">
                <a16:creationId xmlns:a16="http://schemas.microsoft.com/office/drawing/2014/main" id="{94B0EF53-40FC-66D9-E6C1-4DFECB8755AA}"/>
              </a:ext>
            </a:extLst>
          </p:cNvPr>
          <p:cNvSpPr>
            <a:spLocks noGrp="1"/>
          </p:cNvSpPr>
          <p:nvPr/>
        </p:nvSpPr>
        <p:spPr>
          <a:xfrm>
            <a:off x="425450" y="1285876"/>
            <a:ext cx="11290300" cy="832374"/>
          </a:xfrm>
          <a:prstGeom prst="rect">
            <a:avLst/>
          </a:prstGeom>
          <a:noFill/>
          <a:ln w="9525">
            <a:noFill/>
          </a:ln>
        </p:spPr>
        <p:txBody>
          <a:bodyPr>
            <a:noAutofit/>
          </a:bodyPr>
          <a:lstStyle/>
          <a:p>
            <a:pPr algn="just">
              <a:spcAft>
                <a:spcPts val="600"/>
              </a:spcAft>
            </a:pPr>
            <a:r>
              <a:rPr lang="en-US" altLang="zh-CN" dirty="0"/>
              <a:t>In this task, the LLM acts as a high-level mission interpreter and planner. Its primary role is to understand the natural-language mission instruction and convert mission objectives and high-level constraints into a structured mission plan.</a:t>
            </a:r>
            <a:endParaRPr lang="en-US" altLang="zh-CN" sz="2000" dirty="0"/>
          </a:p>
        </p:txBody>
      </p:sp>
      <p:sp>
        <p:nvSpPr>
          <p:cNvPr id="29" name="Shape 13">
            <a:extLst>
              <a:ext uri="{FF2B5EF4-FFF2-40B4-BE49-F238E27FC236}">
                <a16:creationId xmlns:a16="http://schemas.microsoft.com/office/drawing/2014/main" id="{5D32A059-814B-36BE-DCF4-8F2CDEAE099A}"/>
              </a:ext>
            </a:extLst>
          </p:cNvPr>
          <p:cNvSpPr/>
          <p:nvPr/>
        </p:nvSpPr>
        <p:spPr>
          <a:xfrm>
            <a:off x="3480085" y="2345341"/>
            <a:ext cx="4743166" cy="2722845"/>
          </a:xfrm>
          <a:prstGeom prst="roundRect">
            <a:avLst>
              <a:gd name="adj" fmla="val 2500"/>
            </a:avLst>
          </a:prstGeom>
          <a:solidFill>
            <a:srgbClr val="FFF1E4"/>
          </a:solidFill>
          <a:ln w="15240">
            <a:solidFill>
              <a:srgbClr val="F0C69A"/>
            </a:solidFill>
            <a:prstDash val="solid"/>
          </a:ln>
        </p:spPr>
        <p:txBody>
          <a:bodyPr/>
          <a:lstStyle/>
          <a:p>
            <a:endParaRPr lang="zh-CN" altLang="en-US"/>
          </a:p>
        </p:txBody>
      </p:sp>
      <p:sp>
        <p:nvSpPr>
          <p:cNvPr id="31" name="Text 14">
            <a:extLst>
              <a:ext uri="{FF2B5EF4-FFF2-40B4-BE49-F238E27FC236}">
                <a16:creationId xmlns:a16="http://schemas.microsoft.com/office/drawing/2014/main" id="{38123249-AB32-33AB-CE54-A25B39E4A5D6}"/>
              </a:ext>
            </a:extLst>
          </p:cNvPr>
          <p:cNvSpPr/>
          <p:nvPr/>
        </p:nvSpPr>
        <p:spPr>
          <a:xfrm>
            <a:off x="3688964" y="2416136"/>
            <a:ext cx="1131129" cy="292608"/>
          </a:xfrm>
          <a:prstGeom prst="rect">
            <a:avLst/>
          </a:prstGeom>
          <a:noFill/>
          <a:ln/>
        </p:spPr>
        <p:txBody>
          <a:bodyPr wrap="square" lIns="0" tIns="0" rIns="0" bIns="0" rtlCol="0" anchor="ctr"/>
          <a:lstStyle/>
          <a:p>
            <a:pPr marL="0" indent="0">
              <a:buNone/>
            </a:pPr>
            <a:r>
              <a:rPr lang="en-US" sz="1600" b="1" dirty="0">
                <a:solidFill>
                  <a:srgbClr val="C97522"/>
                </a:solidFill>
              </a:rPr>
              <a:t>Edge Node</a:t>
            </a:r>
            <a:endParaRPr lang="en-US" sz="1600" dirty="0"/>
          </a:p>
        </p:txBody>
      </p:sp>
      <p:sp>
        <p:nvSpPr>
          <p:cNvPr id="33" name="Text 65">
            <a:extLst>
              <a:ext uri="{FF2B5EF4-FFF2-40B4-BE49-F238E27FC236}">
                <a16:creationId xmlns:a16="http://schemas.microsoft.com/office/drawing/2014/main" id="{CE6E322E-3D85-0776-18EF-C6F080791FB0}"/>
              </a:ext>
            </a:extLst>
          </p:cNvPr>
          <p:cNvSpPr/>
          <p:nvPr/>
        </p:nvSpPr>
        <p:spPr>
          <a:xfrm>
            <a:off x="8143750" y="4122322"/>
            <a:ext cx="1417320" cy="201168"/>
          </a:xfrm>
          <a:prstGeom prst="rect">
            <a:avLst/>
          </a:prstGeom>
          <a:noFill/>
          <a:ln/>
        </p:spPr>
        <p:txBody>
          <a:bodyPr wrap="square" lIns="0" tIns="0" rIns="0" bIns="0" rtlCol="0" anchor="ctr"/>
          <a:lstStyle/>
          <a:p>
            <a:pPr marL="0" indent="0" algn="ctr">
              <a:buNone/>
            </a:pPr>
            <a:r>
              <a:rPr lang="en-US" sz="1400" b="1" dirty="0">
                <a:solidFill>
                  <a:srgbClr val="2F6FB0"/>
                </a:solidFill>
              </a:rPr>
              <a:t>Task assignments</a:t>
            </a:r>
            <a:endParaRPr lang="en-US" sz="1400" dirty="0"/>
          </a:p>
        </p:txBody>
      </p:sp>
      <p:sp>
        <p:nvSpPr>
          <p:cNvPr id="35" name="Text 67">
            <a:extLst>
              <a:ext uri="{FF2B5EF4-FFF2-40B4-BE49-F238E27FC236}">
                <a16:creationId xmlns:a16="http://schemas.microsoft.com/office/drawing/2014/main" id="{FE31EE88-D929-9593-2436-D3805BF107E8}"/>
              </a:ext>
            </a:extLst>
          </p:cNvPr>
          <p:cNvSpPr/>
          <p:nvPr/>
        </p:nvSpPr>
        <p:spPr>
          <a:xfrm>
            <a:off x="8143750" y="3108703"/>
            <a:ext cx="1417320" cy="201168"/>
          </a:xfrm>
          <a:prstGeom prst="rect">
            <a:avLst/>
          </a:prstGeom>
          <a:noFill/>
          <a:ln/>
        </p:spPr>
        <p:txBody>
          <a:bodyPr wrap="square" lIns="0" tIns="0" rIns="0" bIns="0" rtlCol="0" anchor="ctr"/>
          <a:lstStyle/>
          <a:p>
            <a:pPr marL="0" indent="0" algn="ctr">
              <a:buNone/>
            </a:pPr>
            <a:r>
              <a:rPr lang="en-US" sz="1400" b="1" dirty="0">
                <a:solidFill>
                  <a:srgbClr val="2F8B57"/>
                </a:solidFill>
              </a:rPr>
              <a:t>State / progress</a:t>
            </a:r>
            <a:endParaRPr lang="en-US" sz="1400" dirty="0"/>
          </a:p>
        </p:txBody>
      </p:sp>
      <p:sp>
        <p:nvSpPr>
          <p:cNvPr id="39" name="Shape 40">
            <a:extLst>
              <a:ext uri="{FF2B5EF4-FFF2-40B4-BE49-F238E27FC236}">
                <a16:creationId xmlns:a16="http://schemas.microsoft.com/office/drawing/2014/main" id="{B27489EC-E393-94DC-C0AE-FAD057DA0EE4}"/>
              </a:ext>
            </a:extLst>
          </p:cNvPr>
          <p:cNvSpPr/>
          <p:nvPr/>
        </p:nvSpPr>
        <p:spPr>
          <a:xfrm>
            <a:off x="9481569" y="2480086"/>
            <a:ext cx="2110740" cy="2580947"/>
          </a:xfrm>
          <a:prstGeom prst="roundRect">
            <a:avLst>
              <a:gd name="adj" fmla="val 4118"/>
            </a:avLst>
          </a:prstGeom>
          <a:solidFill>
            <a:srgbClr val="F5FAF7"/>
          </a:solidFill>
          <a:ln w="15240">
            <a:solidFill>
              <a:srgbClr val="CFE5D6"/>
            </a:solidFill>
            <a:prstDash val="solid"/>
          </a:ln>
        </p:spPr>
        <p:txBody>
          <a:bodyPr/>
          <a:lstStyle/>
          <a:p>
            <a:endParaRPr lang="zh-CN" altLang="en-US"/>
          </a:p>
        </p:txBody>
      </p:sp>
      <p:sp>
        <p:nvSpPr>
          <p:cNvPr id="41" name="Text 41">
            <a:extLst>
              <a:ext uri="{FF2B5EF4-FFF2-40B4-BE49-F238E27FC236}">
                <a16:creationId xmlns:a16="http://schemas.microsoft.com/office/drawing/2014/main" id="{7B5F9924-0F1C-79D8-4B9B-5C42F9C355C8}"/>
              </a:ext>
            </a:extLst>
          </p:cNvPr>
          <p:cNvSpPr/>
          <p:nvPr/>
        </p:nvSpPr>
        <p:spPr>
          <a:xfrm>
            <a:off x="9568182" y="2576986"/>
            <a:ext cx="1576068" cy="256032"/>
          </a:xfrm>
          <a:prstGeom prst="rect">
            <a:avLst/>
          </a:prstGeom>
          <a:noFill/>
          <a:ln/>
        </p:spPr>
        <p:txBody>
          <a:bodyPr wrap="square" lIns="0" tIns="0" rIns="0" bIns="0" rtlCol="0" anchor="ctr"/>
          <a:lstStyle/>
          <a:p>
            <a:pPr marL="0" indent="0">
              <a:buNone/>
            </a:pPr>
            <a:r>
              <a:rPr lang="en-US" sz="1500" b="1" dirty="0">
                <a:solidFill>
                  <a:srgbClr val="2F8B57"/>
                </a:solidFill>
              </a:rPr>
              <a:t>Multiple Robots</a:t>
            </a:r>
            <a:endParaRPr lang="en-US" sz="1500" dirty="0"/>
          </a:p>
        </p:txBody>
      </p:sp>
      <p:pic>
        <p:nvPicPr>
          <p:cNvPr id="43" name="Picture 42">
            <a:extLst>
              <a:ext uri="{FF2B5EF4-FFF2-40B4-BE49-F238E27FC236}">
                <a16:creationId xmlns:a16="http://schemas.microsoft.com/office/drawing/2014/main" id="{DA0806BA-3CE9-9754-EAA7-AF5737CF4455}"/>
              </a:ext>
            </a:extLst>
          </p:cNvPr>
          <p:cNvPicPr>
            <a:picLocks noChangeAspect="1"/>
          </p:cNvPicPr>
          <p:nvPr/>
        </p:nvPicPr>
        <p:blipFill>
          <a:blip r:embed="rId3"/>
          <a:stretch>
            <a:fillRect/>
          </a:stretch>
        </p:blipFill>
        <p:spPr>
          <a:xfrm>
            <a:off x="9933777" y="3133173"/>
            <a:ext cx="495325" cy="552478"/>
          </a:xfrm>
          <a:prstGeom prst="rect">
            <a:avLst/>
          </a:prstGeom>
        </p:spPr>
      </p:pic>
      <p:pic>
        <p:nvPicPr>
          <p:cNvPr id="45" name="Picture 44">
            <a:extLst>
              <a:ext uri="{FF2B5EF4-FFF2-40B4-BE49-F238E27FC236}">
                <a16:creationId xmlns:a16="http://schemas.microsoft.com/office/drawing/2014/main" id="{F1DC4822-48EC-8A4A-ECF7-D5F099094146}"/>
              </a:ext>
            </a:extLst>
          </p:cNvPr>
          <p:cNvPicPr>
            <a:picLocks noChangeAspect="1"/>
          </p:cNvPicPr>
          <p:nvPr/>
        </p:nvPicPr>
        <p:blipFill>
          <a:blip r:embed="rId4"/>
          <a:stretch>
            <a:fillRect/>
          </a:stretch>
        </p:blipFill>
        <p:spPr>
          <a:xfrm>
            <a:off x="10623523" y="3100307"/>
            <a:ext cx="520727" cy="596931"/>
          </a:xfrm>
          <a:prstGeom prst="rect">
            <a:avLst/>
          </a:prstGeom>
        </p:spPr>
      </p:pic>
      <p:sp>
        <p:nvSpPr>
          <p:cNvPr id="47" name="Text 6">
            <a:extLst>
              <a:ext uri="{FF2B5EF4-FFF2-40B4-BE49-F238E27FC236}">
                <a16:creationId xmlns:a16="http://schemas.microsoft.com/office/drawing/2014/main" id="{3E0DB2A8-E79B-CD2C-647D-AA31CE920294}"/>
              </a:ext>
            </a:extLst>
          </p:cNvPr>
          <p:cNvSpPr/>
          <p:nvPr/>
        </p:nvSpPr>
        <p:spPr>
          <a:xfrm>
            <a:off x="9492742" y="4253957"/>
            <a:ext cx="2127758" cy="940755"/>
          </a:xfrm>
          <a:prstGeom prst="rect">
            <a:avLst/>
          </a:prstGeom>
          <a:noFill/>
          <a:ln/>
        </p:spPr>
        <p:txBody>
          <a:bodyPr wrap="square" lIns="254" tIns="254" rIns="254" bIns="254" rtlCol="0" anchor="ctr">
            <a:noAutofit/>
          </a:bodyPr>
          <a:lstStyle/>
          <a:p>
            <a:pPr algn="ctr"/>
            <a:r>
              <a:rPr lang="en-US" altLang="zh-CN" sz="1400" b="1" dirty="0">
                <a:solidFill>
                  <a:srgbClr val="183B66"/>
                </a:solidFill>
              </a:rPr>
              <a:t>Autonomous Navigation &amp; Rescue Execution</a:t>
            </a:r>
            <a:endParaRPr lang="en-US" altLang="zh-CN" sz="1400" dirty="0"/>
          </a:p>
        </p:txBody>
      </p:sp>
      <p:pic>
        <p:nvPicPr>
          <p:cNvPr id="49" name="Picture 48">
            <a:extLst>
              <a:ext uri="{FF2B5EF4-FFF2-40B4-BE49-F238E27FC236}">
                <a16:creationId xmlns:a16="http://schemas.microsoft.com/office/drawing/2014/main" id="{9CA4122C-C51D-8D90-ECE5-8BCCF3277458}"/>
              </a:ext>
            </a:extLst>
          </p:cNvPr>
          <p:cNvPicPr>
            <a:picLocks noChangeAspect="1"/>
          </p:cNvPicPr>
          <p:nvPr/>
        </p:nvPicPr>
        <p:blipFill>
          <a:blip r:embed="rId4"/>
          <a:stretch>
            <a:fillRect/>
          </a:stretch>
        </p:blipFill>
        <p:spPr>
          <a:xfrm>
            <a:off x="9908375" y="3726559"/>
            <a:ext cx="520727" cy="596931"/>
          </a:xfrm>
          <a:prstGeom prst="rect">
            <a:avLst/>
          </a:prstGeom>
        </p:spPr>
      </p:pic>
      <p:pic>
        <p:nvPicPr>
          <p:cNvPr id="51" name="Picture 50">
            <a:extLst>
              <a:ext uri="{FF2B5EF4-FFF2-40B4-BE49-F238E27FC236}">
                <a16:creationId xmlns:a16="http://schemas.microsoft.com/office/drawing/2014/main" id="{D176BF7C-7F3C-2ACD-A811-398DC15BCB63}"/>
              </a:ext>
            </a:extLst>
          </p:cNvPr>
          <p:cNvPicPr>
            <a:picLocks noChangeAspect="1"/>
          </p:cNvPicPr>
          <p:nvPr/>
        </p:nvPicPr>
        <p:blipFill>
          <a:blip r:embed="rId3"/>
          <a:stretch>
            <a:fillRect/>
          </a:stretch>
        </p:blipFill>
        <p:spPr>
          <a:xfrm>
            <a:off x="10623523" y="3760103"/>
            <a:ext cx="495325" cy="552478"/>
          </a:xfrm>
          <a:prstGeom prst="rect">
            <a:avLst/>
          </a:prstGeom>
        </p:spPr>
      </p:pic>
      <p:sp>
        <p:nvSpPr>
          <p:cNvPr id="53" name="Shape 66">
            <a:extLst>
              <a:ext uri="{FF2B5EF4-FFF2-40B4-BE49-F238E27FC236}">
                <a16:creationId xmlns:a16="http://schemas.microsoft.com/office/drawing/2014/main" id="{14432301-D16F-1A66-FF99-90786FB41A61}"/>
              </a:ext>
            </a:extLst>
          </p:cNvPr>
          <p:cNvSpPr/>
          <p:nvPr/>
        </p:nvSpPr>
        <p:spPr>
          <a:xfrm rot="16200000">
            <a:off x="8665051" y="3119274"/>
            <a:ext cx="276098" cy="725935"/>
          </a:xfrm>
          <a:prstGeom prst="upArrow">
            <a:avLst/>
          </a:prstGeom>
          <a:solidFill>
            <a:srgbClr val="2F8B57"/>
          </a:solidFill>
          <a:ln w="12700">
            <a:solidFill>
              <a:srgbClr val="2F8B57"/>
            </a:solidFill>
            <a:prstDash val="solid"/>
          </a:ln>
        </p:spPr>
        <p:txBody>
          <a:bodyPr/>
          <a:lstStyle/>
          <a:p>
            <a:endParaRPr lang="zh-CN" altLang="en-US"/>
          </a:p>
        </p:txBody>
      </p:sp>
      <p:sp>
        <p:nvSpPr>
          <p:cNvPr id="55" name="Shape 64">
            <a:extLst>
              <a:ext uri="{FF2B5EF4-FFF2-40B4-BE49-F238E27FC236}">
                <a16:creationId xmlns:a16="http://schemas.microsoft.com/office/drawing/2014/main" id="{C4F6C82D-3D5E-E2FC-70CE-2962EBC1A289}"/>
              </a:ext>
            </a:extLst>
          </p:cNvPr>
          <p:cNvSpPr/>
          <p:nvPr/>
        </p:nvSpPr>
        <p:spPr>
          <a:xfrm rot="16200000">
            <a:off x="8696344" y="3574505"/>
            <a:ext cx="312132" cy="727966"/>
          </a:xfrm>
          <a:prstGeom prst="downArrow">
            <a:avLst>
              <a:gd name="adj1" fmla="val 50000"/>
              <a:gd name="adj2" fmla="val 50000"/>
            </a:avLst>
          </a:prstGeom>
          <a:solidFill>
            <a:srgbClr val="FFF1E4"/>
          </a:solidFill>
          <a:ln w="12700">
            <a:solidFill>
              <a:srgbClr val="2F6FB0"/>
            </a:solidFill>
            <a:prstDash val="solid"/>
          </a:ln>
        </p:spPr>
        <p:txBody>
          <a:bodyPr/>
          <a:lstStyle/>
          <a:p>
            <a:endParaRPr lang="zh-CN" altLang="en-US"/>
          </a:p>
        </p:txBody>
      </p:sp>
      <p:sp>
        <p:nvSpPr>
          <p:cNvPr id="57" name="Rounded Rectangle 4">
            <a:extLst>
              <a:ext uri="{FF2B5EF4-FFF2-40B4-BE49-F238E27FC236}">
                <a16:creationId xmlns:a16="http://schemas.microsoft.com/office/drawing/2014/main" id="{92571EF4-6FFB-0626-F39C-E6C3F91AA22B}"/>
              </a:ext>
            </a:extLst>
          </p:cNvPr>
          <p:cNvSpPr/>
          <p:nvPr/>
        </p:nvSpPr>
        <p:spPr>
          <a:xfrm>
            <a:off x="502920" y="2429627"/>
            <a:ext cx="1874519" cy="1058570"/>
          </a:xfrm>
          <a:prstGeom prst="roundRect">
            <a:avLst/>
          </a:prstGeom>
          <a:solidFill>
            <a:srgbClr val="EFF7FE"/>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51F5C59B-35E5-A02A-2830-64AA65B0A5CA}"/>
              </a:ext>
            </a:extLst>
          </p:cNvPr>
          <p:cNvSpPr txBox="1"/>
          <p:nvPr/>
        </p:nvSpPr>
        <p:spPr>
          <a:xfrm>
            <a:off x="502920" y="2491706"/>
            <a:ext cx="1116703" cy="353943"/>
          </a:xfrm>
          <a:prstGeom prst="rect">
            <a:avLst/>
          </a:prstGeom>
          <a:noFill/>
        </p:spPr>
        <p:txBody>
          <a:bodyPr wrap="square" anchor="ctr">
            <a:spAutoFit/>
          </a:bodyPr>
          <a:lstStyle/>
          <a:p>
            <a:pPr algn="ctr"/>
            <a:r>
              <a:rPr sz="1600" b="1" dirty="0">
                <a:solidFill>
                  <a:srgbClr val="152F46"/>
                </a:solidFill>
                <a:latin typeface="Aptos"/>
              </a:rPr>
              <a:t>Operator</a:t>
            </a:r>
            <a:r>
              <a:rPr sz="1700" b="1" dirty="0">
                <a:solidFill>
                  <a:srgbClr val="152F46"/>
                </a:solidFill>
                <a:latin typeface="Aptos"/>
              </a:rPr>
              <a:t> </a:t>
            </a:r>
          </a:p>
        </p:txBody>
      </p:sp>
      <p:sp>
        <p:nvSpPr>
          <p:cNvPr id="61" name="TextBox 60">
            <a:extLst>
              <a:ext uri="{FF2B5EF4-FFF2-40B4-BE49-F238E27FC236}">
                <a16:creationId xmlns:a16="http://schemas.microsoft.com/office/drawing/2014/main" id="{6C763910-9940-F510-5915-DD166785F88D}"/>
              </a:ext>
            </a:extLst>
          </p:cNvPr>
          <p:cNvSpPr txBox="1"/>
          <p:nvPr/>
        </p:nvSpPr>
        <p:spPr>
          <a:xfrm>
            <a:off x="683178" y="2835419"/>
            <a:ext cx="1594667" cy="523220"/>
          </a:xfrm>
          <a:prstGeom prst="rect">
            <a:avLst/>
          </a:prstGeom>
          <a:noFill/>
        </p:spPr>
        <p:txBody>
          <a:bodyPr wrap="none" anchor="ctr">
            <a:spAutoFit/>
          </a:bodyPr>
          <a:lstStyle/>
          <a:p>
            <a:pPr algn="ctr"/>
            <a:r>
              <a:rPr sz="1400" b="1" dirty="0">
                <a:solidFill>
                  <a:srgbClr val="232323"/>
                </a:solidFill>
                <a:latin typeface="Aptos"/>
              </a:rPr>
              <a:t>Natural-language
mission input</a:t>
            </a:r>
          </a:p>
        </p:txBody>
      </p:sp>
      <p:sp>
        <p:nvSpPr>
          <p:cNvPr id="63" name="Shape 64">
            <a:extLst>
              <a:ext uri="{FF2B5EF4-FFF2-40B4-BE49-F238E27FC236}">
                <a16:creationId xmlns:a16="http://schemas.microsoft.com/office/drawing/2014/main" id="{489871F5-2381-5B0D-AAE4-9DC4AE341736}"/>
              </a:ext>
            </a:extLst>
          </p:cNvPr>
          <p:cNvSpPr/>
          <p:nvPr/>
        </p:nvSpPr>
        <p:spPr>
          <a:xfrm rot="16200000">
            <a:off x="2772696" y="2573385"/>
            <a:ext cx="312132" cy="727966"/>
          </a:xfrm>
          <a:prstGeom prst="downArrow">
            <a:avLst>
              <a:gd name="adj1" fmla="val 50000"/>
              <a:gd name="adj2" fmla="val 50000"/>
            </a:avLst>
          </a:prstGeom>
          <a:solidFill>
            <a:schemeClr val="tx2">
              <a:lumMod val="10000"/>
              <a:lumOff val="90000"/>
            </a:schemeClr>
          </a:solidFill>
          <a:ln w="12700">
            <a:solidFill>
              <a:srgbClr val="2F6FB0"/>
            </a:solidFill>
            <a:prstDash val="solid"/>
          </a:ln>
        </p:spPr>
        <p:txBody>
          <a:bodyPr/>
          <a:lstStyle/>
          <a:p>
            <a:endParaRPr lang="zh-CN" altLang="en-US"/>
          </a:p>
        </p:txBody>
      </p:sp>
      <p:sp>
        <p:nvSpPr>
          <p:cNvPr id="65" name="Rounded Rectangle 12">
            <a:extLst>
              <a:ext uri="{FF2B5EF4-FFF2-40B4-BE49-F238E27FC236}">
                <a16:creationId xmlns:a16="http://schemas.microsoft.com/office/drawing/2014/main" id="{ECBD4D27-45D5-4355-375F-8A0879A71EB8}"/>
              </a:ext>
            </a:extLst>
          </p:cNvPr>
          <p:cNvSpPr/>
          <p:nvPr/>
        </p:nvSpPr>
        <p:spPr>
          <a:xfrm>
            <a:off x="3601164" y="2759587"/>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D34B3CB5-C096-31D2-BDBE-D528944FC152}"/>
              </a:ext>
            </a:extLst>
          </p:cNvPr>
          <p:cNvSpPr txBox="1"/>
          <p:nvPr/>
        </p:nvSpPr>
        <p:spPr>
          <a:xfrm>
            <a:off x="3652994" y="2823481"/>
            <a:ext cx="2382832" cy="338554"/>
          </a:xfrm>
          <a:prstGeom prst="rect">
            <a:avLst/>
          </a:prstGeom>
          <a:noFill/>
        </p:spPr>
        <p:txBody>
          <a:bodyPr wrap="none" anchor="ctr">
            <a:spAutoFit/>
          </a:bodyPr>
          <a:lstStyle/>
          <a:p>
            <a:pPr algn="l"/>
            <a:r>
              <a:rPr sz="1600" b="1" dirty="0">
                <a:solidFill>
                  <a:srgbClr val="744718"/>
                </a:solidFill>
                <a:latin typeface="Aptos"/>
              </a:rPr>
              <a:t>LLM Mission Interpreter</a:t>
            </a:r>
          </a:p>
        </p:txBody>
      </p:sp>
      <p:sp>
        <p:nvSpPr>
          <p:cNvPr id="69" name="TextBox 68">
            <a:extLst>
              <a:ext uri="{FF2B5EF4-FFF2-40B4-BE49-F238E27FC236}">
                <a16:creationId xmlns:a16="http://schemas.microsoft.com/office/drawing/2014/main" id="{D1056ED9-F546-D79D-63ED-5EE8A625064F}"/>
              </a:ext>
            </a:extLst>
          </p:cNvPr>
          <p:cNvSpPr txBox="1"/>
          <p:nvPr/>
        </p:nvSpPr>
        <p:spPr>
          <a:xfrm>
            <a:off x="3616529" y="3167390"/>
            <a:ext cx="4558427" cy="523220"/>
          </a:xfrm>
          <a:prstGeom prst="rect">
            <a:avLst/>
          </a:prstGeom>
          <a:noFill/>
        </p:spPr>
        <p:txBody>
          <a:bodyPr wrap="none" anchor="t">
            <a:spAutoFit/>
          </a:bodyPr>
          <a:lstStyle/>
          <a:p>
            <a:pPr algn="l"/>
            <a:r>
              <a:rPr sz="1400" dirty="0">
                <a:solidFill>
                  <a:srgbClr val="2D2D2D"/>
                </a:solidFill>
                <a:latin typeface="Aptos"/>
              </a:rPr>
              <a:t>Interpret instruction</a:t>
            </a:r>
            <a:r>
              <a:rPr lang="zh-CN" altLang="en-US" sz="1400" dirty="0">
                <a:solidFill>
                  <a:srgbClr val="2D2D2D"/>
                </a:solidFill>
                <a:latin typeface="Aptos"/>
              </a:rPr>
              <a:t>，</a:t>
            </a:r>
            <a:r>
              <a:rPr sz="1400" dirty="0">
                <a:solidFill>
                  <a:srgbClr val="2D2D2D"/>
                </a:solidFill>
                <a:latin typeface="Aptos"/>
              </a:rPr>
              <a:t>Extract objectives &amp; constraints</a:t>
            </a:r>
            <a:r>
              <a:rPr lang="zh-CN" altLang="en-US" sz="1400" dirty="0">
                <a:solidFill>
                  <a:srgbClr val="2D2D2D"/>
                </a:solidFill>
                <a:latin typeface="Aptos"/>
              </a:rPr>
              <a:t>，</a:t>
            </a:r>
            <a:r>
              <a:rPr sz="1400" dirty="0">
                <a:solidFill>
                  <a:srgbClr val="2D2D2D"/>
                </a:solidFill>
                <a:latin typeface="Aptos"/>
              </a:rPr>
              <a:t>
Generate a structured mission plan</a:t>
            </a:r>
          </a:p>
        </p:txBody>
      </p:sp>
      <p:sp>
        <p:nvSpPr>
          <p:cNvPr id="71" name="Rounded Rectangle 12">
            <a:extLst>
              <a:ext uri="{FF2B5EF4-FFF2-40B4-BE49-F238E27FC236}">
                <a16:creationId xmlns:a16="http://schemas.microsoft.com/office/drawing/2014/main" id="{44E27B78-4206-64C8-4214-43ACF021C43A}"/>
              </a:ext>
            </a:extLst>
          </p:cNvPr>
          <p:cNvSpPr/>
          <p:nvPr/>
        </p:nvSpPr>
        <p:spPr>
          <a:xfrm>
            <a:off x="3601164" y="4087572"/>
            <a:ext cx="4445685" cy="931024"/>
          </a:xfrm>
          <a:prstGeom prst="roundRect">
            <a:avLst/>
          </a:prstGeom>
          <a:solidFill>
            <a:srgbClr val="FFFFFF"/>
          </a:solidFill>
          <a:ln w="15240">
            <a:solidFill>
              <a:srgbClr val="E5BE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a:extLst>
              <a:ext uri="{FF2B5EF4-FFF2-40B4-BE49-F238E27FC236}">
                <a16:creationId xmlns:a16="http://schemas.microsoft.com/office/drawing/2014/main" id="{FF54C80D-B289-7E36-BD67-0B60B08246BC}"/>
              </a:ext>
            </a:extLst>
          </p:cNvPr>
          <p:cNvSpPr txBox="1"/>
          <p:nvPr/>
        </p:nvSpPr>
        <p:spPr>
          <a:xfrm>
            <a:off x="3616529" y="4167293"/>
            <a:ext cx="2453107" cy="338554"/>
          </a:xfrm>
          <a:prstGeom prst="rect">
            <a:avLst/>
          </a:prstGeom>
          <a:noFill/>
        </p:spPr>
        <p:txBody>
          <a:bodyPr wrap="none" anchor="ctr">
            <a:spAutoFit/>
          </a:bodyPr>
          <a:lstStyle/>
          <a:p>
            <a:pPr algn="l"/>
            <a:r>
              <a:rPr lang="en-US" altLang="zh-CN" sz="1600" b="1" dirty="0">
                <a:solidFill>
                  <a:srgbClr val="744718"/>
                </a:solidFill>
                <a:latin typeface="Aptos"/>
              </a:rPr>
              <a:t>Multi-Robot Coordinator</a:t>
            </a:r>
            <a:endParaRPr sz="1600" b="1" dirty="0">
              <a:solidFill>
                <a:srgbClr val="744718"/>
              </a:solidFill>
              <a:latin typeface="Aptos"/>
            </a:endParaRPr>
          </a:p>
        </p:txBody>
      </p:sp>
      <p:sp>
        <p:nvSpPr>
          <p:cNvPr id="75" name="TextBox 74">
            <a:extLst>
              <a:ext uri="{FF2B5EF4-FFF2-40B4-BE49-F238E27FC236}">
                <a16:creationId xmlns:a16="http://schemas.microsoft.com/office/drawing/2014/main" id="{9B2826BA-0D70-A86B-66FF-C3BCE68E343D}"/>
              </a:ext>
            </a:extLst>
          </p:cNvPr>
          <p:cNvSpPr txBox="1"/>
          <p:nvPr/>
        </p:nvSpPr>
        <p:spPr>
          <a:xfrm>
            <a:off x="3652994" y="4495376"/>
            <a:ext cx="4533677" cy="523220"/>
          </a:xfrm>
          <a:prstGeom prst="rect">
            <a:avLst/>
          </a:prstGeom>
          <a:noFill/>
        </p:spPr>
        <p:txBody>
          <a:bodyPr wrap="none" anchor="t">
            <a:spAutoFit/>
          </a:bodyPr>
          <a:lstStyle/>
          <a:p>
            <a:r>
              <a:rPr lang="en-US" altLang="zh-CN" sz="1400" dirty="0">
                <a:solidFill>
                  <a:srgbClr val="2D2D2D"/>
                </a:solidFill>
                <a:latin typeface="Aptos"/>
              </a:rPr>
              <a:t>Execution planning </a:t>
            </a:r>
            <a:r>
              <a:rPr lang="zh-CN" altLang="en-US" sz="1400" dirty="0">
                <a:solidFill>
                  <a:srgbClr val="2D2D2D"/>
                </a:solidFill>
                <a:latin typeface="Aptos"/>
              </a:rPr>
              <a:t>，</a:t>
            </a:r>
            <a:r>
              <a:rPr lang="en-US" altLang="zh-CN" sz="1400" dirty="0">
                <a:solidFill>
                  <a:srgbClr val="2D2D2D"/>
                </a:solidFill>
                <a:latin typeface="Aptos"/>
              </a:rPr>
              <a:t>Robot allocation</a:t>
            </a:r>
            <a:r>
              <a:rPr lang="zh-CN" altLang="en-US" sz="1400" dirty="0">
                <a:solidFill>
                  <a:srgbClr val="2D2D2D"/>
                </a:solidFill>
                <a:latin typeface="Aptos"/>
              </a:rPr>
              <a:t>，</a:t>
            </a:r>
            <a:r>
              <a:rPr lang="en-US" altLang="zh-CN" sz="1400" dirty="0">
                <a:solidFill>
                  <a:srgbClr val="2D2D2D"/>
                </a:solidFill>
                <a:latin typeface="Aptos"/>
              </a:rPr>
              <a:t>Coordination</a:t>
            </a:r>
            <a:r>
              <a:rPr lang="zh-CN" altLang="en-US" sz="1400" dirty="0">
                <a:solidFill>
                  <a:srgbClr val="2D2D2D"/>
                </a:solidFill>
                <a:latin typeface="Aptos"/>
              </a:rPr>
              <a:t>，</a:t>
            </a:r>
            <a:endParaRPr lang="en-US" altLang="zh-CN" sz="1400" dirty="0">
              <a:solidFill>
                <a:srgbClr val="2D2D2D"/>
              </a:solidFill>
              <a:latin typeface="Aptos"/>
            </a:endParaRPr>
          </a:p>
          <a:p>
            <a:r>
              <a:rPr lang="en-US" altLang="zh-CN" sz="1400" dirty="0">
                <a:solidFill>
                  <a:srgbClr val="2D2D2D"/>
                </a:solidFill>
                <a:latin typeface="Aptos"/>
              </a:rPr>
              <a:t>Global state management</a:t>
            </a:r>
          </a:p>
        </p:txBody>
      </p:sp>
      <p:sp>
        <p:nvSpPr>
          <p:cNvPr id="77" name="Down Arrow 15">
            <a:extLst>
              <a:ext uri="{FF2B5EF4-FFF2-40B4-BE49-F238E27FC236}">
                <a16:creationId xmlns:a16="http://schemas.microsoft.com/office/drawing/2014/main" id="{FD56C035-13B3-9EFE-06DF-97CD92129657}"/>
              </a:ext>
            </a:extLst>
          </p:cNvPr>
          <p:cNvSpPr/>
          <p:nvPr/>
        </p:nvSpPr>
        <p:spPr>
          <a:xfrm>
            <a:off x="5663800" y="3770331"/>
            <a:ext cx="256032" cy="256032"/>
          </a:xfrm>
          <a:prstGeom prst="downArrow">
            <a:avLst/>
          </a:prstGeom>
          <a:solidFill>
            <a:srgbClr val="C46914"/>
          </a:solidFill>
          <a:ln>
            <a:solidFill>
              <a:srgbClr val="C469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E3281391-8EC6-39B4-1A99-B49E5280097F}"/>
              </a:ext>
            </a:extLst>
          </p:cNvPr>
          <p:cNvSpPr txBox="1"/>
          <p:nvPr/>
        </p:nvSpPr>
        <p:spPr>
          <a:xfrm>
            <a:off x="5919832" y="3755654"/>
            <a:ext cx="1828800" cy="256032"/>
          </a:xfrm>
          <a:prstGeom prst="rect">
            <a:avLst/>
          </a:prstGeom>
          <a:noFill/>
        </p:spPr>
        <p:txBody>
          <a:bodyPr wrap="none" anchor="ctr">
            <a:spAutoFit/>
          </a:bodyPr>
          <a:lstStyle/>
          <a:p>
            <a:pPr algn="l"/>
            <a:r>
              <a:rPr sz="1120" b="1" dirty="0">
                <a:solidFill>
                  <a:srgbClr val="C46914"/>
                </a:solidFill>
                <a:latin typeface="Aptos"/>
              </a:rPr>
              <a:t>Structured mission plan</a:t>
            </a:r>
          </a:p>
        </p:txBody>
      </p:sp>
      <p:sp>
        <p:nvSpPr>
          <p:cNvPr id="84" name="Rounded Rectangle 4">
            <a:extLst>
              <a:ext uri="{FF2B5EF4-FFF2-40B4-BE49-F238E27FC236}">
                <a16:creationId xmlns:a16="http://schemas.microsoft.com/office/drawing/2014/main" id="{9D1E0FE9-429F-7904-6A59-7B5DF44B52F3}"/>
              </a:ext>
            </a:extLst>
          </p:cNvPr>
          <p:cNvSpPr/>
          <p:nvPr/>
        </p:nvSpPr>
        <p:spPr>
          <a:xfrm>
            <a:off x="914144" y="4038121"/>
            <a:ext cx="1456214" cy="774148"/>
          </a:xfrm>
          <a:prstGeom prst="roundRect">
            <a:avLst/>
          </a:prstGeom>
          <a:solidFill>
            <a:schemeClr val="accent2">
              <a:lumMod val="60000"/>
              <a:lumOff val="40000"/>
            </a:schemeClr>
          </a:solidFill>
          <a:ln w="15240">
            <a:solidFill>
              <a:srgbClr val="A5C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D7AEB385-4A97-3C8A-5696-63E6C15B371A}"/>
              </a:ext>
            </a:extLst>
          </p:cNvPr>
          <p:cNvSpPr txBox="1"/>
          <p:nvPr/>
        </p:nvSpPr>
        <p:spPr>
          <a:xfrm>
            <a:off x="1062249" y="4159491"/>
            <a:ext cx="1142299" cy="523220"/>
          </a:xfrm>
          <a:prstGeom prst="rect">
            <a:avLst/>
          </a:prstGeom>
          <a:noFill/>
        </p:spPr>
        <p:txBody>
          <a:bodyPr wrap="none" anchor="ctr">
            <a:spAutoFit/>
          </a:bodyPr>
          <a:lstStyle/>
          <a:p>
            <a:pPr algn="ctr"/>
            <a:r>
              <a:rPr lang="en-US" altLang="zh-CN" sz="1400" b="1" dirty="0">
                <a:solidFill>
                  <a:srgbClr val="232323"/>
                </a:solidFill>
                <a:latin typeface="Aptos"/>
              </a:rPr>
              <a:t>Retained </a:t>
            </a:r>
          </a:p>
          <a:p>
            <a:pPr algn="ctr"/>
            <a:r>
              <a:rPr lang="en-US" altLang="zh-CN" sz="1400" b="1" dirty="0">
                <a:solidFill>
                  <a:srgbClr val="232323"/>
                </a:solidFill>
                <a:latin typeface="Aptos"/>
              </a:rPr>
              <a:t>information</a:t>
            </a:r>
            <a:endParaRPr sz="1400" b="1" dirty="0">
              <a:solidFill>
                <a:srgbClr val="232323"/>
              </a:solidFill>
              <a:latin typeface="Aptos"/>
            </a:endParaRPr>
          </a:p>
        </p:txBody>
      </p:sp>
      <p:sp>
        <p:nvSpPr>
          <p:cNvPr id="90" name="Shape 64">
            <a:extLst>
              <a:ext uri="{FF2B5EF4-FFF2-40B4-BE49-F238E27FC236}">
                <a16:creationId xmlns:a16="http://schemas.microsoft.com/office/drawing/2014/main" id="{170ED645-0B33-AB31-F410-F1DF8E5F8438}"/>
              </a:ext>
            </a:extLst>
          </p:cNvPr>
          <p:cNvSpPr/>
          <p:nvPr/>
        </p:nvSpPr>
        <p:spPr>
          <a:xfrm rot="16200000">
            <a:off x="2724815" y="4046040"/>
            <a:ext cx="312132" cy="727966"/>
          </a:xfrm>
          <a:prstGeom prst="downArrow">
            <a:avLst>
              <a:gd name="adj1" fmla="val 50000"/>
              <a:gd name="adj2" fmla="val 50000"/>
            </a:avLst>
          </a:prstGeom>
          <a:solidFill>
            <a:schemeClr val="accent2">
              <a:lumMod val="60000"/>
              <a:lumOff val="40000"/>
            </a:schemeClr>
          </a:solidFill>
          <a:ln w="12700">
            <a:solidFill>
              <a:srgbClr val="2F6FB0"/>
            </a:solidFill>
            <a:prstDash val="solid"/>
          </a:ln>
        </p:spPr>
        <p:txBody>
          <a:bodyPr/>
          <a:lstStyle/>
          <a:p>
            <a:endParaRPr lang="zh-CN" altLang="en-US"/>
          </a:p>
        </p:txBody>
      </p:sp>
      <p:sp>
        <p:nvSpPr>
          <p:cNvPr id="4" name="TextBox 3">
            <a:extLst>
              <a:ext uri="{FF2B5EF4-FFF2-40B4-BE49-F238E27FC236}">
                <a16:creationId xmlns:a16="http://schemas.microsoft.com/office/drawing/2014/main" id="{35752CDE-FC9B-7C3D-61B0-9827389F87A9}"/>
              </a:ext>
            </a:extLst>
          </p:cNvPr>
          <p:cNvSpPr txBox="1"/>
          <p:nvPr/>
        </p:nvSpPr>
        <p:spPr>
          <a:xfrm>
            <a:off x="434339" y="5202173"/>
            <a:ext cx="2011680" cy="320040"/>
          </a:xfrm>
          <a:prstGeom prst="rect">
            <a:avLst/>
          </a:prstGeom>
          <a:noFill/>
        </p:spPr>
        <p:txBody>
          <a:bodyPr wrap="square" anchor="t">
            <a:spAutoFit/>
          </a:bodyPr>
          <a:lstStyle/>
          <a:p>
            <a:pPr algn="l"/>
            <a:r>
              <a:rPr sz="1750" b="1" dirty="0">
                <a:solidFill>
                  <a:srgbClr val="173047"/>
                </a:solidFill>
                <a:latin typeface="Aptos"/>
              </a:rPr>
              <a:t>Simple Example</a:t>
            </a:r>
          </a:p>
        </p:txBody>
      </p:sp>
      <p:sp>
        <p:nvSpPr>
          <p:cNvPr id="6" name="Rounded Rectangle 11">
            <a:extLst>
              <a:ext uri="{FF2B5EF4-FFF2-40B4-BE49-F238E27FC236}">
                <a16:creationId xmlns:a16="http://schemas.microsoft.com/office/drawing/2014/main" id="{141BDC30-A72A-2106-1750-4B8680561C55}"/>
              </a:ext>
            </a:extLst>
          </p:cNvPr>
          <p:cNvSpPr/>
          <p:nvPr/>
        </p:nvSpPr>
        <p:spPr>
          <a:xfrm>
            <a:off x="562919" y="5637861"/>
            <a:ext cx="2971800" cy="1078992"/>
          </a:xfrm>
          <a:prstGeom prst="roundRect">
            <a:avLst/>
          </a:prstGeom>
          <a:solidFill>
            <a:srgbClr val="F2F7FC"/>
          </a:solidFill>
          <a:ln w="15240">
            <a:solidFill>
              <a:srgbClr val="B6C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8BA14C67-1ADE-AFF2-737F-F878AEFA4F97}"/>
              </a:ext>
            </a:extLst>
          </p:cNvPr>
          <p:cNvSpPr txBox="1"/>
          <p:nvPr/>
        </p:nvSpPr>
        <p:spPr>
          <a:xfrm>
            <a:off x="745799" y="5775021"/>
            <a:ext cx="2606040" cy="338554"/>
          </a:xfrm>
          <a:prstGeom prst="rect">
            <a:avLst/>
          </a:prstGeom>
          <a:noFill/>
        </p:spPr>
        <p:txBody>
          <a:bodyPr wrap="square" anchor="t">
            <a:spAutoFit/>
          </a:bodyPr>
          <a:lstStyle/>
          <a:p>
            <a:pPr algn="ctr"/>
            <a:r>
              <a:rPr sz="1600" b="1" dirty="0">
                <a:solidFill>
                  <a:srgbClr val="306AA7"/>
                </a:solidFill>
                <a:latin typeface="Aptos"/>
              </a:rPr>
              <a:t>Natural-language mission</a:t>
            </a:r>
          </a:p>
        </p:txBody>
      </p:sp>
      <p:sp>
        <p:nvSpPr>
          <p:cNvPr id="10" name="TextBox 9">
            <a:extLst>
              <a:ext uri="{FF2B5EF4-FFF2-40B4-BE49-F238E27FC236}">
                <a16:creationId xmlns:a16="http://schemas.microsoft.com/office/drawing/2014/main" id="{7DBBD5DC-A202-87AF-33A2-84A59563C5E9}"/>
              </a:ext>
            </a:extLst>
          </p:cNvPr>
          <p:cNvSpPr txBox="1"/>
          <p:nvPr/>
        </p:nvSpPr>
        <p:spPr>
          <a:xfrm>
            <a:off x="658931" y="6070765"/>
            <a:ext cx="2779776" cy="523220"/>
          </a:xfrm>
          <a:prstGeom prst="rect">
            <a:avLst/>
          </a:prstGeom>
          <a:noFill/>
        </p:spPr>
        <p:txBody>
          <a:bodyPr wrap="square" anchor="ctr">
            <a:spAutoFit/>
          </a:bodyPr>
          <a:lstStyle/>
          <a:p>
            <a:pPr algn="ctr"/>
            <a:r>
              <a:rPr sz="1400" b="0" dirty="0">
                <a:solidFill>
                  <a:srgbClr val="232323"/>
                </a:solidFill>
                <a:latin typeface="Aptos"/>
              </a:rPr>
              <a:t>“Rescue T2 first. Then T1 and T3.
Complete TC1 last.”</a:t>
            </a:r>
          </a:p>
        </p:txBody>
      </p:sp>
      <p:sp>
        <p:nvSpPr>
          <p:cNvPr id="12" name="Chevron 14">
            <a:extLst>
              <a:ext uri="{FF2B5EF4-FFF2-40B4-BE49-F238E27FC236}">
                <a16:creationId xmlns:a16="http://schemas.microsoft.com/office/drawing/2014/main" id="{3E214267-1A11-70DF-E381-7140E3805BD8}"/>
              </a:ext>
            </a:extLst>
          </p:cNvPr>
          <p:cNvSpPr/>
          <p:nvPr/>
        </p:nvSpPr>
        <p:spPr>
          <a:xfrm>
            <a:off x="3653591" y="5930469"/>
            <a:ext cx="502920" cy="384048"/>
          </a:xfrm>
          <a:prstGeom prst="chevron">
            <a:avLst/>
          </a:prstGeom>
          <a:solidFill>
            <a:srgbClr val="306AA7"/>
          </a:solidFill>
          <a:ln>
            <a:solidFill>
              <a:srgbClr val="306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5">
            <a:extLst>
              <a:ext uri="{FF2B5EF4-FFF2-40B4-BE49-F238E27FC236}">
                <a16:creationId xmlns:a16="http://schemas.microsoft.com/office/drawing/2014/main" id="{E2CDB599-C742-5BFB-92C8-5CBCFD977BDF}"/>
              </a:ext>
            </a:extLst>
          </p:cNvPr>
          <p:cNvSpPr/>
          <p:nvPr/>
        </p:nvSpPr>
        <p:spPr>
          <a:xfrm>
            <a:off x="4266239" y="5637861"/>
            <a:ext cx="3246120" cy="1078992"/>
          </a:xfrm>
          <a:prstGeom prst="roundRect">
            <a:avLst/>
          </a:prstGeom>
          <a:solidFill>
            <a:srgbClr val="FFF8EF"/>
          </a:solidFill>
          <a:ln w="15240">
            <a:solidFill>
              <a:srgbClr val="EBC3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ADC4C0E-77E8-442E-5411-E487AF4D512D}"/>
              </a:ext>
            </a:extLst>
          </p:cNvPr>
          <p:cNvSpPr txBox="1"/>
          <p:nvPr/>
        </p:nvSpPr>
        <p:spPr>
          <a:xfrm>
            <a:off x="4449119" y="5775021"/>
            <a:ext cx="3063240" cy="338554"/>
          </a:xfrm>
          <a:prstGeom prst="rect">
            <a:avLst/>
          </a:prstGeom>
          <a:noFill/>
        </p:spPr>
        <p:txBody>
          <a:bodyPr wrap="square" anchor="t">
            <a:spAutoFit/>
          </a:bodyPr>
          <a:lstStyle/>
          <a:p>
            <a:pPr algn="ctr"/>
            <a:r>
              <a:rPr sz="1600" b="1" dirty="0">
                <a:solidFill>
                  <a:srgbClr val="B76819"/>
                </a:solidFill>
                <a:latin typeface="Aptos"/>
              </a:rPr>
              <a:t>LLM → Structured mission plan</a:t>
            </a:r>
          </a:p>
        </p:txBody>
      </p:sp>
      <p:sp>
        <p:nvSpPr>
          <p:cNvPr id="18" name="TextBox 17">
            <a:extLst>
              <a:ext uri="{FF2B5EF4-FFF2-40B4-BE49-F238E27FC236}">
                <a16:creationId xmlns:a16="http://schemas.microsoft.com/office/drawing/2014/main" id="{64C2E03C-BB5E-E53A-9481-2401AB7B92A9}"/>
              </a:ext>
            </a:extLst>
          </p:cNvPr>
          <p:cNvSpPr txBox="1"/>
          <p:nvPr/>
        </p:nvSpPr>
        <p:spPr>
          <a:xfrm>
            <a:off x="4449119" y="6142340"/>
            <a:ext cx="2880360" cy="307777"/>
          </a:xfrm>
          <a:prstGeom prst="rect">
            <a:avLst/>
          </a:prstGeom>
          <a:noFill/>
        </p:spPr>
        <p:txBody>
          <a:bodyPr wrap="square" anchor="ctr">
            <a:spAutoFit/>
          </a:bodyPr>
          <a:lstStyle/>
          <a:p>
            <a:pPr algn="ctr"/>
            <a:r>
              <a:rPr sz="1400" b="1" dirty="0">
                <a:solidFill>
                  <a:srgbClr val="414141"/>
                </a:solidFill>
                <a:latin typeface="Aptos"/>
              </a:rPr>
              <a:t>T2  →  {T1, T3}  →  TC1</a:t>
            </a:r>
          </a:p>
        </p:txBody>
      </p:sp>
      <p:sp>
        <p:nvSpPr>
          <p:cNvPr id="20" name="Chevron 18">
            <a:extLst>
              <a:ext uri="{FF2B5EF4-FFF2-40B4-BE49-F238E27FC236}">
                <a16:creationId xmlns:a16="http://schemas.microsoft.com/office/drawing/2014/main" id="{DC792127-5FD1-C45E-1318-0E1ECB338824}"/>
              </a:ext>
            </a:extLst>
          </p:cNvPr>
          <p:cNvSpPr/>
          <p:nvPr/>
        </p:nvSpPr>
        <p:spPr>
          <a:xfrm>
            <a:off x="7631231" y="5930469"/>
            <a:ext cx="502920" cy="384048"/>
          </a:xfrm>
          <a:prstGeom prst="chevron">
            <a:avLst/>
          </a:prstGeom>
          <a:solidFill>
            <a:srgbClr val="306AA7"/>
          </a:solidFill>
          <a:ln>
            <a:solidFill>
              <a:srgbClr val="306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9">
            <a:extLst>
              <a:ext uri="{FF2B5EF4-FFF2-40B4-BE49-F238E27FC236}">
                <a16:creationId xmlns:a16="http://schemas.microsoft.com/office/drawing/2014/main" id="{A2A73A3B-CCBB-4647-5A1B-0161F2C3B458}"/>
              </a:ext>
            </a:extLst>
          </p:cNvPr>
          <p:cNvSpPr/>
          <p:nvPr/>
        </p:nvSpPr>
        <p:spPr>
          <a:xfrm>
            <a:off x="8243879" y="5637861"/>
            <a:ext cx="3246120" cy="1078992"/>
          </a:xfrm>
          <a:prstGeom prst="roundRect">
            <a:avLst/>
          </a:prstGeom>
          <a:solidFill>
            <a:srgbClr val="F7F9FB"/>
          </a:solidFill>
          <a:ln w="15240">
            <a:solidFill>
              <a:srgbClr val="C6C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FB1AA73C-7929-B2CD-D0C3-3BEF0AD817C7}"/>
              </a:ext>
            </a:extLst>
          </p:cNvPr>
          <p:cNvSpPr txBox="1"/>
          <p:nvPr/>
        </p:nvSpPr>
        <p:spPr>
          <a:xfrm>
            <a:off x="8426759" y="5775021"/>
            <a:ext cx="2880360" cy="338554"/>
          </a:xfrm>
          <a:prstGeom prst="rect">
            <a:avLst/>
          </a:prstGeom>
          <a:noFill/>
        </p:spPr>
        <p:txBody>
          <a:bodyPr wrap="square" anchor="t">
            <a:spAutoFit/>
          </a:bodyPr>
          <a:lstStyle/>
          <a:p>
            <a:pPr algn="ctr"/>
            <a:r>
              <a:rPr sz="1600" b="1" dirty="0">
                <a:solidFill>
                  <a:srgbClr val="173047"/>
                </a:solidFill>
                <a:latin typeface="Aptos"/>
              </a:rPr>
              <a:t>Coordinator / Robots</a:t>
            </a:r>
          </a:p>
        </p:txBody>
      </p:sp>
      <p:sp>
        <p:nvSpPr>
          <p:cNvPr id="30" name="TextBox 29">
            <a:extLst>
              <a:ext uri="{FF2B5EF4-FFF2-40B4-BE49-F238E27FC236}">
                <a16:creationId xmlns:a16="http://schemas.microsoft.com/office/drawing/2014/main" id="{C5F501D0-5148-796E-A89B-EC2F8974F1B8}"/>
              </a:ext>
            </a:extLst>
          </p:cNvPr>
          <p:cNvSpPr txBox="1"/>
          <p:nvPr/>
        </p:nvSpPr>
        <p:spPr>
          <a:xfrm>
            <a:off x="8426759" y="6025475"/>
            <a:ext cx="2880360" cy="523220"/>
          </a:xfrm>
          <a:prstGeom prst="rect">
            <a:avLst/>
          </a:prstGeom>
          <a:noFill/>
        </p:spPr>
        <p:txBody>
          <a:bodyPr wrap="square" anchor="ctr">
            <a:spAutoFit/>
          </a:bodyPr>
          <a:lstStyle/>
          <a:p>
            <a:pPr algn="ctr"/>
            <a:r>
              <a:rPr sz="1400" b="0" dirty="0">
                <a:solidFill>
                  <a:srgbClr val="2D2D2D"/>
                </a:solidFill>
                <a:latin typeface="Aptos"/>
              </a:rPr>
              <a:t>Robot assignment, navigation,
coordination and rescue execution</a:t>
            </a:r>
          </a:p>
        </p:txBody>
      </p:sp>
    </p:spTree>
    <p:extLst>
      <p:ext uri="{BB962C8B-B14F-4D97-AF65-F5344CB8AC3E}">
        <p14:creationId xmlns:p14="http://schemas.microsoft.com/office/powerpoint/2010/main" val="4266051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2532DFD-6AD0-4A07-BCFA-306C83012AF2}"/>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Robot platform and development environment</a:t>
            </a:r>
          </a:p>
        </p:txBody>
      </p:sp>
      <p:sp>
        <p:nvSpPr>
          <p:cNvPr id="3" name="Rectangle 2">
            <a:extLst>
              <a:ext uri="{FF2B5EF4-FFF2-40B4-BE49-F238E27FC236}">
                <a16:creationId xmlns:a16="http://schemas.microsoft.com/office/drawing/2014/main" id="{296E1E3C-3FD3-4FB5-A124-E5F8997F721A}"/>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04</a:t>
            </a:r>
          </a:p>
        </p:txBody>
      </p:sp>
      <p:sp>
        <p:nvSpPr>
          <p:cNvPr id="13" name="Shape 2">
            <a:extLst>
              <a:ext uri="{FF2B5EF4-FFF2-40B4-BE49-F238E27FC236}">
                <a16:creationId xmlns:a16="http://schemas.microsoft.com/office/drawing/2014/main" id="{90A7C3E0-3CBC-272C-C9C5-531940A1A6F9}"/>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14" name="Picture 13">
            <a:extLst>
              <a:ext uri="{FF2B5EF4-FFF2-40B4-BE49-F238E27FC236}">
                <a16:creationId xmlns:a16="http://schemas.microsoft.com/office/drawing/2014/main" id="{BB0B82D2-8F70-0B97-D44C-90A3335A7A33}"/>
              </a:ext>
            </a:extLst>
          </p:cNvPr>
          <p:cNvPicPr>
            <a:picLocks noChangeAspect="1"/>
          </p:cNvPicPr>
          <p:nvPr/>
        </p:nvPicPr>
        <p:blipFill>
          <a:blip r:embed="rId3"/>
          <a:stretch>
            <a:fillRect/>
          </a:stretch>
        </p:blipFill>
        <p:spPr>
          <a:xfrm>
            <a:off x="7744208" y="1634777"/>
            <a:ext cx="3590380" cy="2083117"/>
          </a:xfrm>
          <a:prstGeom prst="rect">
            <a:avLst/>
          </a:prstGeom>
        </p:spPr>
      </p:pic>
      <p:sp>
        <p:nvSpPr>
          <p:cNvPr id="16" name="Rectangle 15">
            <a:extLst>
              <a:ext uri="{FF2B5EF4-FFF2-40B4-BE49-F238E27FC236}">
                <a16:creationId xmlns:a16="http://schemas.microsoft.com/office/drawing/2014/main" id="{2E43065C-13C8-CD42-948A-70CF6C3463EA}"/>
              </a:ext>
            </a:extLst>
          </p:cNvPr>
          <p:cNvSpPr>
            <a:spLocks noGrp="1"/>
          </p:cNvSpPr>
          <p:nvPr/>
        </p:nvSpPr>
        <p:spPr>
          <a:xfrm>
            <a:off x="438150" y="1170395"/>
            <a:ext cx="7078980" cy="408545"/>
          </a:xfrm>
          <a:prstGeom prst="rect">
            <a:avLst/>
          </a:prstGeom>
          <a:noFill/>
          <a:ln w="9525">
            <a:noFill/>
          </a:ln>
        </p:spPr>
        <p:txBody>
          <a:bodyPr>
            <a:noAutofit/>
          </a:bodyPr>
          <a:lstStyle/>
          <a:p>
            <a:pPr algn="just"/>
            <a:r>
              <a:rPr lang="en-US" altLang="zh-CN" sz="2000" dirty="0"/>
              <a:t>The competition uses differential-drive wheeled mobile robots:</a:t>
            </a:r>
          </a:p>
        </p:txBody>
      </p:sp>
      <p:sp>
        <p:nvSpPr>
          <p:cNvPr id="18" name="Shape 8">
            <a:extLst>
              <a:ext uri="{FF2B5EF4-FFF2-40B4-BE49-F238E27FC236}">
                <a16:creationId xmlns:a16="http://schemas.microsoft.com/office/drawing/2014/main" id="{0F16FF22-2487-44A7-B724-07CD93ED416C}"/>
              </a:ext>
            </a:extLst>
          </p:cNvPr>
          <p:cNvSpPr/>
          <p:nvPr/>
        </p:nvSpPr>
        <p:spPr>
          <a:xfrm>
            <a:off x="944141" y="1718540"/>
            <a:ext cx="2844800" cy="1321107"/>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0" name="Shape 8">
            <a:extLst>
              <a:ext uri="{FF2B5EF4-FFF2-40B4-BE49-F238E27FC236}">
                <a16:creationId xmlns:a16="http://schemas.microsoft.com/office/drawing/2014/main" id="{A32F6876-D55F-6D22-71F5-EEA6AC807861}"/>
              </a:ext>
            </a:extLst>
          </p:cNvPr>
          <p:cNvSpPr/>
          <p:nvPr/>
        </p:nvSpPr>
        <p:spPr>
          <a:xfrm>
            <a:off x="4030241" y="1718540"/>
            <a:ext cx="2844800" cy="1321107"/>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2" name="Shape 8">
            <a:extLst>
              <a:ext uri="{FF2B5EF4-FFF2-40B4-BE49-F238E27FC236}">
                <a16:creationId xmlns:a16="http://schemas.microsoft.com/office/drawing/2014/main" id="{4C499C22-63C3-F750-02C3-3A07A769C7C2}"/>
              </a:ext>
            </a:extLst>
          </p:cNvPr>
          <p:cNvSpPr/>
          <p:nvPr/>
        </p:nvSpPr>
        <p:spPr>
          <a:xfrm>
            <a:off x="944141" y="3225704"/>
            <a:ext cx="2844800" cy="1782148"/>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4" name="Shape 8">
            <a:extLst>
              <a:ext uri="{FF2B5EF4-FFF2-40B4-BE49-F238E27FC236}">
                <a16:creationId xmlns:a16="http://schemas.microsoft.com/office/drawing/2014/main" id="{970799CA-985A-AADE-5E98-7960BB0BFCFB}"/>
              </a:ext>
            </a:extLst>
          </p:cNvPr>
          <p:cNvSpPr/>
          <p:nvPr/>
        </p:nvSpPr>
        <p:spPr>
          <a:xfrm>
            <a:off x="4030241" y="3225703"/>
            <a:ext cx="2844800" cy="1782149"/>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6" name="Text 6">
            <a:extLst>
              <a:ext uri="{FF2B5EF4-FFF2-40B4-BE49-F238E27FC236}">
                <a16:creationId xmlns:a16="http://schemas.microsoft.com/office/drawing/2014/main" id="{6500C6FD-7CB4-2B8B-C860-6C92CC5E9D54}"/>
              </a:ext>
            </a:extLst>
          </p:cNvPr>
          <p:cNvSpPr/>
          <p:nvPr/>
        </p:nvSpPr>
        <p:spPr>
          <a:xfrm>
            <a:off x="1072909" y="2152996"/>
            <a:ext cx="2587264" cy="655980"/>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en-US" altLang="zh-CN" sz="1600" dirty="0"/>
              <a:t>Differential-drive platform</a:t>
            </a:r>
            <a:r>
              <a:rPr lang="zh-CN" altLang="zh-CN" sz="1600" dirty="0"/>
              <a:t> </a:t>
            </a:r>
          </a:p>
          <a:p>
            <a:pPr marL="285750" lvl="0" indent="-285750">
              <a:buFont typeface="Wingdings" panose="05000000000000000000" pitchFamily="2" charset="2"/>
              <a:buChar char="l"/>
            </a:pPr>
            <a:r>
              <a:rPr lang="en-US" altLang="zh-CN" sz="1600" dirty="0"/>
              <a:t>Wheel encoders</a:t>
            </a:r>
            <a:endParaRPr lang="zh-CN" altLang="zh-CN" sz="1600" dirty="0"/>
          </a:p>
        </p:txBody>
      </p:sp>
      <p:sp>
        <p:nvSpPr>
          <p:cNvPr id="28" name="Text 5">
            <a:extLst>
              <a:ext uri="{FF2B5EF4-FFF2-40B4-BE49-F238E27FC236}">
                <a16:creationId xmlns:a16="http://schemas.microsoft.com/office/drawing/2014/main" id="{1D9D1FC2-41AC-674C-727F-9A7CFA0A57A8}"/>
              </a:ext>
            </a:extLst>
          </p:cNvPr>
          <p:cNvSpPr/>
          <p:nvPr/>
        </p:nvSpPr>
        <p:spPr>
          <a:xfrm>
            <a:off x="1108323" y="1727223"/>
            <a:ext cx="1556668" cy="492517"/>
          </a:xfrm>
          <a:prstGeom prst="rect">
            <a:avLst/>
          </a:prstGeom>
          <a:noFill/>
          <a:ln/>
        </p:spPr>
        <p:txBody>
          <a:bodyPr wrap="square" lIns="0" tIns="0" rIns="0" bIns="0" rtlCol="0" anchor="ctr"/>
          <a:lstStyle/>
          <a:p>
            <a:pPr marL="0" indent="0">
              <a:buNone/>
            </a:pPr>
            <a:r>
              <a:rPr lang="en-US" altLang="zh-CN" b="1" dirty="0">
                <a:solidFill>
                  <a:schemeClr val="accent1"/>
                </a:solidFill>
              </a:rPr>
              <a:t>Mobile Base</a:t>
            </a:r>
            <a:endParaRPr lang="en-US" dirty="0">
              <a:solidFill>
                <a:schemeClr val="accent1"/>
              </a:solidFill>
            </a:endParaRPr>
          </a:p>
        </p:txBody>
      </p:sp>
      <p:sp>
        <p:nvSpPr>
          <p:cNvPr id="30" name="Text 5">
            <a:extLst>
              <a:ext uri="{FF2B5EF4-FFF2-40B4-BE49-F238E27FC236}">
                <a16:creationId xmlns:a16="http://schemas.microsoft.com/office/drawing/2014/main" id="{3DEFCD60-9C89-F59E-B905-AE8198FDCB4B}"/>
              </a:ext>
            </a:extLst>
          </p:cNvPr>
          <p:cNvSpPr/>
          <p:nvPr/>
        </p:nvSpPr>
        <p:spPr>
          <a:xfrm>
            <a:off x="1072909" y="3215210"/>
            <a:ext cx="1556668" cy="492517"/>
          </a:xfrm>
          <a:prstGeom prst="rect">
            <a:avLst/>
          </a:prstGeom>
          <a:noFill/>
          <a:ln/>
        </p:spPr>
        <p:txBody>
          <a:bodyPr wrap="square" lIns="0" tIns="0" rIns="0" bIns="0" rtlCol="0" anchor="ctr"/>
          <a:lstStyle/>
          <a:p>
            <a:pPr marL="0" indent="0">
              <a:buNone/>
            </a:pPr>
            <a:r>
              <a:rPr lang="en-US" altLang="zh-CN" b="1" dirty="0">
                <a:solidFill>
                  <a:schemeClr val="accent6">
                    <a:lumMod val="75000"/>
                  </a:schemeClr>
                </a:solidFill>
              </a:rPr>
              <a:t>Perception</a:t>
            </a:r>
            <a:endParaRPr lang="en-US" dirty="0">
              <a:solidFill>
                <a:schemeClr val="accent6">
                  <a:lumMod val="75000"/>
                </a:schemeClr>
              </a:solidFill>
            </a:endParaRPr>
          </a:p>
        </p:txBody>
      </p:sp>
      <p:sp>
        <p:nvSpPr>
          <p:cNvPr id="32" name="Text 6">
            <a:extLst>
              <a:ext uri="{FF2B5EF4-FFF2-40B4-BE49-F238E27FC236}">
                <a16:creationId xmlns:a16="http://schemas.microsoft.com/office/drawing/2014/main" id="{1A9A3584-8CD1-6291-D1CA-2B6C6FDC216D}"/>
              </a:ext>
            </a:extLst>
          </p:cNvPr>
          <p:cNvSpPr/>
          <p:nvPr/>
        </p:nvSpPr>
        <p:spPr>
          <a:xfrm>
            <a:off x="1108323" y="3567643"/>
            <a:ext cx="2587264" cy="1504284"/>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600" dirty="0"/>
              <a:t>RPLIDAR — mapping &amp; obstacle sensing. </a:t>
            </a:r>
          </a:p>
          <a:p>
            <a:pPr marL="285750" lvl="0" indent="-285750">
              <a:buFont typeface="Wingdings" panose="05000000000000000000" pitchFamily="2" charset="2"/>
              <a:buChar char="l"/>
            </a:pPr>
            <a:r>
              <a:rPr lang="zh-CN" altLang="zh-CN" sz="1600" dirty="0"/>
              <a:t>RealSense D435i — RGB-D perception &amp; ArUco detection</a:t>
            </a:r>
          </a:p>
        </p:txBody>
      </p:sp>
      <p:sp>
        <p:nvSpPr>
          <p:cNvPr id="34" name="Text 5">
            <a:extLst>
              <a:ext uri="{FF2B5EF4-FFF2-40B4-BE49-F238E27FC236}">
                <a16:creationId xmlns:a16="http://schemas.microsoft.com/office/drawing/2014/main" id="{E3860F22-F28F-6466-7643-11E15BA3E03E}"/>
              </a:ext>
            </a:extLst>
          </p:cNvPr>
          <p:cNvSpPr/>
          <p:nvPr/>
        </p:nvSpPr>
        <p:spPr>
          <a:xfrm>
            <a:off x="4138029" y="3231296"/>
            <a:ext cx="1934493" cy="492517"/>
          </a:xfrm>
          <a:prstGeom prst="rect">
            <a:avLst/>
          </a:prstGeom>
          <a:noFill/>
          <a:ln/>
        </p:spPr>
        <p:txBody>
          <a:bodyPr wrap="square" lIns="0" tIns="0" rIns="0" bIns="0" rtlCol="0" anchor="ctr"/>
          <a:lstStyle/>
          <a:p>
            <a:pPr marL="0" indent="0">
              <a:buNone/>
            </a:pPr>
            <a:r>
              <a:rPr lang="en-US" altLang="zh-CN" b="1" dirty="0">
                <a:solidFill>
                  <a:schemeClr val="accent2">
                    <a:lumMod val="60000"/>
                    <a:lumOff val="40000"/>
                  </a:schemeClr>
                </a:solidFill>
              </a:rPr>
              <a:t>State Estimation</a:t>
            </a:r>
            <a:endParaRPr lang="en-US" dirty="0">
              <a:solidFill>
                <a:schemeClr val="accent2">
                  <a:lumMod val="60000"/>
                  <a:lumOff val="40000"/>
                </a:schemeClr>
              </a:solidFill>
            </a:endParaRPr>
          </a:p>
        </p:txBody>
      </p:sp>
      <p:sp>
        <p:nvSpPr>
          <p:cNvPr id="36" name="Text 6">
            <a:extLst>
              <a:ext uri="{FF2B5EF4-FFF2-40B4-BE49-F238E27FC236}">
                <a16:creationId xmlns:a16="http://schemas.microsoft.com/office/drawing/2014/main" id="{5352E2D6-56B5-8C08-9EBC-0439A97B34E2}"/>
              </a:ext>
            </a:extLst>
          </p:cNvPr>
          <p:cNvSpPr/>
          <p:nvPr/>
        </p:nvSpPr>
        <p:spPr>
          <a:xfrm>
            <a:off x="4159009" y="3567643"/>
            <a:ext cx="2823820" cy="1165885"/>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en-US" altLang="zh-CN" sz="1600" dirty="0"/>
              <a:t>Wheel encoders</a:t>
            </a:r>
          </a:p>
          <a:p>
            <a:pPr marL="285750" lvl="0" indent="-285750">
              <a:buFont typeface="Wingdings" panose="05000000000000000000" pitchFamily="2" charset="2"/>
              <a:buChar char="l"/>
            </a:pPr>
            <a:r>
              <a:rPr lang="en-US" altLang="zh-CN" sz="1600" dirty="0"/>
              <a:t>IMU</a:t>
            </a:r>
          </a:p>
          <a:p>
            <a:pPr marL="285750" lvl="0" indent="-285750">
              <a:buFont typeface="Wingdings" panose="05000000000000000000" pitchFamily="2" charset="2"/>
              <a:buChar char="l"/>
            </a:pPr>
            <a:r>
              <a:rPr lang="en-US" altLang="zh-CN" sz="1600" dirty="0"/>
              <a:t>Odometry/localization support</a:t>
            </a:r>
            <a:endParaRPr lang="zh-CN" altLang="zh-CN" sz="1600" dirty="0"/>
          </a:p>
        </p:txBody>
      </p:sp>
      <p:sp>
        <p:nvSpPr>
          <p:cNvPr id="38" name="Text 5">
            <a:extLst>
              <a:ext uri="{FF2B5EF4-FFF2-40B4-BE49-F238E27FC236}">
                <a16:creationId xmlns:a16="http://schemas.microsoft.com/office/drawing/2014/main" id="{D459FD9A-AA6B-F372-C0DE-5749395D8D91}"/>
              </a:ext>
            </a:extLst>
          </p:cNvPr>
          <p:cNvSpPr/>
          <p:nvPr/>
        </p:nvSpPr>
        <p:spPr>
          <a:xfrm>
            <a:off x="4203947" y="1702207"/>
            <a:ext cx="2036093" cy="492517"/>
          </a:xfrm>
          <a:prstGeom prst="rect">
            <a:avLst/>
          </a:prstGeom>
          <a:noFill/>
          <a:ln/>
        </p:spPr>
        <p:txBody>
          <a:bodyPr wrap="square" lIns="0" tIns="0" rIns="0" bIns="0" rtlCol="0" anchor="ctr"/>
          <a:lstStyle/>
          <a:p>
            <a:pPr marL="0" indent="0">
              <a:buNone/>
            </a:pPr>
            <a:r>
              <a:rPr lang="en-US" altLang="zh-CN" b="1" dirty="0">
                <a:solidFill>
                  <a:srgbClr val="FFC000"/>
                </a:solidFill>
              </a:rPr>
              <a:t>Onboard Computing</a:t>
            </a:r>
            <a:endParaRPr lang="en-US" dirty="0">
              <a:solidFill>
                <a:srgbClr val="FFC000"/>
              </a:solidFill>
            </a:endParaRPr>
          </a:p>
        </p:txBody>
      </p:sp>
      <p:sp>
        <p:nvSpPr>
          <p:cNvPr id="40" name="Text 6">
            <a:extLst>
              <a:ext uri="{FF2B5EF4-FFF2-40B4-BE49-F238E27FC236}">
                <a16:creationId xmlns:a16="http://schemas.microsoft.com/office/drawing/2014/main" id="{3EC25EB7-1DD1-F3D9-8612-2E862785A32E}"/>
              </a:ext>
            </a:extLst>
          </p:cNvPr>
          <p:cNvSpPr/>
          <p:nvPr/>
        </p:nvSpPr>
        <p:spPr>
          <a:xfrm>
            <a:off x="4159009" y="2130467"/>
            <a:ext cx="2823820" cy="847719"/>
          </a:xfrm>
          <a:prstGeom prst="rect">
            <a:avLst/>
          </a:prstGeom>
          <a:noFill/>
          <a:ln/>
        </p:spPr>
        <p:txBody>
          <a:bodyPr wrap="square" lIns="254" tIns="254" rIns="254" bIns="254" rtlCol="0" anchor="ctr">
            <a:noAutofit/>
          </a:bodyPr>
          <a:lstStyle/>
          <a:p>
            <a:pPr marL="285750" lvl="0" indent="-285750">
              <a:buFont typeface="Wingdings" panose="05000000000000000000" pitchFamily="2" charset="2"/>
              <a:buChar char="l"/>
            </a:pPr>
            <a:r>
              <a:rPr lang="zh-CN" altLang="zh-CN" sz="1600" dirty="0"/>
              <a:t>Intel NUC11TNKi5</a:t>
            </a:r>
            <a:endParaRPr lang="en-US" altLang="zh-CN" sz="1600" dirty="0"/>
          </a:p>
          <a:p>
            <a:pPr marL="285750" lvl="0" indent="-285750">
              <a:buFont typeface="Wingdings" panose="05000000000000000000" pitchFamily="2" charset="2"/>
              <a:buChar char="l"/>
            </a:pPr>
            <a:r>
              <a:rPr lang="zh-CN" altLang="zh-CN" sz="1600" dirty="0"/>
              <a:t>NVIDIA GT 1030</a:t>
            </a:r>
            <a:endParaRPr lang="en-US" altLang="zh-CN" sz="1600" dirty="0"/>
          </a:p>
          <a:p>
            <a:pPr marL="285750" lvl="0" indent="-285750">
              <a:buFont typeface="Wingdings" panose="05000000000000000000" pitchFamily="2" charset="2"/>
              <a:buChar char="l"/>
            </a:pPr>
            <a:r>
              <a:rPr lang="zh-CN" altLang="zh-CN" sz="1600" dirty="0"/>
              <a:t>ROS 2 onboard software</a:t>
            </a:r>
          </a:p>
        </p:txBody>
      </p:sp>
      <p:sp>
        <p:nvSpPr>
          <p:cNvPr id="42" name="Rectangle 41">
            <a:extLst>
              <a:ext uri="{FF2B5EF4-FFF2-40B4-BE49-F238E27FC236}">
                <a16:creationId xmlns:a16="http://schemas.microsoft.com/office/drawing/2014/main" id="{9D14A197-39CB-1213-23A0-319E8EAD9E08}"/>
              </a:ext>
            </a:extLst>
          </p:cNvPr>
          <p:cNvSpPr>
            <a:spLocks noGrp="1"/>
          </p:cNvSpPr>
          <p:nvPr/>
        </p:nvSpPr>
        <p:spPr>
          <a:xfrm>
            <a:off x="7473950" y="3773730"/>
            <a:ext cx="4241800" cy="934190"/>
          </a:xfrm>
          <a:prstGeom prst="rect">
            <a:avLst/>
          </a:prstGeom>
          <a:noFill/>
          <a:ln w="9525">
            <a:noFill/>
          </a:ln>
        </p:spPr>
        <p:txBody>
          <a:bodyPr>
            <a:noAutofit/>
          </a:bodyPr>
          <a:lstStyle/>
          <a:p>
            <a:pPr>
              <a:defRPr sz="1725" b="0">
                <a:solidFill>
                  <a:srgbClr val="007F82"/>
                </a:solidFill>
                <a:latin typeface="Arial"/>
                <a:ea typeface="Arial"/>
                <a:cs typeface="Arial"/>
              </a:defRPr>
            </a:pPr>
            <a:r>
              <a:rPr lang="en-US" sz="1400" b="0" dirty="0">
                <a:solidFill>
                  <a:schemeClr val="bg2">
                    <a:lumMod val="50000"/>
                  </a:schemeClr>
                </a:solidFill>
                <a:latin typeface="Arial"/>
                <a:ea typeface="Arial"/>
                <a:cs typeface="Arial"/>
              </a:rPr>
              <a:t>More information about the robot can </a:t>
            </a:r>
            <a:r>
              <a:rPr lang="en-US" sz="1400" dirty="0">
                <a:solidFill>
                  <a:schemeClr val="bg2">
                    <a:lumMod val="50000"/>
                  </a:schemeClr>
                </a:solidFill>
                <a:latin typeface="Arial"/>
                <a:ea typeface="Arial"/>
                <a:cs typeface="Arial"/>
              </a:rPr>
              <a:t>be found at: https://canvas.kth.se/courses/59505/pages/robot-setup?module_item_id=1339720</a:t>
            </a:r>
            <a:r>
              <a:rPr lang="en-US" sz="1400" b="0" dirty="0">
                <a:solidFill>
                  <a:srgbClr val="007F82"/>
                </a:solidFill>
                <a:latin typeface="Arial"/>
                <a:ea typeface="Arial"/>
                <a:cs typeface="Arial"/>
              </a:rPr>
              <a:t> </a:t>
            </a:r>
            <a:endParaRPr sz="1400" b="0" dirty="0">
              <a:solidFill>
                <a:srgbClr val="007F82"/>
              </a:solidFill>
              <a:latin typeface="Arial"/>
              <a:ea typeface="Arial"/>
              <a:cs typeface="Arial"/>
            </a:endParaRPr>
          </a:p>
        </p:txBody>
      </p:sp>
      <p:sp>
        <p:nvSpPr>
          <p:cNvPr id="10" name="Rectangle 9">
            <a:extLst>
              <a:ext uri="{FF2B5EF4-FFF2-40B4-BE49-F238E27FC236}">
                <a16:creationId xmlns:a16="http://schemas.microsoft.com/office/drawing/2014/main" id="{BC431A10-24E1-84EE-4012-D6D9365EC261}"/>
              </a:ext>
            </a:extLst>
          </p:cNvPr>
          <p:cNvSpPr>
            <a:spLocks noGrp="1"/>
          </p:cNvSpPr>
          <p:nvPr/>
        </p:nvSpPr>
        <p:spPr>
          <a:xfrm>
            <a:off x="502920" y="5306097"/>
            <a:ext cx="7078980" cy="408545"/>
          </a:xfrm>
          <a:prstGeom prst="rect">
            <a:avLst/>
          </a:prstGeom>
          <a:noFill/>
          <a:ln w="9525">
            <a:noFill/>
          </a:ln>
        </p:spPr>
        <p:txBody>
          <a:bodyPr>
            <a:noAutofit/>
          </a:bodyPr>
          <a:lstStyle/>
          <a:p>
            <a:pPr algn="just"/>
            <a:r>
              <a:rPr lang="en-US" altLang="zh-CN" sz="2000" b="1" dirty="0">
                <a:solidFill>
                  <a:srgbClr val="173047"/>
                </a:solidFill>
                <a:latin typeface="Aptos"/>
              </a:rPr>
              <a:t>Edge node information to be announced later…</a:t>
            </a:r>
          </a:p>
        </p:txBody>
      </p:sp>
    </p:spTree>
    <p:extLst>
      <p:ext uri="{BB962C8B-B14F-4D97-AF65-F5344CB8AC3E}">
        <p14:creationId xmlns:p14="http://schemas.microsoft.com/office/powerpoint/2010/main" val="1511968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F10B7-29E3-A663-55B7-5EC1689B785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9A93D28-4F9A-8D0E-99C2-16FAB0308B65}"/>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dirty="0">
                <a:solidFill>
                  <a:srgbClr val="12283B"/>
                </a:solidFill>
                <a:latin typeface="Arial"/>
                <a:ea typeface="Arial"/>
                <a:cs typeface="Arial"/>
              </a:rPr>
              <a:t>Robot platform and development environment</a:t>
            </a:r>
          </a:p>
        </p:txBody>
      </p:sp>
      <p:sp>
        <p:nvSpPr>
          <p:cNvPr id="3" name="Rectangle 2">
            <a:extLst>
              <a:ext uri="{FF2B5EF4-FFF2-40B4-BE49-F238E27FC236}">
                <a16:creationId xmlns:a16="http://schemas.microsoft.com/office/drawing/2014/main" id="{2D4A4AB1-5820-A148-91EB-638779B3F236}"/>
              </a:ext>
            </a:extLst>
          </p:cNvPr>
          <p:cNvSpPr>
            <a:spLocks noGrp="1"/>
          </p:cNvSpPr>
          <p:nvPr/>
        </p:nvSpPr>
        <p:spPr>
          <a:xfrm>
            <a:off x="11144250" y="5887783"/>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04</a:t>
            </a:r>
          </a:p>
        </p:txBody>
      </p:sp>
      <p:sp>
        <p:nvSpPr>
          <p:cNvPr id="13" name="Shape 2">
            <a:extLst>
              <a:ext uri="{FF2B5EF4-FFF2-40B4-BE49-F238E27FC236}">
                <a16:creationId xmlns:a16="http://schemas.microsoft.com/office/drawing/2014/main" id="{9D6C2A60-02E9-EB12-5F40-288A583665BF}"/>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Rectangle 3">
            <a:extLst>
              <a:ext uri="{FF2B5EF4-FFF2-40B4-BE49-F238E27FC236}">
                <a16:creationId xmlns:a16="http://schemas.microsoft.com/office/drawing/2014/main" id="{100370D3-A449-B568-EC65-1FE89D710409}"/>
              </a:ext>
            </a:extLst>
          </p:cNvPr>
          <p:cNvSpPr>
            <a:spLocks noGrp="1"/>
          </p:cNvSpPr>
          <p:nvPr/>
        </p:nvSpPr>
        <p:spPr>
          <a:xfrm>
            <a:off x="438150" y="1106968"/>
            <a:ext cx="10706100" cy="408545"/>
          </a:xfrm>
          <a:prstGeom prst="rect">
            <a:avLst/>
          </a:prstGeom>
          <a:noFill/>
          <a:ln w="9525">
            <a:noFill/>
          </a:ln>
        </p:spPr>
        <p:txBody>
          <a:bodyPr>
            <a:noAutofit/>
          </a:bodyPr>
          <a:lstStyle/>
          <a:p>
            <a:pPr algn="just"/>
            <a:r>
              <a:rPr lang="en-US" altLang="zh-CN" sz="2000" dirty="0"/>
              <a:t>Environments used to develop, test, integrate, and deploy the challenge system:</a:t>
            </a:r>
          </a:p>
        </p:txBody>
      </p:sp>
      <p:sp>
        <p:nvSpPr>
          <p:cNvPr id="6" name="Shape 8">
            <a:extLst>
              <a:ext uri="{FF2B5EF4-FFF2-40B4-BE49-F238E27FC236}">
                <a16:creationId xmlns:a16="http://schemas.microsoft.com/office/drawing/2014/main" id="{BF0A5734-91C2-872F-E527-959E73D8F00E}"/>
              </a:ext>
            </a:extLst>
          </p:cNvPr>
          <p:cNvSpPr/>
          <p:nvPr/>
        </p:nvSpPr>
        <p:spPr>
          <a:xfrm>
            <a:off x="917058" y="1590760"/>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23" name="Text 5">
            <a:extLst>
              <a:ext uri="{FF2B5EF4-FFF2-40B4-BE49-F238E27FC236}">
                <a16:creationId xmlns:a16="http://schemas.microsoft.com/office/drawing/2014/main" id="{A14920C8-AF29-2D52-930A-D56524F95411}"/>
              </a:ext>
            </a:extLst>
          </p:cNvPr>
          <p:cNvSpPr/>
          <p:nvPr/>
        </p:nvSpPr>
        <p:spPr>
          <a:xfrm>
            <a:off x="1081241" y="1590760"/>
            <a:ext cx="3063684" cy="492517"/>
          </a:xfrm>
          <a:prstGeom prst="rect">
            <a:avLst/>
          </a:prstGeom>
          <a:noFill/>
          <a:ln/>
        </p:spPr>
        <p:txBody>
          <a:bodyPr wrap="square" lIns="0" tIns="0" rIns="0" bIns="0" rtlCol="0" anchor="ctr"/>
          <a:lstStyle/>
          <a:p>
            <a:pPr marL="0" indent="0">
              <a:buNone/>
            </a:pPr>
            <a:r>
              <a:rPr lang="en-US" altLang="zh-CN" b="1" dirty="0">
                <a:solidFill>
                  <a:schemeClr val="accent1"/>
                </a:solidFill>
              </a:rPr>
              <a:t>1. Robot &amp; Edge computing</a:t>
            </a:r>
            <a:endParaRPr lang="en-US" dirty="0">
              <a:solidFill>
                <a:schemeClr val="accent1"/>
              </a:solidFill>
            </a:endParaRPr>
          </a:p>
        </p:txBody>
      </p:sp>
      <p:sp>
        <p:nvSpPr>
          <p:cNvPr id="49" name="TextBox 48">
            <a:extLst>
              <a:ext uri="{FF2B5EF4-FFF2-40B4-BE49-F238E27FC236}">
                <a16:creationId xmlns:a16="http://schemas.microsoft.com/office/drawing/2014/main" id="{BD86C3C1-5FA4-7179-903D-B0BF521BB7C2}"/>
              </a:ext>
            </a:extLst>
          </p:cNvPr>
          <p:cNvSpPr txBox="1"/>
          <p:nvPr/>
        </p:nvSpPr>
        <p:spPr>
          <a:xfrm>
            <a:off x="1081241" y="2557918"/>
            <a:ext cx="3990755" cy="1192634"/>
          </a:xfrm>
          <a:prstGeom prst="rect">
            <a:avLst/>
          </a:prstGeom>
          <a:noFill/>
        </p:spPr>
        <p:txBody>
          <a:bodyPr wrap="square">
            <a:spAutoFit/>
          </a:bodyPr>
          <a:lstStyle/>
          <a:p>
            <a:pPr>
              <a:spcAft>
                <a:spcPts val="250"/>
              </a:spcAft>
            </a:pPr>
            <a:r>
              <a:rPr sz="1600" dirty="0">
                <a:solidFill>
                  <a:srgbClr val="232323"/>
                </a:solidFill>
                <a:latin typeface="Aptos"/>
              </a:rPr>
              <a:t>• Ubuntu Linux</a:t>
            </a:r>
          </a:p>
          <a:p>
            <a:pPr>
              <a:spcAft>
                <a:spcPts val="250"/>
              </a:spcAft>
            </a:pPr>
            <a:r>
              <a:rPr sz="1600" dirty="0">
                <a:solidFill>
                  <a:srgbClr val="232323"/>
                </a:solidFill>
                <a:latin typeface="Aptos"/>
              </a:rPr>
              <a:t>• ROS 2</a:t>
            </a:r>
          </a:p>
          <a:p>
            <a:pPr>
              <a:spcAft>
                <a:spcPts val="250"/>
              </a:spcAft>
            </a:pPr>
            <a:r>
              <a:rPr sz="1600" dirty="0">
                <a:solidFill>
                  <a:srgbClr val="232323"/>
                </a:solidFill>
                <a:latin typeface="Aptos"/>
              </a:rPr>
              <a:t>• Python / C++</a:t>
            </a:r>
          </a:p>
          <a:p>
            <a:pPr>
              <a:spcAft>
                <a:spcPts val="250"/>
              </a:spcAft>
            </a:pPr>
            <a:r>
              <a:rPr sz="1600" dirty="0">
                <a:solidFill>
                  <a:srgbClr val="232323"/>
                </a:solidFill>
                <a:latin typeface="Aptos"/>
              </a:rPr>
              <a:t>• ROS 2 workspace &amp; package system</a:t>
            </a:r>
          </a:p>
        </p:txBody>
      </p:sp>
      <p:sp>
        <p:nvSpPr>
          <p:cNvPr id="103" name="TextBox 102">
            <a:extLst>
              <a:ext uri="{FF2B5EF4-FFF2-40B4-BE49-F238E27FC236}">
                <a16:creationId xmlns:a16="http://schemas.microsoft.com/office/drawing/2014/main" id="{66F24F2F-DB8C-C3A7-8369-C712764C0DEB}"/>
              </a:ext>
            </a:extLst>
          </p:cNvPr>
          <p:cNvSpPr txBox="1"/>
          <p:nvPr/>
        </p:nvSpPr>
        <p:spPr>
          <a:xfrm>
            <a:off x="1081241" y="2002347"/>
            <a:ext cx="4708187" cy="523220"/>
          </a:xfrm>
          <a:prstGeom prst="rect">
            <a:avLst/>
          </a:prstGeom>
          <a:noFill/>
        </p:spPr>
        <p:txBody>
          <a:bodyPr wrap="square" anchor="t">
            <a:spAutoFit/>
          </a:bodyPr>
          <a:lstStyle/>
          <a:p>
            <a:pPr algn="l"/>
            <a:r>
              <a:rPr sz="1400" b="1" dirty="0">
                <a:solidFill>
                  <a:srgbClr val="2D2D2D"/>
                </a:solidFill>
                <a:latin typeface="Aptos"/>
              </a:rPr>
              <a:t>Provides the common runtime and development environment for robot-side and edge-node applications.</a:t>
            </a:r>
          </a:p>
        </p:txBody>
      </p:sp>
      <p:sp>
        <p:nvSpPr>
          <p:cNvPr id="105" name="Shape 8">
            <a:extLst>
              <a:ext uri="{FF2B5EF4-FFF2-40B4-BE49-F238E27FC236}">
                <a16:creationId xmlns:a16="http://schemas.microsoft.com/office/drawing/2014/main" id="{6E24F6A4-3BE4-AB5F-21BD-734B982645CA}"/>
              </a:ext>
            </a:extLst>
          </p:cNvPr>
          <p:cNvSpPr/>
          <p:nvPr/>
        </p:nvSpPr>
        <p:spPr>
          <a:xfrm>
            <a:off x="6518201" y="1590760"/>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107" name="Text 5">
            <a:extLst>
              <a:ext uri="{FF2B5EF4-FFF2-40B4-BE49-F238E27FC236}">
                <a16:creationId xmlns:a16="http://schemas.microsoft.com/office/drawing/2014/main" id="{4CD425CC-4F11-800D-C6C5-2DAD2BB42B9B}"/>
              </a:ext>
            </a:extLst>
          </p:cNvPr>
          <p:cNvSpPr/>
          <p:nvPr/>
        </p:nvSpPr>
        <p:spPr>
          <a:xfrm>
            <a:off x="6682384" y="1590760"/>
            <a:ext cx="3063684" cy="492517"/>
          </a:xfrm>
          <a:prstGeom prst="rect">
            <a:avLst/>
          </a:prstGeom>
          <a:noFill/>
          <a:ln/>
        </p:spPr>
        <p:txBody>
          <a:bodyPr wrap="square" lIns="0" tIns="0" rIns="0" bIns="0" rtlCol="0" anchor="ctr"/>
          <a:lstStyle/>
          <a:p>
            <a:pPr marL="0" indent="0">
              <a:buNone/>
            </a:pPr>
            <a:r>
              <a:rPr lang="en-US" altLang="zh-CN" b="1" dirty="0">
                <a:solidFill>
                  <a:schemeClr val="accent2">
                    <a:lumMod val="75000"/>
                  </a:schemeClr>
                </a:solidFill>
              </a:rPr>
              <a:t>2. Simulation environment</a:t>
            </a:r>
            <a:endParaRPr lang="en-US" dirty="0">
              <a:solidFill>
                <a:schemeClr val="accent2">
                  <a:lumMod val="75000"/>
                </a:schemeClr>
              </a:solidFill>
            </a:endParaRPr>
          </a:p>
        </p:txBody>
      </p:sp>
      <p:sp>
        <p:nvSpPr>
          <p:cNvPr id="109" name="TextBox 108">
            <a:extLst>
              <a:ext uri="{FF2B5EF4-FFF2-40B4-BE49-F238E27FC236}">
                <a16:creationId xmlns:a16="http://schemas.microsoft.com/office/drawing/2014/main" id="{60751255-AD3C-DB88-EC44-64C150F03CD2}"/>
              </a:ext>
            </a:extLst>
          </p:cNvPr>
          <p:cNvSpPr txBox="1"/>
          <p:nvPr/>
        </p:nvSpPr>
        <p:spPr>
          <a:xfrm>
            <a:off x="6682384" y="2557918"/>
            <a:ext cx="3990755" cy="1192634"/>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Gazebo</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Simulated robot model</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Simulated indoor competition arena</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Simulated LiDAR/RGB-D sensors</a:t>
            </a:r>
            <a:endParaRPr sz="1600" dirty="0">
              <a:solidFill>
                <a:srgbClr val="232323"/>
              </a:solidFill>
              <a:latin typeface="Aptos"/>
            </a:endParaRPr>
          </a:p>
        </p:txBody>
      </p:sp>
      <p:sp>
        <p:nvSpPr>
          <p:cNvPr id="111" name="TextBox 110">
            <a:extLst>
              <a:ext uri="{FF2B5EF4-FFF2-40B4-BE49-F238E27FC236}">
                <a16:creationId xmlns:a16="http://schemas.microsoft.com/office/drawing/2014/main" id="{458FA121-75A7-7554-E174-5BB49DDE9F7B}"/>
              </a:ext>
            </a:extLst>
          </p:cNvPr>
          <p:cNvSpPr txBox="1"/>
          <p:nvPr/>
        </p:nvSpPr>
        <p:spPr>
          <a:xfrm>
            <a:off x="6682384" y="2002347"/>
            <a:ext cx="4708187" cy="523220"/>
          </a:xfrm>
          <a:prstGeom prst="rect">
            <a:avLst/>
          </a:prstGeom>
          <a:noFill/>
        </p:spPr>
        <p:txBody>
          <a:bodyPr wrap="square" anchor="t">
            <a:spAutoFit/>
          </a:bodyPr>
          <a:lstStyle/>
          <a:p>
            <a:r>
              <a:rPr lang="en-US" altLang="zh-CN" sz="1400" b="1" dirty="0">
                <a:solidFill>
                  <a:srgbClr val="2D2D2D"/>
                </a:solidFill>
                <a:latin typeface="Aptos"/>
              </a:rPr>
              <a:t>Enables autonomy and multi-robot behaviors to be developed and tested before physical deployment.</a:t>
            </a:r>
          </a:p>
        </p:txBody>
      </p:sp>
      <p:sp>
        <p:nvSpPr>
          <p:cNvPr id="115" name="Shape 8">
            <a:extLst>
              <a:ext uri="{FF2B5EF4-FFF2-40B4-BE49-F238E27FC236}">
                <a16:creationId xmlns:a16="http://schemas.microsoft.com/office/drawing/2014/main" id="{15F9081B-FB4B-8CC9-989F-07EC15BDAC30}"/>
              </a:ext>
            </a:extLst>
          </p:cNvPr>
          <p:cNvSpPr/>
          <p:nvPr/>
        </p:nvSpPr>
        <p:spPr>
          <a:xfrm>
            <a:off x="915995" y="3961821"/>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117" name="Text 5">
            <a:extLst>
              <a:ext uri="{FF2B5EF4-FFF2-40B4-BE49-F238E27FC236}">
                <a16:creationId xmlns:a16="http://schemas.microsoft.com/office/drawing/2014/main" id="{D926B795-093C-0F78-E09C-839E201765C0}"/>
              </a:ext>
            </a:extLst>
          </p:cNvPr>
          <p:cNvSpPr/>
          <p:nvPr/>
        </p:nvSpPr>
        <p:spPr>
          <a:xfrm>
            <a:off x="1080178" y="3961821"/>
            <a:ext cx="3063684" cy="492517"/>
          </a:xfrm>
          <a:prstGeom prst="rect">
            <a:avLst/>
          </a:prstGeom>
          <a:noFill/>
          <a:ln/>
        </p:spPr>
        <p:txBody>
          <a:bodyPr wrap="square" lIns="0" tIns="0" rIns="0" bIns="0" rtlCol="0" anchor="ctr"/>
          <a:lstStyle/>
          <a:p>
            <a:pPr marL="0" indent="0">
              <a:buNone/>
            </a:pPr>
            <a:r>
              <a:rPr lang="en-US" altLang="zh-CN" b="1" dirty="0">
                <a:solidFill>
                  <a:schemeClr val="accent6">
                    <a:lumMod val="75000"/>
                  </a:schemeClr>
                </a:solidFill>
              </a:rPr>
              <a:t>3. Communication environment</a:t>
            </a:r>
            <a:endParaRPr lang="en-US" dirty="0">
              <a:solidFill>
                <a:schemeClr val="accent6">
                  <a:lumMod val="75000"/>
                </a:schemeClr>
              </a:solidFill>
            </a:endParaRPr>
          </a:p>
        </p:txBody>
      </p:sp>
      <p:sp>
        <p:nvSpPr>
          <p:cNvPr id="119" name="TextBox 118">
            <a:extLst>
              <a:ext uri="{FF2B5EF4-FFF2-40B4-BE49-F238E27FC236}">
                <a16:creationId xmlns:a16="http://schemas.microsoft.com/office/drawing/2014/main" id="{651E51A2-5ADC-CE67-DC44-91E21A6BC1BE}"/>
              </a:ext>
            </a:extLst>
          </p:cNvPr>
          <p:cNvSpPr txBox="1"/>
          <p:nvPr/>
        </p:nvSpPr>
        <p:spPr>
          <a:xfrm>
            <a:off x="1081241" y="4980339"/>
            <a:ext cx="3990755" cy="1192634"/>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Local Wi-Fi/LAN</a:t>
            </a:r>
            <a:endParaRPr sz="1600" dirty="0">
              <a:solidFill>
                <a:srgbClr val="232323"/>
              </a:solidFill>
              <a:latin typeface="Aptos"/>
            </a:endParaRPr>
          </a:p>
          <a:p>
            <a:pPr>
              <a:spcAft>
                <a:spcPts val="250"/>
              </a:spcAft>
            </a:pPr>
            <a:r>
              <a:rPr sz="1600" dirty="0">
                <a:solidFill>
                  <a:srgbClr val="232323"/>
                </a:solidFill>
                <a:latin typeface="Aptos"/>
              </a:rPr>
              <a:t>• ROS 2</a:t>
            </a:r>
            <a:r>
              <a:rPr lang="en-US" sz="1600" dirty="0">
                <a:solidFill>
                  <a:srgbClr val="232323"/>
                </a:solidFill>
                <a:latin typeface="Aptos"/>
              </a:rPr>
              <a:t> DDS communication</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Topics / services / actions</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Robot IDs and namespaces</a:t>
            </a:r>
            <a:endParaRPr sz="1600" dirty="0">
              <a:solidFill>
                <a:srgbClr val="232323"/>
              </a:solidFill>
              <a:latin typeface="Aptos"/>
            </a:endParaRPr>
          </a:p>
        </p:txBody>
      </p:sp>
      <p:sp>
        <p:nvSpPr>
          <p:cNvPr id="121" name="TextBox 120">
            <a:extLst>
              <a:ext uri="{FF2B5EF4-FFF2-40B4-BE49-F238E27FC236}">
                <a16:creationId xmlns:a16="http://schemas.microsoft.com/office/drawing/2014/main" id="{012AC470-5E96-F4A5-A485-49A594C91645}"/>
              </a:ext>
            </a:extLst>
          </p:cNvPr>
          <p:cNvSpPr txBox="1"/>
          <p:nvPr/>
        </p:nvSpPr>
        <p:spPr>
          <a:xfrm>
            <a:off x="1080178" y="4314819"/>
            <a:ext cx="4964786" cy="738664"/>
          </a:xfrm>
          <a:prstGeom prst="rect">
            <a:avLst/>
          </a:prstGeom>
          <a:noFill/>
        </p:spPr>
        <p:txBody>
          <a:bodyPr wrap="square" anchor="t">
            <a:spAutoFit/>
          </a:bodyPr>
          <a:lstStyle/>
          <a:p>
            <a:r>
              <a:rPr lang="zh-CN" altLang="zh-CN" sz="1400" b="1" dirty="0">
                <a:solidFill>
                  <a:srgbClr val="2D2D2D"/>
                </a:solidFill>
                <a:latin typeface="Aptos"/>
              </a:rPr>
              <a:t>Supports communication between robots, the edge node, and the operator, including task dispatching, state sharing, feedback, and coordination.</a:t>
            </a:r>
            <a:endParaRPr sz="1400" b="1" dirty="0">
              <a:solidFill>
                <a:srgbClr val="2D2D2D"/>
              </a:solidFill>
              <a:latin typeface="Aptos"/>
            </a:endParaRPr>
          </a:p>
        </p:txBody>
      </p:sp>
      <p:sp>
        <p:nvSpPr>
          <p:cNvPr id="123" name="Shape 8">
            <a:extLst>
              <a:ext uri="{FF2B5EF4-FFF2-40B4-BE49-F238E27FC236}">
                <a16:creationId xmlns:a16="http://schemas.microsoft.com/office/drawing/2014/main" id="{DB5338F9-4A6F-0BA9-83D9-B1586188082D}"/>
              </a:ext>
            </a:extLst>
          </p:cNvPr>
          <p:cNvSpPr/>
          <p:nvPr/>
        </p:nvSpPr>
        <p:spPr>
          <a:xfrm>
            <a:off x="6517138" y="3961821"/>
            <a:ext cx="5007049" cy="2226433"/>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125" name="Text 5">
            <a:extLst>
              <a:ext uri="{FF2B5EF4-FFF2-40B4-BE49-F238E27FC236}">
                <a16:creationId xmlns:a16="http://schemas.microsoft.com/office/drawing/2014/main" id="{B659A454-6B0F-0042-8500-C86AF397D1FF}"/>
              </a:ext>
            </a:extLst>
          </p:cNvPr>
          <p:cNvSpPr/>
          <p:nvPr/>
        </p:nvSpPr>
        <p:spPr>
          <a:xfrm>
            <a:off x="6681321" y="3961821"/>
            <a:ext cx="3063684" cy="492517"/>
          </a:xfrm>
          <a:prstGeom prst="rect">
            <a:avLst/>
          </a:prstGeom>
          <a:noFill/>
          <a:ln/>
        </p:spPr>
        <p:txBody>
          <a:bodyPr wrap="square" lIns="0" tIns="0" rIns="0" bIns="0" rtlCol="0" anchor="ctr"/>
          <a:lstStyle/>
          <a:p>
            <a:pPr marL="0" indent="0">
              <a:buNone/>
            </a:pPr>
            <a:r>
              <a:rPr lang="en-US" altLang="zh-CN" b="1" dirty="0">
                <a:solidFill>
                  <a:schemeClr val="accent5">
                    <a:lumMod val="75000"/>
                  </a:schemeClr>
                </a:solidFill>
              </a:rPr>
              <a:t>4. Development &amp; Debugging</a:t>
            </a:r>
            <a:endParaRPr lang="en-US" dirty="0">
              <a:solidFill>
                <a:schemeClr val="accent5">
                  <a:lumMod val="75000"/>
                </a:schemeClr>
              </a:solidFill>
            </a:endParaRPr>
          </a:p>
        </p:txBody>
      </p:sp>
      <p:sp>
        <p:nvSpPr>
          <p:cNvPr id="127" name="TextBox 126">
            <a:extLst>
              <a:ext uri="{FF2B5EF4-FFF2-40B4-BE49-F238E27FC236}">
                <a16:creationId xmlns:a16="http://schemas.microsoft.com/office/drawing/2014/main" id="{ABBD6663-880C-7141-6609-512AE14EBAB0}"/>
              </a:ext>
            </a:extLst>
          </p:cNvPr>
          <p:cNvSpPr txBox="1"/>
          <p:nvPr/>
        </p:nvSpPr>
        <p:spPr>
          <a:xfrm>
            <a:off x="6693237" y="4895258"/>
            <a:ext cx="3990755" cy="1192634"/>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RViz</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ROS 2 CLI &amp; </a:t>
            </a:r>
            <a:r>
              <a:rPr lang="en-US" sz="1600" dirty="0" err="1">
                <a:solidFill>
                  <a:srgbClr val="232323"/>
                </a:solidFill>
                <a:latin typeface="Aptos"/>
              </a:rPr>
              <a:t>colcon</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err="1">
                <a:solidFill>
                  <a:srgbClr val="232323"/>
                </a:solidFill>
                <a:latin typeface="Aptos"/>
              </a:rPr>
              <a:t>rosbag</a:t>
            </a:r>
            <a:endParaRPr sz="1600"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Git / VS C</a:t>
            </a:r>
            <a:r>
              <a:rPr lang="en-US" altLang="zh-CN" sz="1600" dirty="0">
                <a:solidFill>
                  <a:srgbClr val="232323"/>
                </a:solidFill>
                <a:latin typeface="Aptos"/>
              </a:rPr>
              <a:t>ode / terminal tools…</a:t>
            </a:r>
            <a:endParaRPr sz="1600" dirty="0">
              <a:solidFill>
                <a:srgbClr val="232323"/>
              </a:solidFill>
              <a:latin typeface="Aptos"/>
            </a:endParaRPr>
          </a:p>
        </p:txBody>
      </p:sp>
      <p:sp>
        <p:nvSpPr>
          <p:cNvPr id="129" name="TextBox 128">
            <a:extLst>
              <a:ext uri="{FF2B5EF4-FFF2-40B4-BE49-F238E27FC236}">
                <a16:creationId xmlns:a16="http://schemas.microsoft.com/office/drawing/2014/main" id="{C1BEF2DF-AABA-C18A-9671-95E68CF4785C}"/>
              </a:ext>
            </a:extLst>
          </p:cNvPr>
          <p:cNvSpPr txBox="1"/>
          <p:nvPr/>
        </p:nvSpPr>
        <p:spPr>
          <a:xfrm>
            <a:off x="6682384" y="4329268"/>
            <a:ext cx="4708187" cy="523220"/>
          </a:xfrm>
          <a:prstGeom prst="rect">
            <a:avLst/>
          </a:prstGeom>
          <a:noFill/>
        </p:spPr>
        <p:txBody>
          <a:bodyPr wrap="square" anchor="t">
            <a:spAutoFit/>
          </a:bodyPr>
          <a:lstStyle/>
          <a:p>
            <a:r>
              <a:rPr lang="en-US" altLang="zh-CN" sz="1400" b="1" dirty="0">
                <a:solidFill>
                  <a:srgbClr val="2D2D2D"/>
                </a:solidFill>
                <a:latin typeface="Aptos"/>
              </a:rPr>
              <a:t>Supports visualization, debugging, data recording, software integration, and team collaboration.</a:t>
            </a:r>
          </a:p>
        </p:txBody>
      </p:sp>
      <p:sp>
        <p:nvSpPr>
          <p:cNvPr id="131" name="TextBox 130">
            <a:extLst>
              <a:ext uri="{FF2B5EF4-FFF2-40B4-BE49-F238E27FC236}">
                <a16:creationId xmlns:a16="http://schemas.microsoft.com/office/drawing/2014/main" id="{2C57E68A-6801-065F-9FAE-761FFF819B45}"/>
              </a:ext>
            </a:extLst>
          </p:cNvPr>
          <p:cNvSpPr txBox="1"/>
          <p:nvPr/>
        </p:nvSpPr>
        <p:spPr>
          <a:xfrm>
            <a:off x="915995" y="6355651"/>
            <a:ext cx="10652760" cy="338554"/>
          </a:xfrm>
          <a:prstGeom prst="rect">
            <a:avLst/>
          </a:prstGeom>
          <a:noFill/>
        </p:spPr>
        <p:txBody>
          <a:bodyPr wrap="square" anchor="ctr">
            <a:spAutoFit/>
          </a:bodyPr>
          <a:lstStyle/>
          <a:p>
            <a:pPr algn="ctr"/>
            <a:r>
              <a:rPr sz="1600" b="1" dirty="0">
                <a:solidFill>
                  <a:srgbClr val="173047"/>
                </a:solidFill>
                <a:latin typeface="Aptos"/>
              </a:rPr>
              <a:t>Task 2B add-on: LLM inference runtime and model on the edge node — exact backend/model to be specified later.</a:t>
            </a:r>
          </a:p>
        </p:txBody>
      </p:sp>
    </p:spTree>
    <p:extLst>
      <p:ext uri="{BB962C8B-B14F-4D97-AF65-F5344CB8AC3E}">
        <p14:creationId xmlns:p14="http://schemas.microsoft.com/office/powerpoint/2010/main" val="4169808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BD5C6-9983-A9D5-6234-FACC302B957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D30D2B2-CC96-D280-C337-4B832EEDE87C}"/>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lang="en-US" sz="3000" b="1" dirty="0">
                <a:solidFill>
                  <a:srgbClr val="12283B"/>
                </a:solidFill>
                <a:latin typeface="Arial"/>
                <a:ea typeface="Arial"/>
                <a:cs typeface="Arial"/>
              </a:rPr>
              <a:t>What we provide vs. What teams develop</a:t>
            </a:r>
            <a:endParaRPr sz="3000" b="1" dirty="0">
              <a:solidFill>
                <a:srgbClr val="12283B"/>
              </a:solidFill>
              <a:latin typeface="Arial"/>
              <a:ea typeface="Arial"/>
              <a:cs typeface="Arial"/>
            </a:endParaRPr>
          </a:p>
        </p:txBody>
      </p:sp>
      <p:sp>
        <p:nvSpPr>
          <p:cNvPr id="13" name="Shape 2">
            <a:extLst>
              <a:ext uri="{FF2B5EF4-FFF2-40B4-BE49-F238E27FC236}">
                <a16:creationId xmlns:a16="http://schemas.microsoft.com/office/drawing/2014/main" id="{38F707EB-CDF1-26E7-74C4-DF431AD0E379}"/>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133" name="Rounded Rectangle 4">
            <a:extLst>
              <a:ext uri="{FF2B5EF4-FFF2-40B4-BE49-F238E27FC236}">
                <a16:creationId xmlns:a16="http://schemas.microsoft.com/office/drawing/2014/main" id="{7C6BAACA-8334-DA53-D5AE-A53D534FB984}"/>
              </a:ext>
            </a:extLst>
          </p:cNvPr>
          <p:cNvSpPr/>
          <p:nvPr/>
        </p:nvSpPr>
        <p:spPr>
          <a:xfrm>
            <a:off x="460249" y="1346861"/>
            <a:ext cx="5532120" cy="4526280"/>
          </a:xfrm>
          <a:prstGeom prst="roundRect">
            <a:avLst/>
          </a:prstGeom>
          <a:solidFill>
            <a:srgbClr val="F6F9FC"/>
          </a:solidFill>
          <a:ln w="13970">
            <a:solidFill>
              <a:srgbClr val="CD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5" name="Rounded Rectangle 5">
            <a:extLst>
              <a:ext uri="{FF2B5EF4-FFF2-40B4-BE49-F238E27FC236}">
                <a16:creationId xmlns:a16="http://schemas.microsoft.com/office/drawing/2014/main" id="{D51AE516-C1F4-7D08-4727-23C8A0DC0533}"/>
              </a:ext>
            </a:extLst>
          </p:cNvPr>
          <p:cNvSpPr/>
          <p:nvPr/>
        </p:nvSpPr>
        <p:spPr>
          <a:xfrm>
            <a:off x="6199632" y="1356005"/>
            <a:ext cx="5394960" cy="4526280"/>
          </a:xfrm>
          <a:prstGeom prst="roundRect">
            <a:avLst/>
          </a:prstGeom>
          <a:solidFill>
            <a:srgbClr val="F9FAFC"/>
          </a:solidFill>
          <a:ln w="13970">
            <a:solidFill>
              <a:srgbClr val="CD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a:extLst>
              <a:ext uri="{FF2B5EF4-FFF2-40B4-BE49-F238E27FC236}">
                <a16:creationId xmlns:a16="http://schemas.microsoft.com/office/drawing/2014/main" id="{184ACC91-8800-2D28-EDE3-E9713BEFCDD4}"/>
              </a:ext>
            </a:extLst>
          </p:cNvPr>
          <p:cNvSpPr txBox="1"/>
          <p:nvPr/>
        </p:nvSpPr>
        <p:spPr>
          <a:xfrm>
            <a:off x="758952" y="1538885"/>
            <a:ext cx="2880360" cy="320040"/>
          </a:xfrm>
          <a:prstGeom prst="rect">
            <a:avLst/>
          </a:prstGeom>
          <a:noFill/>
        </p:spPr>
        <p:txBody>
          <a:bodyPr wrap="square" anchor="ctr">
            <a:spAutoFit/>
          </a:bodyPr>
          <a:lstStyle/>
          <a:p>
            <a:pPr algn="l"/>
            <a:r>
              <a:rPr sz="1950" b="1">
                <a:solidFill>
                  <a:srgbClr val="1F5D7D"/>
                </a:solidFill>
                <a:latin typeface="Aptos"/>
              </a:rPr>
              <a:t>Organizer Provides</a:t>
            </a:r>
          </a:p>
        </p:txBody>
      </p:sp>
      <p:sp>
        <p:nvSpPr>
          <p:cNvPr id="139" name="TextBox 138">
            <a:extLst>
              <a:ext uri="{FF2B5EF4-FFF2-40B4-BE49-F238E27FC236}">
                <a16:creationId xmlns:a16="http://schemas.microsoft.com/office/drawing/2014/main" id="{FF67879F-0031-D38E-BF2A-13649214FA69}"/>
              </a:ext>
            </a:extLst>
          </p:cNvPr>
          <p:cNvSpPr txBox="1"/>
          <p:nvPr/>
        </p:nvSpPr>
        <p:spPr>
          <a:xfrm>
            <a:off x="6464808" y="1538885"/>
            <a:ext cx="3017520" cy="320040"/>
          </a:xfrm>
          <a:prstGeom prst="rect">
            <a:avLst/>
          </a:prstGeom>
          <a:noFill/>
        </p:spPr>
        <p:txBody>
          <a:bodyPr wrap="square" anchor="ctr">
            <a:spAutoFit/>
          </a:bodyPr>
          <a:lstStyle/>
          <a:p>
            <a:pPr algn="l"/>
            <a:r>
              <a:rPr sz="1950" b="1">
                <a:solidFill>
                  <a:srgbClr val="1F5D7D"/>
                </a:solidFill>
                <a:latin typeface="Aptos"/>
              </a:rPr>
              <a:t>Teams Develop</a:t>
            </a:r>
          </a:p>
        </p:txBody>
      </p:sp>
      <p:sp>
        <p:nvSpPr>
          <p:cNvPr id="141" name="TextBox 140">
            <a:extLst>
              <a:ext uri="{FF2B5EF4-FFF2-40B4-BE49-F238E27FC236}">
                <a16:creationId xmlns:a16="http://schemas.microsoft.com/office/drawing/2014/main" id="{BAD78097-2736-E710-27AB-45FA67A480BC}"/>
              </a:ext>
            </a:extLst>
          </p:cNvPr>
          <p:cNvSpPr txBox="1"/>
          <p:nvPr/>
        </p:nvSpPr>
        <p:spPr>
          <a:xfrm>
            <a:off x="758952" y="1950365"/>
            <a:ext cx="713232" cy="256032"/>
          </a:xfrm>
          <a:prstGeom prst="rect">
            <a:avLst/>
          </a:prstGeom>
          <a:noFill/>
        </p:spPr>
        <p:txBody>
          <a:bodyPr wrap="square" anchor="ctr">
            <a:spAutoFit/>
          </a:bodyPr>
          <a:lstStyle/>
          <a:p>
            <a:pPr algn="l"/>
            <a:r>
              <a:rPr sz="1180" b="1">
                <a:solidFill>
                  <a:srgbClr val="505050"/>
                </a:solidFill>
                <a:latin typeface="Aptos"/>
              </a:rPr>
              <a:t>Status:</a:t>
            </a:r>
          </a:p>
        </p:txBody>
      </p:sp>
      <p:sp>
        <p:nvSpPr>
          <p:cNvPr id="143" name="Rounded Rectangle 9">
            <a:extLst>
              <a:ext uri="{FF2B5EF4-FFF2-40B4-BE49-F238E27FC236}">
                <a16:creationId xmlns:a16="http://schemas.microsoft.com/office/drawing/2014/main" id="{AA71D1EB-5B0B-F392-0AFE-FA21D2096D2B}"/>
              </a:ext>
            </a:extLst>
          </p:cNvPr>
          <p:cNvSpPr/>
          <p:nvPr/>
        </p:nvSpPr>
        <p:spPr>
          <a:xfrm>
            <a:off x="1399032" y="1941221"/>
            <a:ext cx="1024128" cy="274320"/>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a:extLst>
              <a:ext uri="{FF2B5EF4-FFF2-40B4-BE49-F238E27FC236}">
                <a16:creationId xmlns:a16="http://schemas.microsoft.com/office/drawing/2014/main" id="{19478D7F-1A7C-5774-DA05-6FA8CE72D49D}"/>
              </a:ext>
            </a:extLst>
          </p:cNvPr>
          <p:cNvSpPr txBox="1"/>
          <p:nvPr/>
        </p:nvSpPr>
        <p:spPr>
          <a:xfrm>
            <a:off x="1399032" y="1941221"/>
            <a:ext cx="1024128" cy="274320"/>
          </a:xfrm>
          <a:prstGeom prst="rect">
            <a:avLst/>
          </a:prstGeom>
          <a:noFill/>
        </p:spPr>
        <p:txBody>
          <a:bodyPr wrap="square" anchor="ctr">
            <a:spAutoFit/>
          </a:bodyPr>
          <a:lstStyle/>
          <a:p>
            <a:pPr algn="ctr"/>
            <a:r>
              <a:rPr sz="1050" b="1">
                <a:solidFill>
                  <a:srgbClr val="2C8052"/>
                </a:solidFill>
                <a:latin typeface="Aptos"/>
              </a:rPr>
              <a:t>Available</a:t>
            </a:r>
          </a:p>
        </p:txBody>
      </p:sp>
      <p:sp>
        <p:nvSpPr>
          <p:cNvPr id="147" name="Rounded Rectangle 11">
            <a:extLst>
              <a:ext uri="{FF2B5EF4-FFF2-40B4-BE49-F238E27FC236}">
                <a16:creationId xmlns:a16="http://schemas.microsoft.com/office/drawing/2014/main" id="{5A6253C5-7A81-3904-8244-724EF8AF8CA8}"/>
              </a:ext>
            </a:extLst>
          </p:cNvPr>
          <p:cNvSpPr/>
          <p:nvPr/>
        </p:nvSpPr>
        <p:spPr>
          <a:xfrm>
            <a:off x="2642616" y="1941221"/>
            <a:ext cx="1024128" cy="274320"/>
          </a:xfrm>
          <a:prstGeom prst="roundRect">
            <a:avLst/>
          </a:prstGeom>
          <a:solidFill>
            <a:srgbClr val="FFF7E7"/>
          </a:solidFill>
          <a:ln w="13970">
            <a:solidFill>
              <a:srgbClr val="B16F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a:extLst>
              <a:ext uri="{FF2B5EF4-FFF2-40B4-BE49-F238E27FC236}">
                <a16:creationId xmlns:a16="http://schemas.microsoft.com/office/drawing/2014/main" id="{0BE35935-FAD6-7F87-889F-4259DA4699A2}"/>
              </a:ext>
            </a:extLst>
          </p:cNvPr>
          <p:cNvSpPr txBox="1"/>
          <p:nvPr/>
        </p:nvSpPr>
        <p:spPr>
          <a:xfrm>
            <a:off x="2642616" y="1941221"/>
            <a:ext cx="1024128" cy="274320"/>
          </a:xfrm>
          <a:prstGeom prst="rect">
            <a:avLst/>
          </a:prstGeom>
          <a:noFill/>
        </p:spPr>
        <p:txBody>
          <a:bodyPr wrap="square" anchor="ctr">
            <a:spAutoFit/>
          </a:bodyPr>
          <a:lstStyle/>
          <a:p>
            <a:pPr algn="ctr"/>
            <a:r>
              <a:rPr sz="1050" b="1">
                <a:solidFill>
                  <a:srgbClr val="B16F16"/>
                </a:solidFill>
                <a:latin typeface="Aptos"/>
              </a:rPr>
              <a:t>Partial</a:t>
            </a:r>
          </a:p>
        </p:txBody>
      </p:sp>
      <p:sp>
        <p:nvSpPr>
          <p:cNvPr id="151" name="Rounded Rectangle 13">
            <a:extLst>
              <a:ext uri="{FF2B5EF4-FFF2-40B4-BE49-F238E27FC236}">
                <a16:creationId xmlns:a16="http://schemas.microsoft.com/office/drawing/2014/main" id="{279315BD-D4DC-0DCB-90D8-35BFF9F3E991}"/>
              </a:ext>
            </a:extLst>
          </p:cNvPr>
          <p:cNvSpPr/>
          <p:nvPr/>
        </p:nvSpPr>
        <p:spPr>
          <a:xfrm>
            <a:off x="3886200" y="1941221"/>
            <a:ext cx="1024128" cy="274320"/>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a:extLst>
              <a:ext uri="{FF2B5EF4-FFF2-40B4-BE49-F238E27FC236}">
                <a16:creationId xmlns:a16="http://schemas.microsoft.com/office/drawing/2014/main" id="{715615DF-0194-473C-D7F0-AC08857A0194}"/>
              </a:ext>
            </a:extLst>
          </p:cNvPr>
          <p:cNvSpPr txBox="1"/>
          <p:nvPr/>
        </p:nvSpPr>
        <p:spPr>
          <a:xfrm>
            <a:off x="3886200" y="1941221"/>
            <a:ext cx="1024128" cy="274320"/>
          </a:xfrm>
          <a:prstGeom prst="rect">
            <a:avLst/>
          </a:prstGeom>
          <a:noFill/>
        </p:spPr>
        <p:txBody>
          <a:bodyPr wrap="square" anchor="ctr">
            <a:spAutoFit/>
          </a:bodyPr>
          <a:lstStyle/>
          <a:p>
            <a:pPr algn="ctr"/>
            <a:r>
              <a:rPr sz="1050" b="1">
                <a:solidFill>
                  <a:srgbClr val="606770"/>
                </a:solidFill>
                <a:latin typeface="Aptos"/>
              </a:rPr>
              <a:t>To do</a:t>
            </a:r>
          </a:p>
        </p:txBody>
      </p:sp>
      <p:sp>
        <p:nvSpPr>
          <p:cNvPr id="155" name="Rounded Rectangle 15">
            <a:extLst>
              <a:ext uri="{FF2B5EF4-FFF2-40B4-BE49-F238E27FC236}">
                <a16:creationId xmlns:a16="http://schemas.microsoft.com/office/drawing/2014/main" id="{C77D4CDA-8F71-6C67-7764-3C102B65C0C6}"/>
              </a:ext>
            </a:extLst>
          </p:cNvPr>
          <p:cNvSpPr/>
          <p:nvPr/>
        </p:nvSpPr>
        <p:spPr>
          <a:xfrm>
            <a:off x="777240" y="2361845"/>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a:extLst>
              <a:ext uri="{FF2B5EF4-FFF2-40B4-BE49-F238E27FC236}">
                <a16:creationId xmlns:a16="http://schemas.microsoft.com/office/drawing/2014/main" id="{153365EE-2200-C308-7B2F-2D73FC336AD5}"/>
              </a:ext>
            </a:extLst>
          </p:cNvPr>
          <p:cNvSpPr txBox="1"/>
          <p:nvPr/>
        </p:nvSpPr>
        <p:spPr>
          <a:xfrm>
            <a:off x="777240" y="2361845"/>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59" name="TextBox 158">
            <a:extLst>
              <a:ext uri="{FF2B5EF4-FFF2-40B4-BE49-F238E27FC236}">
                <a16:creationId xmlns:a16="http://schemas.microsoft.com/office/drawing/2014/main" id="{4CB79B5A-A4EB-D7AE-F5E3-0C0CB82F1BC4}"/>
              </a:ext>
            </a:extLst>
          </p:cNvPr>
          <p:cNvSpPr txBox="1"/>
          <p:nvPr/>
        </p:nvSpPr>
        <p:spPr>
          <a:xfrm>
            <a:off x="2258568" y="2334413"/>
            <a:ext cx="3502152" cy="384048"/>
          </a:xfrm>
          <a:prstGeom prst="rect">
            <a:avLst/>
          </a:prstGeom>
          <a:noFill/>
        </p:spPr>
        <p:txBody>
          <a:bodyPr wrap="square" anchor="ctr">
            <a:spAutoFit/>
          </a:bodyPr>
          <a:lstStyle/>
          <a:p>
            <a:pPr algn="l"/>
            <a:r>
              <a:rPr sz="1300" b="0">
                <a:solidFill>
                  <a:srgbClr val="282828"/>
                </a:solidFill>
                <a:latin typeface="Aptos"/>
              </a:rPr>
              <a:t>Robot platform &amp; onboard hardware</a:t>
            </a:r>
          </a:p>
        </p:txBody>
      </p:sp>
      <p:sp>
        <p:nvSpPr>
          <p:cNvPr id="161" name="Rounded Rectangle 18">
            <a:extLst>
              <a:ext uri="{FF2B5EF4-FFF2-40B4-BE49-F238E27FC236}">
                <a16:creationId xmlns:a16="http://schemas.microsoft.com/office/drawing/2014/main" id="{58B732B0-967B-8BC4-0C4B-F0747E9B85D5}"/>
              </a:ext>
            </a:extLst>
          </p:cNvPr>
          <p:cNvSpPr/>
          <p:nvPr/>
        </p:nvSpPr>
        <p:spPr>
          <a:xfrm>
            <a:off x="777240" y="2732176"/>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a:extLst>
              <a:ext uri="{FF2B5EF4-FFF2-40B4-BE49-F238E27FC236}">
                <a16:creationId xmlns:a16="http://schemas.microsoft.com/office/drawing/2014/main" id="{848CADCF-95C4-96DD-0635-810A1FB24DB4}"/>
              </a:ext>
            </a:extLst>
          </p:cNvPr>
          <p:cNvSpPr txBox="1"/>
          <p:nvPr/>
        </p:nvSpPr>
        <p:spPr>
          <a:xfrm>
            <a:off x="777240" y="2732176"/>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65" name="TextBox 164">
            <a:extLst>
              <a:ext uri="{FF2B5EF4-FFF2-40B4-BE49-F238E27FC236}">
                <a16:creationId xmlns:a16="http://schemas.microsoft.com/office/drawing/2014/main" id="{62223BCD-3041-C691-4DDB-CF935FFA1E15}"/>
              </a:ext>
            </a:extLst>
          </p:cNvPr>
          <p:cNvSpPr txBox="1"/>
          <p:nvPr/>
        </p:nvSpPr>
        <p:spPr>
          <a:xfrm>
            <a:off x="2258568" y="2704745"/>
            <a:ext cx="3502152" cy="384048"/>
          </a:xfrm>
          <a:prstGeom prst="rect">
            <a:avLst/>
          </a:prstGeom>
          <a:noFill/>
        </p:spPr>
        <p:txBody>
          <a:bodyPr wrap="square" anchor="ctr">
            <a:spAutoFit/>
          </a:bodyPr>
          <a:lstStyle/>
          <a:p>
            <a:pPr algn="l"/>
            <a:r>
              <a:rPr sz="1300" b="0" dirty="0">
                <a:solidFill>
                  <a:srgbClr val="282828"/>
                </a:solidFill>
                <a:latin typeface="Aptos"/>
              </a:rPr>
              <a:t>ROS 2 / Gazebo development environment</a:t>
            </a:r>
          </a:p>
        </p:txBody>
      </p:sp>
      <p:sp>
        <p:nvSpPr>
          <p:cNvPr id="167" name="Rounded Rectangle 21">
            <a:extLst>
              <a:ext uri="{FF2B5EF4-FFF2-40B4-BE49-F238E27FC236}">
                <a16:creationId xmlns:a16="http://schemas.microsoft.com/office/drawing/2014/main" id="{64D90BC5-76FD-D238-EFDA-93E67CC99D72}"/>
              </a:ext>
            </a:extLst>
          </p:cNvPr>
          <p:cNvSpPr/>
          <p:nvPr/>
        </p:nvSpPr>
        <p:spPr>
          <a:xfrm>
            <a:off x="777240" y="3102509"/>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a:extLst>
              <a:ext uri="{FF2B5EF4-FFF2-40B4-BE49-F238E27FC236}">
                <a16:creationId xmlns:a16="http://schemas.microsoft.com/office/drawing/2014/main" id="{CF7FAC01-805B-3C7B-0885-7E3CC2DC6ACD}"/>
              </a:ext>
            </a:extLst>
          </p:cNvPr>
          <p:cNvSpPr txBox="1"/>
          <p:nvPr/>
        </p:nvSpPr>
        <p:spPr>
          <a:xfrm>
            <a:off x="777240" y="3102509"/>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71" name="TextBox 170">
            <a:extLst>
              <a:ext uri="{FF2B5EF4-FFF2-40B4-BE49-F238E27FC236}">
                <a16:creationId xmlns:a16="http://schemas.microsoft.com/office/drawing/2014/main" id="{FF0A4BCF-F552-E091-50F3-5EA7424D8B64}"/>
              </a:ext>
            </a:extLst>
          </p:cNvPr>
          <p:cNvSpPr txBox="1"/>
          <p:nvPr/>
        </p:nvSpPr>
        <p:spPr>
          <a:xfrm>
            <a:off x="2258568" y="3120907"/>
            <a:ext cx="3502152" cy="292388"/>
          </a:xfrm>
          <a:prstGeom prst="rect">
            <a:avLst/>
          </a:prstGeom>
          <a:noFill/>
        </p:spPr>
        <p:txBody>
          <a:bodyPr wrap="square" anchor="ctr">
            <a:spAutoFit/>
          </a:bodyPr>
          <a:lstStyle/>
          <a:p>
            <a:pPr algn="l"/>
            <a:r>
              <a:rPr sz="1300" b="0" dirty="0">
                <a:solidFill>
                  <a:srgbClr val="282828"/>
                </a:solidFill>
                <a:latin typeface="Aptos"/>
              </a:rPr>
              <a:t>Basic robot model </a:t>
            </a:r>
            <a:r>
              <a:rPr lang="en-US" sz="1300" dirty="0">
                <a:solidFill>
                  <a:srgbClr val="282828"/>
                </a:solidFill>
                <a:latin typeface="Aptos"/>
              </a:rPr>
              <a:t>for Gazebo simulation</a:t>
            </a:r>
            <a:endParaRPr sz="1300" b="0" dirty="0">
              <a:solidFill>
                <a:srgbClr val="282828"/>
              </a:solidFill>
              <a:latin typeface="Aptos"/>
            </a:endParaRPr>
          </a:p>
        </p:txBody>
      </p:sp>
      <p:sp>
        <p:nvSpPr>
          <p:cNvPr id="173" name="Rounded Rectangle 24">
            <a:extLst>
              <a:ext uri="{FF2B5EF4-FFF2-40B4-BE49-F238E27FC236}">
                <a16:creationId xmlns:a16="http://schemas.microsoft.com/office/drawing/2014/main" id="{F1FFECBA-D83D-5A8E-FAB0-F65B4F76B0F9}"/>
              </a:ext>
            </a:extLst>
          </p:cNvPr>
          <p:cNvSpPr/>
          <p:nvPr/>
        </p:nvSpPr>
        <p:spPr>
          <a:xfrm>
            <a:off x="777240" y="3472840"/>
            <a:ext cx="1325880" cy="310896"/>
          </a:xfrm>
          <a:prstGeom prst="roundRect">
            <a:avLst/>
          </a:prstGeom>
          <a:solidFill>
            <a:srgbClr val="ECF8F0"/>
          </a:solidFill>
          <a:ln w="13970">
            <a:solidFill>
              <a:srgbClr val="2C80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a:extLst>
              <a:ext uri="{FF2B5EF4-FFF2-40B4-BE49-F238E27FC236}">
                <a16:creationId xmlns:a16="http://schemas.microsoft.com/office/drawing/2014/main" id="{88D83C04-8B0B-FE62-A751-F0319C2E3FD4}"/>
              </a:ext>
            </a:extLst>
          </p:cNvPr>
          <p:cNvSpPr txBox="1"/>
          <p:nvPr/>
        </p:nvSpPr>
        <p:spPr>
          <a:xfrm>
            <a:off x="777240" y="3472840"/>
            <a:ext cx="1325880" cy="310896"/>
          </a:xfrm>
          <a:prstGeom prst="rect">
            <a:avLst/>
          </a:prstGeom>
          <a:noFill/>
        </p:spPr>
        <p:txBody>
          <a:bodyPr wrap="square" anchor="ctr">
            <a:spAutoFit/>
          </a:bodyPr>
          <a:lstStyle/>
          <a:p>
            <a:pPr algn="ctr"/>
            <a:r>
              <a:rPr sz="1130" b="1">
                <a:solidFill>
                  <a:srgbClr val="2C8052"/>
                </a:solidFill>
                <a:latin typeface="Aptos"/>
              </a:rPr>
              <a:t>Available</a:t>
            </a:r>
          </a:p>
        </p:txBody>
      </p:sp>
      <p:sp>
        <p:nvSpPr>
          <p:cNvPr id="177" name="TextBox 176">
            <a:extLst>
              <a:ext uri="{FF2B5EF4-FFF2-40B4-BE49-F238E27FC236}">
                <a16:creationId xmlns:a16="http://schemas.microsoft.com/office/drawing/2014/main" id="{FF13D799-501B-0473-1276-7350742B0FC4}"/>
              </a:ext>
            </a:extLst>
          </p:cNvPr>
          <p:cNvSpPr txBox="1"/>
          <p:nvPr/>
        </p:nvSpPr>
        <p:spPr>
          <a:xfrm>
            <a:off x="2258568" y="3491239"/>
            <a:ext cx="3638958" cy="292388"/>
          </a:xfrm>
          <a:prstGeom prst="rect">
            <a:avLst/>
          </a:prstGeom>
          <a:noFill/>
        </p:spPr>
        <p:txBody>
          <a:bodyPr wrap="square" anchor="ctr">
            <a:spAutoFit/>
          </a:bodyPr>
          <a:lstStyle/>
          <a:p>
            <a:pPr algn="l"/>
            <a:r>
              <a:rPr lang="en-US" sz="1300" b="0" dirty="0">
                <a:solidFill>
                  <a:srgbClr val="282828"/>
                </a:solidFill>
                <a:latin typeface="Aptos"/>
              </a:rPr>
              <a:t>Simulated sensor / </a:t>
            </a:r>
            <a:r>
              <a:rPr sz="1300" b="0" dirty="0">
                <a:solidFill>
                  <a:srgbClr val="282828"/>
                </a:solidFill>
                <a:latin typeface="Aptos"/>
              </a:rPr>
              <a:t>Single-robot SLAM baseline</a:t>
            </a:r>
          </a:p>
        </p:txBody>
      </p:sp>
      <p:sp>
        <p:nvSpPr>
          <p:cNvPr id="179" name="Rounded Rectangle 27">
            <a:extLst>
              <a:ext uri="{FF2B5EF4-FFF2-40B4-BE49-F238E27FC236}">
                <a16:creationId xmlns:a16="http://schemas.microsoft.com/office/drawing/2014/main" id="{E2A3727D-A378-53A8-DC76-7F5A6DD50622}"/>
              </a:ext>
            </a:extLst>
          </p:cNvPr>
          <p:cNvSpPr/>
          <p:nvPr/>
        </p:nvSpPr>
        <p:spPr>
          <a:xfrm>
            <a:off x="777240" y="3843173"/>
            <a:ext cx="1325880" cy="310896"/>
          </a:xfrm>
          <a:prstGeom prst="roundRect">
            <a:avLst/>
          </a:prstGeom>
          <a:solidFill>
            <a:srgbClr val="FFF7E7"/>
          </a:solidFill>
          <a:ln w="13970">
            <a:solidFill>
              <a:srgbClr val="B16F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a:extLst>
              <a:ext uri="{FF2B5EF4-FFF2-40B4-BE49-F238E27FC236}">
                <a16:creationId xmlns:a16="http://schemas.microsoft.com/office/drawing/2014/main" id="{63A55B7A-C377-F508-0DA6-EBF8753C4590}"/>
              </a:ext>
            </a:extLst>
          </p:cNvPr>
          <p:cNvSpPr txBox="1"/>
          <p:nvPr/>
        </p:nvSpPr>
        <p:spPr>
          <a:xfrm>
            <a:off x="777240" y="3843173"/>
            <a:ext cx="1325880" cy="310896"/>
          </a:xfrm>
          <a:prstGeom prst="rect">
            <a:avLst/>
          </a:prstGeom>
          <a:noFill/>
        </p:spPr>
        <p:txBody>
          <a:bodyPr wrap="square" anchor="ctr">
            <a:spAutoFit/>
          </a:bodyPr>
          <a:lstStyle/>
          <a:p>
            <a:pPr algn="ctr"/>
            <a:r>
              <a:rPr sz="1130" b="1">
                <a:solidFill>
                  <a:srgbClr val="B16F16"/>
                </a:solidFill>
                <a:latin typeface="Aptos"/>
              </a:rPr>
              <a:t>Partial</a:t>
            </a:r>
          </a:p>
        </p:txBody>
      </p:sp>
      <p:sp>
        <p:nvSpPr>
          <p:cNvPr id="183" name="TextBox 182">
            <a:extLst>
              <a:ext uri="{FF2B5EF4-FFF2-40B4-BE49-F238E27FC236}">
                <a16:creationId xmlns:a16="http://schemas.microsoft.com/office/drawing/2014/main" id="{06D85656-08B1-D320-F2B1-A2747ECE53D1}"/>
              </a:ext>
            </a:extLst>
          </p:cNvPr>
          <p:cNvSpPr txBox="1"/>
          <p:nvPr/>
        </p:nvSpPr>
        <p:spPr>
          <a:xfrm>
            <a:off x="2258568" y="3861571"/>
            <a:ext cx="3502152" cy="292388"/>
          </a:xfrm>
          <a:prstGeom prst="rect">
            <a:avLst/>
          </a:prstGeom>
          <a:noFill/>
        </p:spPr>
        <p:txBody>
          <a:bodyPr wrap="square" anchor="ctr">
            <a:spAutoFit/>
          </a:bodyPr>
          <a:lstStyle/>
          <a:p>
            <a:pPr algn="l"/>
            <a:r>
              <a:rPr lang="en-US" sz="1300" b="0" dirty="0">
                <a:solidFill>
                  <a:srgbClr val="282828"/>
                </a:solidFill>
                <a:latin typeface="Aptos"/>
              </a:rPr>
              <a:t>Basic setup/ simulation tutorial</a:t>
            </a:r>
            <a:endParaRPr sz="1300" b="0" dirty="0">
              <a:solidFill>
                <a:srgbClr val="282828"/>
              </a:solidFill>
              <a:latin typeface="Aptos"/>
            </a:endParaRPr>
          </a:p>
        </p:txBody>
      </p:sp>
      <p:sp>
        <p:nvSpPr>
          <p:cNvPr id="185" name="Rounded Rectangle 30">
            <a:extLst>
              <a:ext uri="{FF2B5EF4-FFF2-40B4-BE49-F238E27FC236}">
                <a16:creationId xmlns:a16="http://schemas.microsoft.com/office/drawing/2014/main" id="{D2CC4B8C-04E3-3F9F-8E14-DC6CF3A1F779}"/>
              </a:ext>
            </a:extLst>
          </p:cNvPr>
          <p:cNvSpPr/>
          <p:nvPr/>
        </p:nvSpPr>
        <p:spPr>
          <a:xfrm>
            <a:off x="777240" y="4213505"/>
            <a:ext cx="1325880" cy="310896"/>
          </a:xfrm>
          <a:prstGeom prst="roundRect">
            <a:avLst/>
          </a:prstGeom>
          <a:solidFill>
            <a:srgbClr val="FFF7E7"/>
          </a:solidFill>
          <a:ln w="13970">
            <a:solidFill>
              <a:srgbClr val="B16F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a:extLst>
              <a:ext uri="{FF2B5EF4-FFF2-40B4-BE49-F238E27FC236}">
                <a16:creationId xmlns:a16="http://schemas.microsoft.com/office/drawing/2014/main" id="{A3BE6B7F-1924-2D65-5592-0EAFF15548BC}"/>
              </a:ext>
            </a:extLst>
          </p:cNvPr>
          <p:cNvSpPr txBox="1"/>
          <p:nvPr/>
        </p:nvSpPr>
        <p:spPr>
          <a:xfrm>
            <a:off x="777240" y="4213505"/>
            <a:ext cx="1325880" cy="310896"/>
          </a:xfrm>
          <a:prstGeom prst="rect">
            <a:avLst/>
          </a:prstGeom>
          <a:noFill/>
        </p:spPr>
        <p:txBody>
          <a:bodyPr wrap="square" anchor="ctr">
            <a:spAutoFit/>
          </a:bodyPr>
          <a:lstStyle/>
          <a:p>
            <a:pPr algn="ctr"/>
            <a:r>
              <a:rPr sz="1130" b="1">
                <a:solidFill>
                  <a:srgbClr val="B16F16"/>
                </a:solidFill>
                <a:latin typeface="Aptos"/>
              </a:rPr>
              <a:t>Partial</a:t>
            </a:r>
          </a:p>
        </p:txBody>
      </p:sp>
      <p:sp>
        <p:nvSpPr>
          <p:cNvPr id="189" name="TextBox 188">
            <a:extLst>
              <a:ext uri="{FF2B5EF4-FFF2-40B4-BE49-F238E27FC236}">
                <a16:creationId xmlns:a16="http://schemas.microsoft.com/office/drawing/2014/main" id="{467E50F7-162D-4268-E0AE-94E120A58CF4}"/>
              </a:ext>
            </a:extLst>
          </p:cNvPr>
          <p:cNvSpPr txBox="1"/>
          <p:nvPr/>
        </p:nvSpPr>
        <p:spPr>
          <a:xfrm>
            <a:off x="2258568" y="4231903"/>
            <a:ext cx="3502152" cy="292388"/>
          </a:xfrm>
          <a:prstGeom prst="rect">
            <a:avLst/>
          </a:prstGeom>
          <a:noFill/>
        </p:spPr>
        <p:txBody>
          <a:bodyPr wrap="square" anchor="ctr">
            <a:spAutoFit/>
          </a:bodyPr>
          <a:lstStyle/>
          <a:p>
            <a:pPr algn="l"/>
            <a:r>
              <a:rPr lang="en-US" sz="1300" b="0" dirty="0">
                <a:solidFill>
                  <a:srgbClr val="282828"/>
                </a:solidFill>
                <a:latin typeface="Aptos"/>
              </a:rPr>
              <a:t>Competition task/ arena / target specification</a:t>
            </a:r>
            <a:endParaRPr sz="1300" b="0" dirty="0">
              <a:solidFill>
                <a:srgbClr val="282828"/>
              </a:solidFill>
              <a:latin typeface="Aptos"/>
            </a:endParaRPr>
          </a:p>
        </p:txBody>
      </p:sp>
      <p:sp>
        <p:nvSpPr>
          <p:cNvPr id="195" name="TextBox 194">
            <a:extLst>
              <a:ext uri="{FF2B5EF4-FFF2-40B4-BE49-F238E27FC236}">
                <a16:creationId xmlns:a16="http://schemas.microsoft.com/office/drawing/2014/main" id="{DF00EFFF-B0A7-FE1E-2D7E-BF837B51C54A}"/>
              </a:ext>
            </a:extLst>
          </p:cNvPr>
          <p:cNvSpPr txBox="1"/>
          <p:nvPr/>
        </p:nvSpPr>
        <p:spPr>
          <a:xfrm>
            <a:off x="2258568" y="4602235"/>
            <a:ext cx="3502152" cy="292388"/>
          </a:xfrm>
          <a:prstGeom prst="rect">
            <a:avLst/>
          </a:prstGeom>
          <a:noFill/>
        </p:spPr>
        <p:txBody>
          <a:bodyPr wrap="square" anchor="ctr">
            <a:spAutoFit/>
          </a:bodyPr>
          <a:lstStyle/>
          <a:p>
            <a:pPr algn="l"/>
            <a:r>
              <a:rPr lang="en-US" sz="1300" b="0" dirty="0">
                <a:solidFill>
                  <a:srgbClr val="282828"/>
                </a:solidFill>
                <a:latin typeface="Aptos"/>
              </a:rPr>
              <a:t>Real-robot ROS 2 I/O interface</a:t>
            </a:r>
            <a:endParaRPr sz="1300" b="0" dirty="0">
              <a:solidFill>
                <a:srgbClr val="282828"/>
              </a:solidFill>
              <a:latin typeface="Aptos"/>
            </a:endParaRPr>
          </a:p>
        </p:txBody>
      </p:sp>
      <p:sp>
        <p:nvSpPr>
          <p:cNvPr id="201" name="TextBox 200">
            <a:extLst>
              <a:ext uri="{FF2B5EF4-FFF2-40B4-BE49-F238E27FC236}">
                <a16:creationId xmlns:a16="http://schemas.microsoft.com/office/drawing/2014/main" id="{A1326E66-E049-CF55-00DF-9FF01F9095CC}"/>
              </a:ext>
            </a:extLst>
          </p:cNvPr>
          <p:cNvSpPr txBox="1"/>
          <p:nvPr/>
        </p:nvSpPr>
        <p:spPr>
          <a:xfrm>
            <a:off x="2258568" y="4972567"/>
            <a:ext cx="3502152" cy="292388"/>
          </a:xfrm>
          <a:prstGeom prst="rect">
            <a:avLst/>
          </a:prstGeom>
          <a:noFill/>
        </p:spPr>
        <p:txBody>
          <a:bodyPr wrap="square" anchor="ctr">
            <a:spAutoFit/>
          </a:bodyPr>
          <a:lstStyle/>
          <a:p>
            <a:pPr algn="l"/>
            <a:r>
              <a:rPr lang="en-US" sz="1300" b="0" dirty="0">
                <a:solidFill>
                  <a:srgbClr val="282828"/>
                </a:solidFill>
                <a:latin typeface="Aptos"/>
              </a:rPr>
              <a:t>Robot-edge basic network connectivity</a:t>
            </a:r>
            <a:endParaRPr sz="1300" b="0" dirty="0">
              <a:solidFill>
                <a:srgbClr val="282828"/>
              </a:solidFill>
              <a:latin typeface="Aptos"/>
            </a:endParaRPr>
          </a:p>
        </p:txBody>
      </p:sp>
      <p:sp>
        <p:nvSpPr>
          <p:cNvPr id="203" name="Rounded Rectangle 39">
            <a:extLst>
              <a:ext uri="{FF2B5EF4-FFF2-40B4-BE49-F238E27FC236}">
                <a16:creationId xmlns:a16="http://schemas.microsoft.com/office/drawing/2014/main" id="{9B82D76D-558A-245A-BAB8-B64C14DECC19}"/>
              </a:ext>
            </a:extLst>
          </p:cNvPr>
          <p:cNvSpPr/>
          <p:nvPr/>
        </p:nvSpPr>
        <p:spPr>
          <a:xfrm>
            <a:off x="781812" y="5356615"/>
            <a:ext cx="1325880" cy="310896"/>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a:extLst>
              <a:ext uri="{FF2B5EF4-FFF2-40B4-BE49-F238E27FC236}">
                <a16:creationId xmlns:a16="http://schemas.microsoft.com/office/drawing/2014/main" id="{B57F3F0F-4EED-8B49-163C-E04CB03C03FD}"/>
              </a:ext>
            </a:extLst>
          </p:cNvPr>
          <p:cNvSpPr txBox="1"/>
          <p:nvPr/>
        </p:nvSpPr>
        <p:spPr>
          <a:xfrm>
            <a:off x="781812" y="5356615"/>
            <a:ext cx="1325880" cy="310896"/>
          </a:xfrm>
          <a:prstGeom prst="rect">
            <a:avLst/>
          </a:prstGeom>
          <a:noFill/>
        </p:spPr>
        <p:txBody>
          <a:bodyPr wrap="square" anchor="ctr">
            <a:spAutoFit/>
          </a:bodyPr>
          <a:lstStyle/>
          <a:p>
            <a:pPr algn="ctr"/>
            <a:r>
              <a:rPr sz="1130" b="1">
                <a:solidFill>
                  <a:srgbClr val="606770"/>
                </a:solidFill>
                <a:latin typeface="Aptos"/>
              </a:rPr>
              <a:t>To do</a:t>
            </a:r>
          </a:p>
        </p:txBody>
      </p:sp>
      <p:sp>
        <p:nvSpPr>
          <p:cNvPr id="207" name="TextBox 206">
            <a:extLst>
              <a:ext uri="{FF2B5EF4-FFF2-40B4-BE49-F238E27FC236}">
                <a16:creationId xmlns:a16="http://schemas.microsoft.com/office/drawing/2014/main" id="{D8DACB7B-599C-C163-5AB2-3EE2B01F2624}"/>
              </a:ext>
            </a:extLst>
          </p:cNvPr>
          <p:cNvSpPr txBox="1"/>
          <p:nvPr/>
        </p:nvSpPr>
        <p:spPr>
          <a:xfrm>
            <a:off x="2258568" y="5297069"/>
            <a:ext cx="3502152" cy="384048"/>
          </a:xfrm>
          <a:prstGeom prst="rect">
            <a:avLst/>
          </a:prstGeom>
          <a:noFill/>
        </p:spPr>
        <p:txBody>
          <a:bodyPr wrap="square" anchor="ctr">
            <a:spAutoFit/>
          </a:bodyPr>
          <a:lstStyle/>
          <a:p>
            <a:pPr algn="l"/>
            <a:r>
              <a:rPr sz="1300" b="0">
                <a:solidFill>
                  <a:srgbClr val="282828"/>
                </a:solidFill>
                <a:latin typeface="Aptos"/>
              </a:rPr>
              <a:t>Edge-node base runtime / LLM environment</a:t>
            </a:r>
          </a:p>
        </p:txBody>
      </p:sp>
      <p:sp>
        <p:nvSpPr>
          <p:cNvPr id="209" name="TextBox 208">
            <a:extLst>
              <a:ext uri="{FF2B5EF4-FFF2-40B4-BE49-F238E27FC236}">
                <a16:creationId xmlns:a16="http://schemas.microsoft.com/office/drawing/2014/main" id="{9A70A8FC-2D4A-776F-247C-2E015C6E4EC9}"/>
              </a:ext>
            </a:extLst>
          </p:cNvPr>
          <p:cNvSpPr txBox="1"/>
          <p:nvPr/>
        </p:nvSpPr>
        <p:spPr>
          <a:xfrm>
            <a:off x="6501384" y="2087525"/>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Autonomous exploration and navigation integration</a:t>
            </a:r>
          </a:p>
        </p:txBody>
      </p:sp>
      <p:sp>
        <p:nvSpPr>
          <p:cNvPr id="211" name="TextBox 210">
            <a:extLst>
              <a:ext uri="{FF2B5EF4-FFF2-40B4-BE49-F238E27FC236}">
                <a16:creationId xmlns:a16="http://schemas.microsoft.com/office/drawing/2014/main" id="{2F4BE7A7-1BBA-4063-3FD9-26C7274C30BC}"/>
              </a:ext>
            </a:extLst>
          </p:cNvPr>
          <p:cNvSpPr txBox="1"/>
          <p:nvPr/>
        </p:nvSpPr>
        <p:spPr>
          <a:xfrm>
            <a:off x="6501384" y="2480717"/>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Target detection and localization</a:t>
            </a:r>
          </a:p>
        </p:txBody>
      </p:sp>
      <p:sp>
        <p:nvSpPr>
          <p:cNvPr id="213" name="TextBox 212">
            <a:extLst>
              <a:ext uri="{FF2B5EF4-FFF2-40B4-BE49-F238E27FC236}">
                <a16:creationId xmlns:a16="http://schemas.microsoft.com/office/drawing/2014/main" id="{524C88EF-2E40-43E6-EAAC-3E49F88DB798}"/>
              </a:ext>
            </a:extLst>
          </p:cNvPr>
          <p:cNvSpPr txBox="1"/>
          <p:nvPr/>
        </p:nvSpPr>
        <p:spPr>
          <a:xfrm>
            <a:off x="6501384" y="2873909"/>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Robot–edge communication and information sharing</a:t>
            </a:r>
          </a:p>
        </p:txBody>
      </p:sp>
      <p:sp>
        <p:nvSpPr>
          <p:cNvPr id="215" name="TextBox 214">
            <a:extLst>
              <a:ext uri="{FF2B5EF4-FFF2-40B4-BE49-F238E27FC236}">
                <a16:creationId xmlns:a16="http://schemas.microsoft.com/office/drawing/2014/main" id="{041C8963-C0A3-82E8-FF65-0501F5682D42}"/>
              </a:ext>
            </a:extLst>
          </p:cNvPr>
          <p:cNvSpPr txBox="1"/>
          <p:nvPr/>
        </p:nvSpPr>
        <p:spPr>
          <a:xfrm>
            <a:off x="6501384" y="3267101"/>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Global robot / target / task-state management</a:t>
            </a:r>
          </a:p>
        </p:txBody>
      </p:sp>
      <p:sp>
        <p:nvSpPr>
          <p:cNvPr id="217" name="TextBox 216">
            <a:extLst>
              <a:ext uri="{FF2B5EF4-FFF2-40B4-BE49-F238E27FC236}">
                <a16:creationId xmlns:a16="http://schemas.microsoft.com/office/drawing/2014/main" id="{5E8B3D48-7343-DFAF-145C-D4ABB565DAA0}"/>
              </a:ext>
            </a:extLst>
          </p:cNvPr>
          <p:cNvSpPr txBox="1"/>
          <p:nvPr/>
        </p:nvSpPr>
        <p:spPr>
          <a:xfrm>
            <a:off x="6501384" y="3660293"/>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Task planning and robot allocation</a:t>
            </a:r>
          </a:p>
        </p:txBody>
      </p:sp>
      <p:sp>
        <p:nvSpPr>
          <p:cNvPr id="219" name="TextBox 218">
            <a:extLst>
              <a:ext uri="{FF2B5EF4-FFF2-40B4-BE49-F238E27FC236}">
                <a16:creationId xmlns:a16="http://schemas.microsoft.com/office/drawing/2014/main" id="{05E12D8D-7EB5-79CF-8980-5308674FDB9F}"/>
              </a:ext>
            </a:extLst>
          </p:cNvPr>
          <p:cNvSpPr txBox="1"/>
          <p:nvPr/>
        </p:nvSpPr>
        <p:spPr>
          <a:xfrm>
            <a:off x="6501384" y="4053485"/>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Multi-robot coordination and cooperative rescue</a:t>
            </a:r>
          </a:p>
        </p:txBody>
      </p:sp>
      <p:sp>
        <p:nvSpPr>
          <p:cNvPr id="221" name="TextBox 220">
            <a:extLst>
              <a:ext uri="{FF2B5EF4-FFF2-40B4-BE49-F238E27FC236}">
                <a16:creationId xmlns:a16="http://schemas.microsoft.com/office/drawing/2014/main" id="{16191131-6A1B-850D-F19B-1A017E238712}"/>
              </a:ext>
            </a:extLst>
          </p:cNvPr>
          <p:cNvSpPr txBox="1"/>
          <p:nvPr/>
        </p:nvSpPr>
        <p:spPr>
          <a:xfrm>
            <a:off x="6501384" y="4446677"/>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Feedback, failure handling, and replanning</a:t>
            </a:r>
          </a:p>
        </p:txBody>
      </p:sp>
      <p:sp>
        <p:nvSpPr>
          <p:cNvPr id="223" name="TextBox 222">
            <a:extLst>
              <a:ext uri="{FF2B5EF4-FFF2-40B4-BE49-F238E27FC236}">
                <a16:creationId xmlns:a16="http://schemas.microsoft.com/office/drawing/2014/main" id="{916B5DBC-C5A9-6C22-65EC-AE8ABFE1391F}"/>
              </a:ext>
            </a:extLst>
          </p:cNvPr>
          <p:cNvSpPr txBox="1"/>
          <p:nvPr/>
        </p:nvSpPr>
        <p:spPr>
          <a:xfrm>
            <a:off x="6501384" y="4839869"/>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LLM mission interpretation and integration for Task 2B</a:t>
            </a:r>
          </a:p>
        </p:txBody>
      </p:sp>
      <p:sp>
        <p:nvSpPr>
          <p:cNvPr id="225" name="TextBox 224">
            <a:extLst>
              <a:ext uri="{FF2B5EF4-FFF2-40B4-BE49-F238E27FC236}">
                <a16:creationId xmlns:a16="http://schemas.microsoft.com/office/drawing/2014/main" id="{321C1A0C-6D7E-AB12-FCA1-FC7975B65CCD}"/>
              </a:ext>
            </a:extLst>
          </p:cNvPr>
          <p:cNvSpPr txBox="1"/>
          <p:nvPr/>
        </p:nvSpPr>
        <p:spPr>
          <a:xfrm>
            <a:off x="6501384" y="5233061"/>
            <a:ext cx="4663440" cy="411480"/>
          </a:xfrm>
          <a:prstGeom prst="rect">
            <a:avLst/>
          </a:prstGeom>
          <a:noFill/>
        </p:spPr>
        <p:txBody>
          <a:bodyPr wrap="none">
            <a:spAutoFit/>
          </a:bodyPr>
          <a:lstStyle/>
          <a:p>
            <a:pPr>
              <a:spcAft>
                <a:spcPts val="0"/>
              </a:spcAft>
            </a:pPr>
            <a:r>
              <a:rPr sz="1310" b="1">
                <a:solidFill>
                  <a:srgbClr val="1F5D7D"/>
                </a:solidFill>
                <a:latin typeface="Aptos"/>
              </a:rPr>
              <a:t>• </a:t>
            </a:r>
            <a:r>
              <a:rPr sz="1310">
                <a:solidFill>
                  <a:srgbClr val="282828"/>
                </a:solidFill>
                <a:latin typeface="Aptos"/>
              </a:rPr>
              <a:t>Overall system integration and testing</a:t>
            </a:r>
          </a:p>
        </p:txBody>
      </p:sp>
      <p:sp>
        <p:nvSpPr>
          <p:cNvPr id="239" name="Rounded Rectangle 39">
            <a:extLst>
              <a:ext uri="{FF2B5EF4-FFF2-40B4-BE49-F238E27FC236}">
                <a16:creationId xmlns:a16="http://schemas.microsoft.com/office/drawing/2014/main" id="{AC8B430E-634A-3809-A1A2-ACAD64A86210}"/>
              </a:ext>
            </a:extLst>
          </p:cNvPr>
          <p:cNvSpPr/>
          <p:nvPr/>
        </p:nvSpPr>
        <p:spPr>
          <a:xfrm>
            <a:off x="777240" y="4597553"/>
            <a:ext cx="1325880" cy="310896"/>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TextBox 240">
            <a:extLst>
              <a:ext uri="{FF2B5EF4-FFF2-40B4-BE49-F238E27FC236}">
                <a16:creationId xmlns:a16="http://schemas.microsoft.com/office/drawing/2014/main" id="{72046231-53EE-C0B6-6A48-FF0E9405665F}"/>
              </a:ext>
            </a:extLst>
          </p:cNvPr>
          <p:cNvSpPr txBox="1"/>
          <p:nvPr/>
        </p:nvSpPr>
        <p:spPr>
          <a:xfrm>
            <a:off x="777240" y="4597553"/>
            <a:ext cx="1325880" cy="310896"/>
          </a:xfrm>
          <a:prstGeom prst="rect">
            <a:avLst/>
          </a:prstGeom>
          <a:noFill/>
        </p:spPr>
        <p:txBody>
          <a:bodyPr wrap="square" anchor="ctr">
            <a:spAutoFit/>
          </a:bodyPr>
          <a:lstStyle/>
          <a:p>
            <a:pPr algn="ctr"/>
            <a:r>
              <a:rPr sz="1130" b="1">
                <a:solidFill>
                  <a:srgbClr val="606770"/>
                </a:solidFill>
                <a:latin typeface="Aptos"/>
              </a:rPr>
              <a:t>To do</a:t>
            </a:r>
          </a:p>
        </p:txBody>
      </p:sp>
      <p:sp>
        <p:nvSpPr>
          <p:cNvPr id="243" name="Rounded Rectangle 39">
            <a:extLst>
              <a:ext uri="{FF2B5EF4-FFF2-40B4-BE49-F238E27FC236}">
                <a16:creationId xmlns:a16="http://schemas.microsoft.com/office/drawing/2014/main" id="{D98E0CC7-91A8-7E66-3D03-04154DEA1362}"/>
              </a:ext>
            </a:extLst>
          </p:cNvPr>
          <p:cNvSpPr/>
          <p:nvPr/>
        </p:nvSpPr>
        <p:spPr>
          <a:xfrm>
            <a:off x="772774" y="4972567"/>
            <a:ext cx="1325880" cy="310896"/>
          </a:xfrm>
          <a:prstGeom prst="roundRect">
            <a:avLst/>
          </a:prstGeom>
          <a:solidFill>
            <a:srgbClr val="F0F2F4"/>
          </a:solidFill>
          <a:ln w="13970">
            <a:solidFill>
              <a:srgbClr val="606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TextBox 244">
            <a:extLst>
              <a:ext uri="{FF2B5EF4-FFF2-40B4-BE49-F238E27FC236}">
                <a16:creationId xmlns:a16="http://schemas.microsoft.com/office/drawing/2014/main" id="{24B9C8A9-E71E-EEC2-32BB-DBEFF81C82E3}"/>
              </a:ext>
            </a:extLst>
          </p:cNvPr>
          <p:cNvSpPr txBox="1"/>
          <p:nvPr/>
        </p:nvSpPr>
        <p:spPr>
          <a:xfrm>
            <a:off x="772774" y="4972567"/>
            <a:ext cx="1325880" cy="310896"/>
          </a:xfrm>
          <a:prstGeom prst="rect">
            <a:avLst/>
          </a:prstGeom>
          <a:noFill/>
        </p:spPr>
        <p:txBody>
          <a:bodyPr wrap="square" anchor="ctr">
            <a:spAutoFit/>
          </a:bodyPr>
          <a:lstStyle/>
          <a:p>
            <a:pPr algn="ctr"/>
            <a:r>
              <a:rPr sz="1130" b="1">
                <a:solidFill>
                  <a:srgbClr val="606770"/>
                </a:solidFill>
                <a:latin typeface="Aptos"/>
              </a:rPr>
              <a:t>To do</a:t>
            </a:r>
          </a:p>
        </p:txBody>
      </p:sp>
    </p:spTree>
    <p:extLst>
      <p:ext uri="{BB962C8B-B14F-4D97-AF65-F5344CB8AC3E}">
        <p14:creationId xmlns:p14="http://schemas.microsoft.com/office/powerpoint/2010/main" val="3390603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56FF894-081E-4189-9B12-882CE010839B}"/>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Milestone and development timeline</a:t>
            </a:r>
          </a:p>
        </p:txBody>
      </p:sp>
      <p:sp>
        <p:nvSpPr>
          <p:cNvPr id="3" name="Rectangle 2">
            <a:extLst>
              <a:ext uri="{FF2B5EF4-FFF2-40B4-BE49-F238E27FC236}">
                <a16:creationId xmlns:a16="http://schemas.microsoft.com/office/drawing/2014/main" id="{6378196F-8E87-4B5A-8D76-FDCD246F9F0C}"/>
              </a:ext>
            </a:extLst>
          </p:cNvPr>
          <p:cNvSpPr>
            <a:spLocks noGrp="1"/>
          </p:cNvSpPr>
          <p:nvPr/>
        </p:nvSpPr>
        <p:spPr>
          <a:xfrm>
            <a:off x="11075670" y="5987016"/>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13</a:t>
            </a:r>
          </a:p>
        </p:txBody>
      </p:sp>
      <p:sp>
        <p:nvSpPr>
          <p:cNvPr id="15" name="Rectangle 14">
            <a:extLst>
              <a:ext uri="{FF2B5EF4-FFF2-40B4-BE49-F238E27FC236}">
                <a16:creationId xmlns:a16="http://schemas.microsoft.com/office/drawing/2014/main" id="{B77CB745-B65B-48D8-855F-7656AE880D1D}"/>
              </a:ext>
            </a:extLst>
          </p:cNvPr>
          <p:cNvSpPr>
            <a:spLocks noGrp="1"/>
          </p:cNvSpPr>
          <p:nvPr/>
        </p:nvSpPr>
        <p:spPr>
          <a:xfrm>
            <a:off x="502920" y="1183124"/>
            <a:ext cx="9279034" cy="345144"/>
          </a:xfrm>
          <a:prstGeom prst="rect">
            <a:avLst/>
          </a:prstGeom>
          <a:noFill/>
          <a:ln w="9525">
            <a:noFill/>
          </a:ln>
        </p:spPr>
        <p:txBody>
          <a:bodyPr>
            <a:noAutofit/>
          </a:bodyPr>
          <a:lstStyle/>
          <a:p>
            <a:pPr>
              <a:defRPr sz="2400" b="1">
                <a:solidFill>
                  <a:srgbClr val="12283B"/>
                </a:solidFill>
                <a:latin typeface="Arial"/>
                <a:ea typeface="Arial"/>
                <a:cs typeface="Arial"/>
              </a:defRPr>
            </a:pPr>
            <a:r>
              <a:rPr sz="2000" b="1" dirty="0">
                <a:solidFill>
                  <a:srgbClr val="12283B"/>
                </a:solidFill>
                <a:latin typeface="Arial"/>
                <a:ea typeface="Arial"/>
                <a:cs typeface="Arial"/>
              </a:rPr>
              <a:t>End-to-end autonomous rescue baseline</a:t>
            </a:r>
            <a:r>
              <a:rPr lang="en-US" sz="2000" b="1" dirty="0">
                <a:solidFill>
                  <a:srgbClr val="12283B"/>
                </a:solidFill>
                <a:latin typeface="Arial"/>
                <a:ea typeface="Arial"/>
                <a:cs typeface="Arial"/>
              </a:rPr>
              <a:t> (simulation demo is sufficient)</a:t>
            </a:r>
            <a:endParaRPr sz="2000" b="1" dirty="0">
              <a:solidFill>
                <a:srgbClr val="12283B"/>
              </a:solidFill>
              <a:latin typeface="Arial"/>
              <a:ea typeface="Arial"/>
              <a:cs typeface="Arial"/>
            </a:endParaRPr>
          </a:p>
        </p:txBody>
      </p:sp>
      <p:sp>
        <p:nvSpPr>
          <p:cNvPr id="21" name="Shape 2">
            <a:extLst>
              <a:ext uri="{FF2B5EF4-FFF2-40B4-BE49-F238E27FC236}">
                <a16:creationId xmlns:a16="http://schemas.microsoft.com/office/drawing/2014/main" id="{2491759D-77C4-C5DE-F29D-FFA381AF3523}"/>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3" name="Rectangle 22">
            <a:extLst>
              <a:ext uri="{FF2B5EF4-FFF2-40B4-BE49-F238E27FC236}">
                <a16:creationId xmlns:a16="http://schemas.microsoft.com/office/drawing/2014/main" id="{661CE05B-C037-8A6B-EB0C-956D0A328C57}"/>
              </a:ext>
            </a:extLst>
          </p:cNvPr>
          <p:cNvSpPr>
            <a:spLocks noGrp="1"/>
          </p:cNvSpPr>
          <p:nvPr/>
        </p:nvSpPr>
        <p:spPr>
          <a:xfrm>
            <a:off x="502920" y="1559088"/>
            <a:ext cx="8734735" cy="2208856"/>
          </a:xfrm>
          <a:prstGeom prst="rect">
            <a:avLst/>
          </a:prstGeom>
          <a:noFill/>
          <a:ln w="9525">
            <a:noFill/>
          </a:ln>
        </p:spPr>
        <p:txBody>
          <a:bodyPr>
            <a:noAutofit/>
          </a:bodyPr>
          <a:lstStyle/>
          <a:p>
            <a:pPr marL="285750" indent="-285750" algn="just">
              <a:spcAft>
                <a:spcPts val="600"/>
              </a:spcAft>
              <a:buFont typeface="Wingdings" panose="05000000000000000000" pitchFamily="2" charset="2"/>
              <a:buChar char="l"/>
            </a:pPr>
            <a:r>
              <a:rPr lang="en-US" altLang="zh-CN" sz="1600" dirty="0">
                <a:latin typeface="Arial"/>
                <a:ea typeface="Arial"/>
                <a:cs typeface="Arial"/>
              </a:rPr>
              <a:t>Autonomous exploration, </a:t>
            </a:r>
            <a:r>
              <a:rPr lang="en-US" altLang="zh-CN" sz="1600" dirty="0" err="1">
                <a:latin typeface="Arial"/>
                <a:ea typeface="Arial"/>
                <a:cs typeface="Arial"/>
              </a:rPr>
              <a:t>ArUco</a:t>
            </a:r>
            <a:r>
              <a:rPr lang="en-US" altLang="zh-CN" sz="1600" dirty="0">
                <a:latin typeface="Arial"/>
                <a:ea typeface="Arial"/>
                <a:cs typeface="Arial"/>
              </a:rPr>
              <a:t> detection and localization</a:t>
            </a:r>
          </a:p>
          <a:p>
            <a:pPr marL="285750" indent="-285750" algn="just">
              <a:spcAft>
                <a:spcPts val="600"/>
              </a:spcAft>
              <a:buFont typeface="Wingdings" panose="05000000000000000000" pitchFamily="2" charset="2"/>
              <a:buChar char="l"/>
            </a:pPr>
            <a:r>
              <a:rPr lang="en-US" altLang="zh-CN" sz="1600" dirty="0">
                <a:latin typeface="Arial"/>
                <a:cs typeface="Arial"/>
              </a:rPr>
              <a:t>Autonomous map-based navigation</a:t>
            </a:r>
          </a:p>
          <a:p>
            <a:pPr marL="285750" indent="-285750" algn="just">
              <a:spcAft>
                <a:spcPts val="600"/>
              </a:spcAft>
              <a:buFont typeface="Wingdings" panose="05000000000000000000" pitchFamily="2" charset="2"/>
              <a:buChar char="l"/>
            </a:pPr>
            <a:r>
              <a:rPr lang="en-US" altLang="zh-CN" sz="1600" dirty="0">
                <a:latin typeface="Arial"/>
                <a:ea typeface="Arial"/>
                <a:cs typeface="Arial"/>
              </a:rPr>
              <a:t>At least two robots should connect, with their states available to the system</a:t>
            </a:r>
          </a:p>
          <a:p>
            <a:pPr marL="285750" indent="-285750" algn="just">
              <a:spcAft>
                <a:spcPts val="600"/>
              </a:spcAft>
              <a:buFont typeface="Wingdings" panose="05000000000000000000" pitchFamily="2" charset="2"/>
              <a:buChar char="l"/>
            </a:pPr>
            <a:r>
              <a:rPr lang="en-US" altLang="zh-CN" sz="1600" dirty="0">
                <a:latin typeface="Arial"/>
                <a:cs typeface="Arial"/>
              </a:rPr>
              <a:t>B</a:t>
            </a:r>
            <a:r>
              <a:rPr lang="zh-CN" altLang="zh-CN" sz="1600" dirty="0">
                <a:latin typeface="Arial"/>
                <a:cs typeface="Arial"/>
              </a:rPr>
              <a:t>asic robot–edge communication demonstrated</a:t>
            </a:r>
            <a:endParaRPr lang="en-US" altLang="zh-CN" sz="1600" dirty="0">
              <a:latin typeface="Arial"/>
              <a:cs typeface="Arial"/>
            </a:endParaRPr>
          </a:p>
          <a:p>
            <a:pPr marL="285750" indent="-285750" algn="just">
              <a:spcAft>
                <a:spcPts val="600"/>
              </a:spcAft>
              <a:buFont typeface="Wingdings" panose="05000000000000000000" pitchFamily="2" charset="2"/>
              <a:buChar char="l"/>
            </a:pPr>
            <a:r>
              <a:rPr lang="en-US" altLang="zh-CN" sz="1600" dirty="0">
                <a:latin typeface="Arial"/>
                <a:cs typeface="Arial"/>
              </a:rPr>
              <a:t>Basic task planning and robot allocation</a:t>
            </a:r>
          </a:p>
          <a:p>
            <a:pPr marL="285750" indent="-285750" algn="just">
              <a:spcAft>
                <a:spcPts val="600"/>
              </a:spcAft>
              <a:buFont typeface="Wingdings" panose="05000000000000000000" pitchFamily="2" charset="2"/>
              <a:buChar char="l"/>
            </a:pPr>
            <a:r>
              <a:rPr lang="en-US" altLang="zh-CN" sz="1600" dirty="0">
                <a:latin typeface="Arial"/>
                <a:cs typeface="Arial"/>
              </a:rPr>
              <a:t>At least one Normal Rescue and one Cooperative Rescue</a:t>
            </a:r>
          </a:p>
        </p:txBody>
      </p:sp>
      <p:sp>
        <p:nvSpPr>
          <p:cNvPr id="25" name="Rectangle 24">
            <a:extLst>
              <a:ext uri="{FF2B5EF4-FFF2-40B4-BE49-F238E27FC236}">
                <a16:creationId xmlns:a16="http://schemas.microsoft.com/office/drawing/2014/main" id="{9CB491C8-269C-011F-4A06-307A6D5A60A8}"/>
              </a:ext>
            </a:extLst>
          </p:cNvPr>
          <p:cNvSpPr>
            <a:spLocks noGrp="1"/>
          </p:cNvSpPr>
          <p:nvPr/>
        </p:nvSpPr>
        <p:spPr>
          <a:xfrm>
            <a:off x="1026795" y="4281255"/>
            <a:ext cx="9715500" cy="28575"/>
          </a:xfrm>
          <a:prstGeom prst="rect">
            <a:avLst/>
          </a:prstGeom>
          <a:solidFill>
            <a:srgbClr val="007F82"/>
          </a:solidFill>
          <a:ln w="9525">
            <a:solidFill>
              <a:srgbClr val="007F82"/>
            </a:solidFill>
          </a:ln>
        </p:spPr>
        <p:txBody>
          <a:bodyPr/>
          <a:lstStyle/>
          <a:p>
            <a:endParaRPr lang="zh-CN" altLang="en-US"/>
          </a:p>
        </p:txBody>
      </p:sp>
      <p:sp>
        <p:nvSpPr>
          <p:cNvPr id="27" name="Oval 26">
            <a:extLst>
              <a:ext uri="{FF2B5EF4-FFF2-40B4-BE49-F238E27FC236}">
                <a16:creationId xmlns:a16="http://schemas.microsoft.com/office/drawing/2014/main" id="{3A1140AC-CD62-BD57-3321-8DAE4D01F59F}"/>
              </a:ext>
            </a:extLst>
          </p:cNvPr>
          <p:cNvSpPr>
            <a:spLocks noGrp="1"/>
          </p:cNvSpPr>
          <p:nvPr/>
        </p:nvSpPr>
        <p:spPr>
          <a:xfrm>
            <a:off x="941070" y="4205055"/>
            <a:ext cx="190500" cy="190500"/>
          </a:xfrm>
          <a:prstGeom prst="ellipse">
            <a:avLst/>
          </a:prstGeom>
          <a:solidFill>
            <a:srgbClr val="007F82"/>
          </a:solidFill>
          <a:ln w="9525">
            <a:solidFill>
              <a:srgbClr val="007F82"/>
            </a:solidFill>
          </a:ln>
        </p:spPr>
        <p:txBody>
          <a:bodyPr/>
          <a:lstStyle/>
          <a:p>
            <a:endParaRPr lang="zh-CN" altLang="en-US"/>
          </a:p>
        </p:txBody>
      </p:sp>
      <p:sp>
        <p:nvSpPr>
          <p:cNvPr id="29" name="Rectangle 28">
            <a:extLst>
              <a:ext uri="{FF2B5EF4-FFF2-40B4-BE49-F238E27FC236}">
                <a16:creationId xmlns:a16="http://schemas.microsoft.com/office/drawing/2014/main" id="{7D5136B4-16CF-0887-4E24-24CFDC6747A5}"/>
              </a:ext>
            </a:extLst>
          </p:cNvPr>
          <p:cNvSpPr>
            <a:spLocks noGrp="1"/>
          </p:cNvSpPr>
          <p:nvPr/>
        </p:nvSpPr>
        <p:spPr>
          <a:xfrm>
            <a:off x="407670" y="3755481"/>
            <a:ext cx="1524000" cy="428625"/>
          </a:xfrm>
          <a:prstGeom prst="rect">
            <a:avLst/>
          </a:prstGeom>
          <a:noFill/>
          <a:ln w="9525">
            <a:noFill/>
          </a:ln>
        </p:spPr>
        <p:txBody>
          <a:bodyPr>
            <a:noAutofit/>
          </a:bodyPr>
          <a:lstStyle/>
          <a:p>
            <a:pPr>
              <a:defRPr sz="2025" b="1">
                <a:solidFill>
                  <a:srgbClr val="007F82"/>
                </a:solidFill>
                <a:latin typeface="Arial"/>
                <a:ea typeface="Arial"/>
                <a:cs typeface="Arial"/>
              </a:defRPr>
            </a:pPr>
            <a:r>
              <a:rPr b="1" dirty="0">
                <a:solidFill>
                  <a:srgbClr val="007F82"/>
                </a:solidFill>
                <a:latin typeface="Arial"/>
                <a:ea typeface="Arial"/>
                <a:cs typeface="Arial"/>
              </a:rPr>
              <a:t>Week 0</a:t>
            </a:r>
          </a:p>
        </p:txBody>
      </p:sp>
      <p:sp>
        <p:nvSpPr>
          <p:cNvPr id="31" name="Rectangle 30">
            <a:extLst>
              <a:ext uri="{FF2B5EF4-FFF2-40B4-BE49-F238E27FC236}">
                <a16:creationId xmlns:a16="http://schemas.microsoft.com/office/drawing/2014/main" id="{A93D9CCE-B67D-2834-2CA2-0DFE84E7E349}"/>
              </a:ext>
            </a:extLst>
          </p:cNvPr>
          <p:cNvSpPr>
            <a:spLocks noGrp="1"/>
          </p:cNvSpPr>
          <p:nvPr/>
        </p:nvSpPr>
        <p:spPr>
          <a:xfrm>
            <a:off x="502920" y="4460288"/>
            <a:ext cx="1203384" cy="428626"/>
          </a:xfrm>
          <a:prstGeom prst="rect">
            <a:avLst/>
          </a:prstGeom>
          <a:noFill/>
          <a:ln w="9525">
            <a:noFill/>
          </a:ln>
        </p:spPr>
        <p:txBody>
          <a:bodyPr>
            <a:noAutofit/>
          </a:bodyPr>
          <a:lstStyle/>
          <a:p>
            <a:pPr>
              <a:defRPr sz="1875" b="1">
                <a:solidFill>
                  <a:srgbClr val="12283B"/>
                </a:solidFill>
                <a:latin typeface="Arial"/>
                <a:ea typeface="Arial"/>
                <a:cs typeface="Arial"/>
              </a:defRPr>
            </a:pPr>
            <a:r>
              <a:rPr sz="1600" b="1" dirty="0">
                <a:solidFill>
                  <a:srgbClr val="12283B"/>
                </a:solidFill>
                <a:latin typeface="Arial"/>
                <a:ea typeface="Arial"/>
                <a:cs typeface="Arial"/>
              </a:rPr>
              <a:t>Kick-off</a:t>
            </a:r>
          </a:p>
        </p:txBody>
      </p:sp>
      <p:sp>
        <p:nvSpPr>
          <p:cNvPr id="33" name="Oval 32">
            <a:extLst>
              <a:ext uri="{FF2B5EF4-FFF2-40B4-BE49-F238E27FC236}">
                <a16:creationId xmlns:a16="http://schemas.microsoft.com/office/drawing/2014/main" id="{D58094E0-6AD0-FF24-3D91-C324ADAB8C43}"/>
              </a:ext>
            </a:extLst>
          </p:cNvPr>
          <p:cNvSpPr>
            <a:spLocks noGrp="1"/>
          </p:cNvSpPr>
          <p:nvPr/>
        </p:nvSpPr>
        <p:spPr>
          <a:xfrm>
            <a:off x="5798820" y="4205055"/>
            <a:ext cx="190500" cy="190500"/>
          </a:xfrm>
          <a:prstGeom prst="ellipse">
            <a:avLst/>
          </a:prstGeom>
          <a:solidFill>
            <a:srgbClr val="007F82"/>
          </a:solidFill>
          <a:ln w="9525">
            <a:solidFill>
              <a:srgbClr val="007F82"/>
            </a:solidFill>
          </a:ln>
        </p:spPr>
        <p:txBody>
          <a:bodyPr/>
          <a:lstStyle/>
          <a:p>
            <a:endParaRPr lang="zh-CN" altLang="en-US"/>
          </a:p>
        </p:txBody>
      </p:sp>
      <p:sp>
        <p:nvSpPr>
          <p:cNvPr id="35" name="Rectangle 34">
            <a:extLst>
              <a:ext uri="{FF2B5EF4-FFF2-40B4-BE49-F238E27FC236}">
                <a16:creationId xmlns:a16="http://schemas.microsoft.com/office/drawing/2014/main" id="{FE26A80C-0D0E-6A62-FB4F-233D8043ECF9}"/>
              </a:ext>
            </a:extLst>
          </p:cNvPr>
          <p:cNvSpPr>
            <a:spLocks noGrp="1"/>
          </p:cNvSpPr>
          <p:nvPr/>
        </p:nvSpPr>
        <p:spPr>
          <a:xfrm>
            <a:off x="5265420" y="3755481"/>
            <a:ext cx="1524000" cy="428625"/>
          </a:xfrm>
          <a:prstGeom prst="rect">
            <a:avLst/>
          </a:prstGeom>
          <a:noFill/>
          <a:ln w="9525">
            <a:noFill/>
          </a:ln>
        </p:spPr>
        <p:txBody>
          <a:bodyPr>
            <a:noAutofit/>
          </a:bodyPr>
          <a:lstStyle/>
          <a:p>
            <a:pPr>
              <a:defRPr sz="2025" b="1">
                <a:solidFill>
                  <a:srgbClr val="007F82"/>
                </a:solidFill>
                <a:latin typeface="Arial"/>
                <a:ea typeface="Arial"/>
                <a:cs typeface="Arial"/>
              </a:defRPr>
            </a:pPr>
            <a:r>
              <a:rPr b="1" dirty="0">
                <a:solidFill>
                  <a:srgbClr val="007F82"/>
                </a:solidFill>
                <a:latin typeface="Arial"/>
                <a:ea typeface="Arial"/>
                <a:cs typeface="Arial"/>
              </a:rPr>
              <a:t>Week 4</a:t>
            </a:r>
          </a:p>
        </p:txBody>
      </p:sp>
      <p:sp>
        <p:nvSpPr>
          <p:cNvPr id="37" name="Rectangle 36">
            <a:extLst>
              <a:ext uri="{FF2B5EF4-FFF2-40B4-BE49-F238E27FC236}">
                <a16:creationId xmlns:a16="http://schemas.microsoft.com/office/drawing/2014/main" id="{86E7AC28-B6E0-A00E-C24A-694988F144B6}"/>
              </a:ext>
            </a:extLst>
          </p:cNvPr>
          <p:cNvSpPr>
            <a:spLocks noGrp="1"/>
          </p:cNvSpPr>
          <p:nvPr/>
        </p:nvSpPr>
        <p:spPr>
          <a:xfrm>
            <a:off x="5211415" y="4481280"/>
            <a:ext cx="2190750" cy="447675"/>
          </a:xfrm>
          <a:prstGeom prst="rect">
            <a:avLst/>
          </a:prstGeom>
          <a:noFill/>
          <a:ln w="9525">
            <a:noFill/>
          </a:ln>
        </p:spPr>
        <p:txBody>
          <a:bodyPr>
            <a:noAutofit/>
          </a:bodyPr>
          <a:lstStyle/>
          <a:p>
            <a:pPr>
              <a:defRPr sz="1875" b="1">
                <a:solidFill>
                  <a:srgbClr val="12283B"/>
                </a:solidFill>
                <a:latin typeface="Arial"/>
                <a:ea typeface="Arial"/>
                <a:cs typeface="Arial"/>
              </a:defRPr>
            </a:pPr>
            <a:r>
              <a:rPr sz="1600" b="1" dirty="0">
                <a:solidFill>
                  <a:srgbClr val="12283B"/>
                </a:solidFill>
                <a:latin typeface="Arial"/>
                <a:ea typeface="Arial"/>
                <a:cs typeface="Arial"/>
              </a:rPr>
              <a:t>Mid-term milestone</a:t>
            </a:r>
          </a:p>
        </p:txBody>
      </p:sp>
      <p:sp>
        <p:nvSpPr>
          <p:cNvPr id="39" name="Oval 38">
            <a:extLst>
              <a:ext uri="{FF2B5EF4-FFF2-40B4-BE49-F238E27FC236}">
                <a16:creationId xmlns:a16="http://schemas.microsoft.com/office/drawing/2014/main" id="{A2140F38-215B-7145-73EA-D45B64DFFA61}"/>
              </a:ext>
            </a:extLst>
          </p:cNvPr>
          <p:cNvSpPr>
            <a:spLocks noGrp="1"/>
          </p:cNvSpPr>
          <p:nvPr/>
        </p:nvSpPr>
        <p:spPr>
          <a:xfrm>
            <a:off x="10656570" y="4205055"/>
            <a:ext cx="190500" cy="190500"/>
          </a:xfrm>
          <a:prstGeom prst="ellipse">
            <a:avLst/>
          </a:prstGeom>
          <a:solidFill>
            <a:srgbClr val="007F82"/>
          </a:solidFill>
          <a:ln w="9525">
            <a:solidFill>
              <a:srgbClr val="007F82"/>
            </a:solidFill>
          </a:ln>
        </p:spPr>
        <p:txBody>
          <a:bodyPr/>
          <a:lstStyle/>
          <a:p>
            <a:endParaRPr lang="zh-CN" altLang="en-US"/>
          </a:p>
        </p:txBody>
      </p:sp>
      <p:sp>
        <p:nvSpPr>
          <p:cNvPr id="41" name="Rectangle 40">
            <a:extLst>
              <a:ext uri="{FF2B5EF4-FFF2-40B4-BE49-F238E27FC236}">
                <a16:creationId xmlns:a16="http://schemas.microsoft.com/office/drawing/2014/main" id="{371CD819-4752-D214-DAD1-7B657A3443B8}"/>
              </a:ext>
            </a:extLst>
          </p:cNvPr>
          <p:cNvSpPr>
            <a:spLocks noGrp="1"/>
          </p:cNvSpPr>
          <p:nvPr/>
        </p:nvSpPr>
        <p:spPr>
          <a:xfrm>
            <a:off x="10123170" y="3807868"/>
            <a:ext cx="1524000" cy="428625"/>
          </a:xfrm>
          <a:prstGeom prst="rect">
            <a:avLst/>
          </a:prstGeom>
          <a:noFill/>
          <a:ln w="9525">
            <a:noFill/>
          </a:ln>
        </p:spPr>
        <p:txBody>
          <a:bodyPr>
            <a:noAutofit/>
          </a:bodyPr>
          <a:lstStyle/>
          <a:p>
            <a:pPr>
              <a:defRPr sz="2025" b="1">
                <a:solidFill>
                  <a:srgbClr val="007F82"/>
                </a:solidFill>
                <a:latin typeface="Arial"/>
                <a:ea typeface="Arial"/>
                <a:cs typeface="Arial"/>
              </a:defRPr>
            </a:pPr>
            <a:r>
              <a:rPr b="1" dirty="0">
                <a:solidFill>
                  <a:srgbClr val="007F82"/>
                </a:solidFill>
                <a:latin typeface="Arial"/>
                <a:ea typeface="Arial"/>
                <a:cs typeface="Arial"/>
              </a:rPr>
              <a:t>Week 8</a:t>
            </a:r>
          </a:p>
        </p:txBody>
      </p:sp>
      <p:sp>
        <p:nvSpPr>
          <p:cNvPr id="43" name="Rectangle 42">
            <a:extLst>
              <a:ext uri="{FF2B5EF4-FFF2-40B4-BE49-F238E27FC236}">
                <a16:creationId xmlns:a16="http://schemas.microsoft.com/office/drawing/2014/main" id="{F899FCB2-86A3-F8A4-5B8A-C9494C9030E1}"/>
              </a:ext>
            </a:extLst>
          </p:cNvPr>
          <p:cNvSpPr>
            <a:spLocks noGrp="1"/>
          </p:cNvSpPr>
          <p:nvPr/>
        </p:nvSpPr>
        <p:spPr>
          <a:xfrm>
            <a:off x="10431026" y="4521162"/>
            <a:ext cx="952500" cy="383632"/>
          </a:xfrm>
          <a:prstGeom prst="rect">
            <a:avLst/>
          </a:prstGeom>
          <a:noFill/>
          <a:ln w="9525">
            <a:noFill/>
          </a:ln>
        </p:spPr>
        <p:txBody>
          <a:bodyPr>
            <a:noAutofit/>
          </a:bodyPr>
          <a:lstStyle/>
          <a:p>
            <a:pPr>
              <a:defRPr sz="1875" b="1">
                <a:solidFill>
                  <a:srgbClr val="12283B"/>
                </a:solidFill>
                <a:latin typeface="Arial"/>
                <a:ea typeface="Arial"/>
                <a:cs typeface="Arial"/>
              </a:defRPr>
            </a:pPr>
            <a:r>
              <a:rPr sz="1600" b="1" dirty="0">
                <a:solidFill>
                  <a:srgbClr val="12283B"/>
                </a:solidFill>
                <a:latin typeface="Arial"/>
                <a:ea typeface="Arial"/>
                <a:cs typeface="Arial"/>
              </a:rPr>
              <a:t>Final</a:t>
            </a:r>
          </a:p>
        </p:txBody>
      </p:sp>
      <p:sp>
        <p:nvSpPr>
          <p:cNvPr id="45" name="Shape 8">
            <a:extLst>
              <a:ext uri="{FF2B5EF4-FFF2-40B4-BE49-F238E27FC236}">
                <a16:creationId xmlns:a16="http://schemas.microsoft.com/office/drawing/2014/main" id="{36807951-E99A-4C75-F60A-5AE7E5CDEDAD}"/>
              </a:ext>
            </a:extLst>
          </p:cNvPr>
          <p:cNvSpPr/>
          <p:nvPr/>
        </p:nvSpPr>
        <p:spPr>
          <a:xfrm>
            <a:off x="1297172" y="4830423"/>
            <a:ext cx="3968248" cy="192479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7" name="Shape 8">
            <a:extLst>
              <a:ext uri="{FF2B5EF4-FFF2-40B4-BE49-F238E27FC236}">
                <a16:creationId xmlns:a16="http://schemas.microsoft.com/office/drawing/2014/main" id="{95C92D3A-8EED-7055-FD9E-768FB5645CB6}"/>
              </a:ext>
            </a:extLst>
          </p:cNvPr>
          <p:cNvSpPr/>
          <p:nvPr/>
        </p:nvSpPr>
        <p:spPr>
          <a:xfrm>
            <a:off x="6774047" y="4830423"/>
            <a:ext cx="3968248" cy="1924796"/>
          </a:xfrm>
          <a:prstGeom prst="roundRect">
            <a:avLst>
              <a:gd name="adj" fmla="val 5714"/>
            </a:avLst>
          </a:prstGeom>
          <a:solidFill>
            <a:srgbClr val="FFFFFF"/>
          </a:solidFill>
          <a:ln w="12700">
            <a:solidFill>
              <a:srgbClr val="D7E3F7"/>
            </a:solidFill>
            <a:prstDash val="solid"/>
          </a:ln>
        </p:spPr>
        <p:txBody>
          <a:bodyPr/>
          <a:lstStyle/>
          <a:p>
            <a:endParaRPr lang="zh-CN" altLang="en-US"/>
          </a:p>
        </p:txBody>
      </p:sp>
      <p:sp>
        <p:nvSpPr>
          <p:cNvPr id="49" name="Text 5">
            <a:extLst>
              <a:ext uri="{FF2B5EF4-FFF2-40B4-BE49-F238E27FC236}">
                <a16:creationId xmlns:a16="http://schemas.microsoft.com/office/drawing/2014/main" id="{110DE7A3-779A-9221-58F2-44F3CE7EEBEB}"/>
              </a:ext>
            </a:extLst>
          </p:cNvPr>
          <p:cNvSpPr/>
          <p:nvPr/>
        </p:nvSpPr>
        <p:spPr>
          <a:xfrm>
            <a:off x="1420775" y="4796460"/>
            <a:ext cx="3063684" cy="492517"/>
          </a:xfrm>
          <a:prstGeom prst="rect">
            <a:avLst/>
          </a:prstGeom>
          <a:noFill/>
          <a:ln/>
        </p:spPr>
        <p:txBody>
          <a:bodyPr wrap="square" lIns="0" tIns="0" rIns="0" bIns="0" rtlCol="0" anchor="ctr"/>
          <a:lstStyle/>
          <a:p>
            <a:pPr marL="0" indent="0">
              <a:buNone/>
            </a:pPr>
            <a:r>
              <a:rPr lang="en-US" altLang="zh-CN" b="1" dirty="0"/>
              <a:t>Early Development Phase</a:t>
            </a:r>
            <a:endParaRPr lang="en-US" dirty="0"/>
          </a:p>
        </p:txBody>
      </p:sp>
      <p:sp>
        <p:nvSpPr>
          <p:cNvPr id="51" name="Text 5">
            <a:extLst>
              <a:ext uri="{FF2B5EF4-FFF2-40B4-BE49-F238E27FC236}">
                <a16:creationId xmlns:a16="http://schemas.microsoft.com/office/drawing/2014/main" id="{3DB9681F-E07D-C5D8-3F9A-41FAD851AD9E}"/>
              </a:ext>
            </a:extLst>
          </p:cNvPr>
          <p:cNvSpPr/>
          <p:nvPr/>
        </p:nvSpPr>
        <p:spPr>
          <a:xfrm>
            <a:off x="6954688" y="4785581"/>
            <a:ext cx="3701882" cy="492517"/>
          </a:xfrm>
          <a:prstGeom prst="rect">
            <a:avLst/>
          </a:prstGeom>
          <a:noFill/>
          <a:ln/>
        </p:spPr>
        <p:txBody>
          <a:bodyPr wrap="square" lIns="0" tIns="0" rIns="0" bIns="0" rtlCol="0" anchor="ctr"/>
          <a:lstStyle/>
          <a:p>
            <a:pPr marL="0" indent="0">
              <a:buNone/>
            </a:pPr>
            <a:r>
              <a:rPr lang="en-US" altLang="zh-CN" b="1" dirty="0"/>
              <a:t>Integration and real-robot validation</a:t>
            </a:r>
            <a:endParaRPr lang="en-US" dirty="0"/>
          </a:p>
        </p:txBody>
      </p:sp>
      <p:sp>
        <p:nvSpPr>
          <p:cNvPr id="53" name="TextBox 52">
            <a:extLst>
              <a:ext uri="{FF2B5EF4-FFF2-40B4-BE49-F238E27FC236}">
                <a16:creationId xmlns:a16="http://schemas.microsoft.com/office/drawing/2014/main" id="{426F2D17-1081-2550-C597-F6EFC7C39305}"/>
              </a:ext>
            </a:extLst>
          </p:cNvPr>
          <p:cNvSpPr txBox="1"/>
          <p:nvPr/>
        </p:nvSpPr>
        <p:spPr>
          <a:xfrm>
            <a:off x="1350599" y="5298912"/>
            <a:ext cx="3990755" cy="1400383"/>
          </a:xfrm>
          <a:prstGeom prst="rect">
            <a:avLst/>
          </a:prstGeom>
          <a:noFill/>
        </p:spPr>
        <p:txBody>
          <a:bodyPr wrap="square">
            <a:spAutoFit/>
          </a:bodyPr>
          <a:lstStyle/>
          <a:p>
            <a:pPr>
              <a:spcAft>
                <a:spcPts val="250"/>
              </a:spcAft>
            </a:pPr>
            <a:r>
              <a:rPr sz="1600" dirty="0">
                <a:solidFill>
                  <a:srgbClr val="232323"/>
                </a:solidFill>
                <a:latin typeface="Aptos"/>
              </a:rPr>
              <a:t>• </a:t>
            </a:r>
            <a:r>
              <a:rPr lang="en-US" sz="1600" dirty="0">
                <a:solidFill>
                  <a:srgbClr val="232323"/>
                </a:solidFill>
                <a:latin typeface="Aptos"/>
              </a:rPr>
              <a:t>Focus primarily on </a:t>
            </a:r>
            <a:r>
              <a:rPr lang="en-US" sz="1600" b="1" dirty="0">
                <a:solidFill>
                  <a:srgbClr val="232323"/>
                </a:solidFill>
                <a:latin typeface="Aptos"/>
              </a:rPr>
              <a:t>Gazebo simulation</a:t>
            </a:r>
            <a:endParaRPr sz="1600" b="1" dirty="0">
              <a:solidFill>
                <a:srgbClr val="232323"/>
              </a:solidFill>
              <a:latin typeface="Aptos"/>
            </a:endParaRPr>
          </a:p>
          <a:p>
            <a:pPr>
              <a:spcAft>
                <a:spcPts val="250"/>
              </a:spcAft>
            </a:pPr>
            <a:r>
              <a:rPr sz="1600" dirty="0">
                <a:solidFill>
                  <a:srgbClr val="232323"/>
                </a:solidFill>
                <a:latin typeface="Aptos"/>
              </a:rPr>
              <a:t>• </a:t>
            </a:r>
            <a:r>
              <a:rPr lang="en-US" sz="1600" dirty="0">
                <a:solidFill>
                  <a:srgbClr val="232323"/>
                </a:solidFill>
                <a:latin typeface="Aptos"/>
              </a:rPr>
              <a:t>Develop and test exploration, SLAM, navigation, multi-robot coordination…</a:t>
            </a:r>
            <a:endParaRPr sz="1600" dirty="0">
              <a:solidFill>
                <a:srgbClr val="232323"/>
              </a:solidFill>
              <a:latin typeface="Aptos"/>
            </a:endParaRPr>
          </a:p>
          <a:p>
            <a:pPr>
              <a:spcAft>
                <a:spcPts val="250"/>
              </a:spcAft>
            </a:pPr>
            <a:r>
              <a:rPr sz="1600" dirty="0">
                <a:solidFill>
                  <a:srgbClr val="232323"/>
                </a:solidFill>
                <a:latin typeface="Aptos"/>
              </a:rPr>
              <a:t>•</a:t>
            </a:r>
            <a:r>
              <a:rPr lang="en-US" sz="1600" dirty="0">
                <a:solidFill>
                  <a:srgbClr val="232323"/>
                </a:solidFill>
                <a:latin typeface="Aptos"/>
              </a:rPr>
              <a:t> Use simulation for rapid iteration and debugging </a:t>
            </a:r>
            <a:endParaRPr sz="1600" dirty="0">
              <a:solidFill>
                <a:srgbClr val="232323"/>
              </a:solidFill>
              <a:latin typeface="Aptos"/>
            </a:endParaRPr>
          </a:p>
        </p:txBody>
      </p:sp>
      <p:sp>
        <p:nvSpPr>
          <p:cNvPr id="55" name="TextBox 54">
            <a:extLst>
              <a:ext uri="{FF2B5EF4-FFF2-40B4-BE49-F238E27FC236}">
                <a16:creationId xmlns:a16="http://schemas.microsoft.com/office/drawing/2014/main" id="{F77C6614-F29D-59C2-1066-833B773133BC}"/>
              </a:ext>
            </a:extLst>
          </p:cNvPr>
          <p:cNvSpPr txBox="1"/>
          <p:nvPr/>
        </p:nvSpPr>
        <p:spPr>
          <a:xfrm>
            <a:off x="6850646" y="5260431"/>
            <a:ext cx="3990755" cy="1115690"/>
          </a:xfrm>
          <a:prstGeom prst="rect">
            <a:avLst/>
          </a:prstGeom>
          <a:noFill/>
        </p:spPr>
        <p:txBody>
          <a:bodyPr wrap="square">
            <a:spAutoFit/>
          </a:bodyPr>
          <a:lstStyle/>
          <a:p>
            <a:pPr>
              <a:spcAft>
                <a:spcPts val="250"/>
              </a:spcAft>
            </a:pPr>
            <a:r>
              <a:rPr sz="1600" dirty="0">
                <a:solidFill>
                  <a:srgbClr val="232323"/>
                </a:solidFill>
                <a:latin typeface="Aptos"/>
              </a:rPr>
              <a:t>• </a:t>
            </a:r>
            <a:r>
              <a:rPr lang="zh-CN" altLang="zh-CN" sz="1600" dirty="0"/>
              <a:t>Physical robots are used mainly for </a:t>
            </a:r>
            <a:r>
              <a:rPr lang="zh-CN" altLang="zh-CN" sz="1600" b="1" dirty="0"/>
              <a:t>validation and system integration</a:t>
            </a:r>
            <a:endParaRPr sz="1600" b="1" dirty="0">
              <a:solidFill>
                <a:srgbClr val="232323"/>
              </a:solidFill>
              <a:latin typeface="Aptos"/>
            </a:endParaRPr>
          </a:p>
          <a:p>
            <a:pPr>
              <a:spcAft>
                <a:spcPts val="250"/>
              </a:spcAft>
            </a:pPr>
            <a:r>
              <a:rPr sz="1600" dirty="0">
                <a:solidFill>
                  <a:srgbClr val="232323"/>
                </a:solidFill>
                <a:latin typeface="Aptos"/>
              </a:rPr>
              <a:t>• </a:t>
            </a:r>
            <a:r>
              <a:rPr lang="zh-CN" altLang="zh-CN" sz="1600" dirty="0"/>
              <a:t>Teams that need real-robot testing should </a:t>
            </a:r>
            <a:r>
              <a:rPr lang="zh-CN" altLang="zh-CN" sz="1600" b="1" dirty="0"/>
              <a:t>book a time slot in advance</a:t>
            </a:r>
            <a:endParaRPr sz="1600" dirty="0">
              <a:solidFill>
                <a:srgbClr val="232323"/>
              </a:solidFill>
              <a:latin typeface="Aptos"/>
            </a:endParaRPr>
          </a:p>
        </p:txBody>
      </p:sp>
    </p:spTree>
    <p:extLst>
      <p:ext uri="{BB962C8B-B14F-4D97-AF65-F5344CB8AC3E}">
        <p14:creationId xmlns:p14="http://schemas.microsoft.com/office/powerpoint/2010/main" val="2051179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2BDD91B-AEC1-423F-A587-D551DD29E21F}"/>
              </a:ext>
            </a:extLst>
          </p:cNvPr>
          <p:cNvSpPr>
            <a:spLocks noGrp="1"/>
          </p:cNvSpPr>
          <p:nvPr/>
        </p:nvSpPr>
        <p:spPr>
          <a:xfrm>
            <a:off x="571500" y="409575"/>
            <a:ext cx="10953750" cy="762000"/>
          </a:xfrm>
          <a:prstGeom prst="rect">
            <a:avLst/>
          </a:prstGeom>
          <a:noFill/>
          <a:ln w="9525">
            <a:noFill/>
          </a:ln>
        </p:spPr>
        <p:txBody>
          <a:bodyPr>
            <a:noAutofit/>
          </a:bodyPr>
          <a:lstStyle/>
          <a:p>
            <a:pPr>
              <a:defRPr sz="3000" b="1">
                <a:solidFill>
                  <a:srgbClr val="12283B"/>
                </a:solidFill>
                <a:latin typeface="Arial"/>
                <a:ea typeface="Arial"/>
                <a:cs typeface="Arial"/>
              </a:defRPr>
            </a:pPr>
            <a:r>
              <a:rPr sz="3000" b="1">
                <a:solidFill>
                  <a:srgbClr val="12283B"/>
                </a:solidFill>
                <a:latin typeface="Arial"/>
                <a:ea typeface="Arial"/>
                <a:cs typeface="Arial"/>
              </a:rPr>
              <a:t>Resources and next steps</a:t>
            </a:r>
          </a:p>
        </p:txBody>
      </p:sp>
      <p:sp>
        <p:nvSpPr>
          <p:cNvPr id="3" name="Rectangle 2">
            <a:extLst>
              <a:ext uri="{FF2B5EF4-FFF2-40B4-BE49-F238E27FC236}">
                <a16:creationId xmlns:a16="http://schemas.microsoft.com/office/drawing/2014/main" id="{FC5E71D9-49F0-4E4A-882A-93BDEC14107E}"/>
              </a:ext>
            </a:extLst>
          </p:cNvPr>
          <p:cNvSpPr>
            <a:spLocks noGrp="1"/>
          </p:cNvSpPr>
          <p:nvPr/>
        </p:nvSpPr>
        <p:spPr>
          <a:xfrm>
            <a:off x="11144250" y="6362700"/>
            <a:ext cx="571500" cy="238125"/>
          </a:xfrm>
          <a:prstGeom prst="rect">
            <a:avLst/>
          </a:prstGeom>
          <a:noFill/>
          <a:ln w="9525">
            <a:noFill/>
          </a:ln>
        </p:spPr>
        <p:txBody>
          <a:bodyPr>
            <a:noAutofit/>
          </a:bodyPr>
          <a:lstStyle/>
          <a:p>
            <a:pPr>
              <a:defRPr sz="1125" b="0">
                <a:solidFill>
                  <a:srgbClr val="4E6473"/>
                </a:solidFill>
                <a:latin typeface="Arial"/>
                <a:ea typeface="Arial"/>
                <a:cs typeface="Arial"/>
              </a:defRPr>
            </a:pPr>
            <a:r>
              <a:rPr sz="1125" b="0">
                <a:solidFill>
                  <a:srgbClr val="4E6473"/>
                </a:solidFill>
                <a:latin typeface="Arial"/>
                <a:ea typeface="Arial"/>
                <a:cs typeface="Arial"/>
              </a:rPr>
              <a:t>14</a:t>
            </a:r>
          </a:p>
        </p:txBody>
      </p:sp>
      <p:sp>
        <p:nvSpPr>
          <p:cNvPr id="4" name="Rectangle 3">
            <a:extLst>
              <a:ext uri="{FF2B5EF4-FFF2-40B4-BE49-F238E27FC236}">
                <a16:creationId xmlns:a16="http://schemas.microsoft.com/office/drawing/2014/main" id="{AD3397FB-E61E-4DE0-87D2-C0A2F39FA7BB}"/>
              </a:ext>
            </a:extLst>
          </p:cNvPr>
          <p:cNvSpPr>
            <a:spLocks noGrp="1"/>
          </p:cNvSpPr>
          <p:nvPr/>
        </p:nvSpPr>
        <p:spPr>
          <a:xfrm>
            <a:off x="619125" y="1366647"/>
            <a:ext cx="4286250" cy="428625"/>
          </a:xfrm>
          <a:prstGeom prst="rect">
            <a:avLst/>
          </a:prstGeom>
          <a:noFill/>
          <a:ln w="9525">
            <a:noFill/>
          </a:ln>
        </p:spPr>
        <p:txBody>
          <a:bodyPr>
            <a:noAutofit/>
          </a:bodyPr>
          <a:lstStyle/>
          <a:p>
            <a:pPr>
              <a:defRPr sz="2325" b="1">
                <a:solidFill>
                  <a:srgbClr val="007F82"/>
                </a:solidFill>
                <a:latin typeface="Arial"/>
                <a:ea typeface="Arial"/>
                <a:cs typeface="Arial"/>
              </a:defRPr>
            </a:pPr>
            <a:r>
              <a:rPr sz="2400" b="1" dirty="0">
                <a:solidFill>
                  <a:schemeClr val="tx1">
                    <a:lumMod val="95000"/>
                    <a:lumOff val="5000"/>
                  </a:schemeClr>
                </a:solidFill>
                <a:latin typeface="Arial"/>
                <a:ea typeface="Arial"/>
                <a:cs typeface="Arial"/>
              </a:rPr>
              <a:t>Resources</a:t>
            </a:r>
          </a:p>
        </p:txBody>
      </p:sp>
      <p:sp>
        <p:nvSpPr>
          <p:cNvPr id="5" name="Rectangle 4">
            <a:extLst>
              <a:ext uri="{FF2B5EF4-FFF2-40B4-BE49-F238E27FC236}">
                <a16:creationId xmlns:a16="http://schemas.microsoft.com/office/drawing/2014/main" id="{C5985960-6149-4F39-920A-9744D3B8C172}"/>
              </a:ext>
            </a:extLst>
          </p:cNvPr>
          <p:cNvSpPr>
            <a:spLocks noGrp="1"/>
          </p:cNvSpPr>
          <p:nvPr/>
        </p:nvSpPr>
        <p:spPr>
          <a:xfrm>
            <a:off x="619125" y="1925893"/>
            <a:ext cx="5238750" cy="1197270"/>
          </a:xfrm>
          <a:prstGeom prst="rect">
            <a:avLst/>
          </a:prstGeom>
          <a:noFill/>
          <a:ln w="9525">
            <a:noFill/>
          </a:ln>
        </p:spPr>
        <p:txBody>
          <a:bodyPr>
            <a:noAutofit/>
          </a:bodyPr>
          <a:lstStyle/>
          <a:p>
            <a:pPr>
              <a:defRPr sz="2025" b="0">
                <a:solidFill>
                  <a:srgbClr val="12283B"/>
                </a:solidFill>
                <a:latin typeface="Arial"/>
                <a:ea typeface="Arial"/>
                <a:cs typeface="Arial"/>
              </a:defRPr>
            </a:pPr>
            <a:r>
              <a:rPr sz="2025" b="0" dirty="0">
                <a:solidFill>
                  <a:srgbClr val="12283B"/>
                </a:solidFill>
                <a:latin typeface="Arial"/>
                <a:ea typeface="Arial"/>
                <a:cs typeface="Arial"/>
              </a:rPr>
              <a:t>Rulebook v0</a:t>
            </a:r>
          </a:p>
          <a:p>
            <a:pPr>
              <a:defRPr sz="2025" b="0">
                <a:solidFill>
                  <a:srgbClr val="12283B"/>
                </a:solidFill>
                <a:latin typeface="Arial"/>
                <a:ea typeface="Arial"/>
                <a:cs typeface="Arial"/>
              </a:defRPr>
            </a:pPr>
            <a:r>
              <a:rPr sz="2025" b="0" dirty="0">
                <a:solidFill>
                  <a:srgbClr val="12283B"/>
                </a:solidFill>
                <a:latin typeface="Arial"/>
                <a:ea typeface="Arial"/>
                <a:cs typeface="Arial"/>
              </a:rPr>
              <a:t>Robot Setup and Technical Tutorial</a:t>
            </a:r>
          </a:p>
          <a:p>
            <a:pPr>
              <a:defRPr sz="2025" b="0">
                <a:solidFill>
                  <a:srgbClr val="12283B"/>
                </a:solidFill>
                <a:latin typeface="Arial"/>
                <a:ea typeface="Arial"/>
                <a:cs typeface="Arial"/>
              </a:defRPr>
            </a:pPr>
            <a:r>
              <a:rPr sz="2025" b="0" dirty="0">
                <a:solidFill>
                  <a:srgbClr val="12283B"/>
                </a:solidFill>
                <a:latin typeface="Arial"/>
                <a:ea typeface="Arial"/>
                <a:cs typeface="Arial"/>
              </a:rPr>
              <a:t>ROS 2 workspace and Gazebo resources</a:t>
            </a:r>
          </a:p>
        </p:txBody>
      </p:sp>
      <p:sp>
        <p:nvSpPr>
          <p:cNvPr id="7" name="Rectangle 6">
            <a:extLst>
              <a:ext uri="{FF2B5EF4-FFF2-40B4-BE49-F238E27FC236}">
                <a16:creationId xmlns:a16="http://schemas.microsoft.com/office/drawing/2014/main" id="{C6FD7408-3E80-4A09-A8CA-7505AA69F427}"/>
              </a:ext>
            </a:extLst>
          </p:cNvPr>
          <p:cNvSpPr>
            <a:spLocks noGrp="1"/>
          </p:cNvSpPr>
          <p:nvPr/>
        </p:nvSpPr>
        <p:spPr>
          <a:xfrm>
            <a:off x="619125" y="3298228"/>
            <a:ext cx="4762500" cy="428625"/>
          </a:xfrm>
          <a:prstGeom prst="rect">
            <a:avLst/>
          </a:prstGeom>
          <a:noFill/>
          <a:ln w="9525">
            <a:noFill/>
          </a:ln>
        </p:spPr>
        <p:txBody>
          <a:bodyPr>
            <a:noAutofit/>
          </a:bodyPr>
          <a:lstStyle/>
          <a:p>
            <a:pPr>
              <a:defRPr sz="2325" b="1">
                <a:solidFill>
                  <a:srgbClr val="007F82"/>
                </a:solidFill>
                <a:latin typeface="Arial"/>
                <a:ea typeface="Arial"/>
                <a:cs typeface="Arial"/>
              </a:defRPr>
            </a:pPr>
            <a:r>
              <a:rPr sz="2325" b="1" dirty="0">
                <a:solidFill>
                  <a:schemeClr val="tx1">
                    <a:lumMod val="95000"/>
                    <a:lumOff val="5000"/>
                  </a:schemeClr>
                </a:solidFill>
                <a:latin typeface="Arial"/>
                <a:ea typeface="Arial"/>
                <a:cs typeface="Arial"/>
              </a:rPr>
              <a:t>After this meeting</a:t>
            </a:r>
          </a:p>
        </p:txBody>
      </p:sp>
      <p:sp>
        <p:nvSpPr>
          <p:cNvPr id="8" name="Rectangle 7">
            <a:extLst>
              <a:ext uri="{FF2B5EF4-FFF2-40B4-BE49-F238E27FC236}">
                <a16:creationId xmlns:a16="http://schemas.microsoft.com/office/drawing/2014/main" id="{A4158667-3DFF-4E68-A0DE-CFE552F03CD8}"/>
              </a:ext>
            </a:extLst>
          </p:cNvPr>
          <p:cNvSpPr>
            <a:spLocks noGrp="1"/>
          </p:cNvSpPr>
          <p:nvPr/>
        </p:nvSpPr>
        <p:spPr>
          <a:xfrm>
            <a:off x="619124" y="3886200"/>
            <a:ext cx="4973601" cy="1550581"/>
          </a:xfrm>
          <a:prstGeom prst="rect">
            <a:avLst/>
          </a:prstGeom>
          <a:noFill/>
          <a:ln w="9525">
            <a:noFill/>
          </a:ln>
        </p:spPr>
        <p:txBody>
          <a:bodyPr>
            <a:noAutofit/>
          </a:bodyPr>
          <a:lstStyle/>
          <a:p>
            <a:pPr>
              <a:defRPr sz="1950" b="0">
                <a:solidFill>
                  <a:srgbClr val="12283B"/>
                </a:solidFill>
                <a:latin typeface="Arial"/>
                <a:ea typeface="Arial"/>
                <a:cs typeface="Arial"/>
              </a:defRPr>
            </a:pPr>
            <a:r>
              <a:rPr sz="1950" b="0" dirty="0">
                <a:solidFill>
                  <a:srgbClr val="12283B"/>
                </a:solidFill>
                <a:latin typeface="Arial"/>
                <a:ea typeface="Arial"/>
                <a:cs typeface="Arial"/>
              </a:rPr>
              <a:t>1   Set up and run the simulation</a:t>
            </a:r>
          </a:p>
          <a:p>
            <a:pPr>
              <a:defRPr sz="1950" b="0">
                <a:solidFill>
                  <a:srgbClr val="12283B"/>
                </a:solidFill>
                <a:latin typeface="Arial"/>
                <a:ea typeface="Arial"/>
                <a:cs typeface="Arial"/>
              </a:defRPr>
            </a:pPr>
            <a:r>
              <a:rPr sz="1950" b="0" dirty="0">
                <a:solidFill>
                  <a:srgbClr val="12283B"/>
                </a:solidFill>
                <a:latin typeface="Arial"/>
                <a:ea typeface="Arial"/>
                <a:cs typeface="Arial"/>
              </a:rPr>
              <a:t>2   Check interfaces and SLAM</a:t>
            </a:r>
          </a:p>
          <a:p>
            <a:pPr>
              <a:defRPr sz="1950" b="0">
                <a:solidFill>
                  <a:srgbClr val="12283B"/>
                </a:solidFill>
                <a:latin typeface="Arial"/>
                <a:ea typeface="Arial"/>
                <a:cs typeface="Arial"/>
              </a:defRPr>
            </a:pPr>
            <a:r>
              <a:rPr sz="1950" b="0" dirty="0">
                <a:solidFill>
                  <a:srgbClr val="12283B"/>
                </a:solidFill>
                <a:latin typeface="Arial"/>
                <a:ea typeface="Arial"/>
                <a:cs typeface="Arial"/>
              </a:rPr>
              <a:t>3   Implement autonomous exploration</a:t>
            </a:r>
          </a:p>
          <a:p>
            <a:pPr>
              <a:defRPr sz="1950" b="0">
                <a:solidFill>
                  <a:srgbClr val="12283B"/>
                </a:solidFill>
                <a:latin typeface="Arial"/>
                <a:ea typeface="Arial"/>
                <a:cs typeface="Arial"/>
              </a:defRPr>
            </a:pPr>
            <a:r>
              <a:rPr sz="1950" b="0" dirty="0">
                <a:solidFill>
                  <a:srgbClr val="12283B"/>
                </a:solidFill>
                <a:latin typeface="Arial"/>
                <a:ea typeface="Arial"/>
                <a:cs typeface="Arial"/>
              </a:rPr>
              <a:t>4   Assign team responsibilities</a:t>
            </a:r>
          </a:p>
        </p:txBody>
      </p:sp>
      <p:sp>
        <p:nvSpPr>
          <p:cNvPr id="9" name="Rectangle 8">
            <a:extLst>
              <a:ext uri="{FF2B5EF4-FFF2-40B4-BE49-F238E27FC236}">
                <a16:creationId xmlns:a16="http://schemas.microsoft.com/office/drawing/2014/main" id="{5C29B9C3-A936-4AB6-8069-CBD371860018}"/>
              </a:ext>
            </a:extLst>
          </p:cNvPr>
          <p:cNvSpPr>
            <a:spLocks noGrp="1"/>
          </p:cNvSpPr>
          <p:nvPr/>
        </p:nvSpPr>
        <p:spPr>
          <a:xfrm>
            <a:off x="6721105" y="2979038"/>
            <a:ext cx="5030308" cy="571500"/>
          </a:xfrm>
          <a:prstGeom prst="rect">
            <a:avLst/>
          </a:prstGeom>
          <a:noFill/>
          <a:ln w="9525">
            <a:noFill/>
          </a:ln>
        </p:spPr>
        <p:txBody>
          <a:bodyPr>
            <a:noAutofit/>
          </a:bodyPr>
          <a:lstStyle/>
          <a:p>
            <a:pPr>
              <a:defRPr sz="2775" b="1">
                <a:solidFill>
                  <a:srgbClr val="12283B"/>
                </a:solidFill>
                <a:latin typeface="Arial"/>
                <a:ea typeface="Arial"/>
                <a:cs typeface="Arial"/>
              </a:defRPr>
            </a:pPr>
            <a:r>
              <a:rPr sz="2775" b="1" dirty="0">
                <a:solidFill>
                  <a:srgbClr val="12283B"/>
                </a:solidFill>
                <a:latin typeface="Arial"/>
                <a:ea typeface="Arial"/>
                <a:cs typeface="Arial"/>
              </a:rPr>
              <a:t>Questions and discussion</a:t>
            </a:r>
          </a:p>
        </p:txBody>
      </p:sp>
      <p:sp>
        <p:nvSpPr>
          <p:cNvPr id="12" name="Shape 2">
            <a:extLst>
              <a:ext uri="{FF2B5EF4-FFF2-40B4-BE49-F238E27FC236}">
                <a16:creationId xmlns:a16="http://schemas.microsoft.com/office/drawing/2014/main" id="{855BB31E-55EF-5AFF-38AE-B7F8AF942370}"/>
              </a:ext>
            </a:extLst>
          </p:cNvPr>
          <p:cNvSpPr/>
          <p:nvPr/>
        </p:nvSpPr>
        <p:spPr>
          <a:xfrm>
            <a:off x="502920" y="1033272"/>
            <a:ext cx="11155680" cy="0"/>
          </a:xfrm>
          <a:prstGeom prst="line">
            <a:avLst/>
          </a:prstGeom>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13877430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852</TotalTime>
  <Words>3130</Words>
  <Application>Microsoft Office PowerPoint</Application>
  <DocSecurity>0</DocSecurity>
  <PresentationFormat>Widescreen</PresentationFormat>
  <Paragraphs>278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Wingdings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Jingwei DONG</cp:lastModifiedBy>
  <cp:revision>172</cp:revision>
  <dcterms:created xsi:type="dcterms:W3CDTF">2026-10-05T11:04:31Z</dcterms:created>
  <dcterms:modified xsi:type="dcterms:W3CDTF">2026-10-09T16:34:31Z</dcterms:modified>
</cp:coreProperties>
</file>